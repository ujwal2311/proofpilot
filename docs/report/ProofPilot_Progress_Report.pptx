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2191695" cy="2011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606040"/>
            <a:ext cx="10332720" cy="914400"/>
          </a:xfrm>
          <a:prstGeom prst="rect">
            <a:avLst/>
          </a:prstGeom>
          <a:noFill/>
        </p:spPr>
        <p:txBody>
          <a:bodyPr wrap="square" anchor="t" lIns="25400" rIns="25400" tIns="25400" bIns="25400">
            <a:spAutoFit/>
          </a:bodyPr>
          <a:lstStyle/>
          <a:p>
            <a:r>
              <a:rPr sz="4400" b="1" i="0">
                <a:solidFill>
                  <a:srgbClr val="FFFFFF"/>
                </a:solidFill>
                <a:latin typeface="Calibri"/>
              </a:rPr>
              <a:t>ProofPilot</a:t>
            </a:r>
          </a:p>
        </p:txBody>
      </p:sp>
      <p:sp>
        <p:nvSpPr>
          <p:cNvPr id="5" name="TextBox 4"/>
          <p:cNvSpPr txBox="1"/>
          <p:nvPr/>
        </p:nvSpPr>
        <p:spPr>
          <a:xfrm>
            <a:off x="914400" y="3291840"/>
            <a:ext cx="10332720" cy="457200"/>
          </a:xfrm>
          <a:prstGeom prst="rect">
            <a:avLst/>
          </a:prstGeom>
          <a:noFill/>
        </p:spPr>
        <p:txBody>
          <a:bodyPr wrap="square" anchor="t" lIns="25400" rIns="25400" tIns="25400" bIns="25400">
            <a:spAutoFit/>
          </a:bodyPr>
          <a:lstStyle/>
          <a:p>
            <a:r>
              <a:rPr sz="1800" b="0" i="0">
                <a:solidFill>
                  <a:srgbClr val="FFFFFF"/>
                </a:solidFill>
                <a:latin typeface="Calibri"/>
              </a:rPr>
              <a:t>Step-level formative feedback for propositional logic proofs</a:t>
            </a:r>
          </a:p>
        </p:txBody>
      </p:sp>
      <p:sp>
        <p:nvSpPr>
          <p:cNvPr id="6" name="TextBox 5"/>
          <p:cNvSpPr txBox="1"/>
          <p:nvPr/>
        </p:nvSpPr>
        <p:spPr>
          <a:xfrm>
            <a:off x="914400" y="4663440"/>
            <a:ext cx="10332720" cy="365760"/>
          </a:xfrm>
          <a:prstGeom prst="rect">
            <a:avLst/>
          </a:prstGeom>
          <a:noFill/>
        </p:spPr>
        <p:txBody>
          <a:bodyPr wrap="square" anchor="t" lIns="25400" rIns="25400" tIns="25400" bIns="25400">
            <a:spAutoFit/>
          </a:bodyPr>
          <a:lstStyle/>
          <a:p>
            <a:r>
              <a:rPr sz="1600" b="1" i="0">
                <a:solidFill>
                  <a:srgbClr val="1A1A1A"/>
                </a:solidFill>
                <a:latin typeface="Calibri"/>
              </a:rPr>
              <a:t>Project progress report | Artificial Intelligence (Theory)</a:t>
            </a:r>
          </a:p>
        </p:txBody>
      </p:sp>
      <p:sp>
        <p:nvSpPr>
          <p:cNvPr id="7" name="TextBox 6"/>
          <p:cNvSpPr txBox="1"/>
          <p:nvPr/>
        </p:nvSpPr>
        <p:spPr>
          <a:xfrm>
            <a:off x="914400" y="5074920"/>
            <a:ext cx="10332720" cy="365760"/>
          </a:xfrm>
          <a:prstGeom prst="rect">
            <a:avLst/>
          </a:prstGeom>
          <a:noFill/>
        </p:spPr>
        <p:txBody>
          <a:bodyPr wrap="square" anchor="t" lIns="25400" rIns="25400" tIns="25400" bIns="25400">
            <a:spAutoFit/>
          </a:bodyPr>
          <a:lstStyle/>
          <a:p>
            <a:r>
              <a:rPr sz="1400" b="0" i="0">
                <a:solidFill>
                  <a:srgbClr val="1A1A1A"/>
                </a:solidFill>
                <a:latin typeface="Calibri"/>
              </a:rPr>
              <a:t>Team: CVS Ujwal, Keshav Raj</a:t>
            </a:r>
          </a:p>
        </p:txBody>
      </p:sp>
      <p:sp>
        <p:nvSpPr>
          <p:cNvPr id="8" name="TextBox 7"/>
          <p:cNvSpPr txBox="1"/>
          <p:nvPr/>
        </p:nvSpPr>
        <p:spPr>
          <a:xfrm>
            <a:off x="914400" y="548640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Repository: https://github.com/ujwal2311/proofpilot.git</a:t>
            </a:r>
          </a:p>
        </p:txBody>
      </p:sp>
      <p:sp>
        <p:nvSpPr>
          <p:cNvPr id="9" name="TextBox 8"/>
          <p:cNvSpPr txBox="1"/>
          <p:nvPr/>
        </p:nvSpPr>
        <p:spPr>
          <a:xfrm>
            <a:off x="914400" y="5806440"/>
            <a:ext cx="10332720" cy="365760"/>
          </a:xfrm>
          <a:prstGeom prst="rect">
            <a:avLst/>
          </a:prstGeom>
          <a:noFill/>
        </p:spPr>
        <p:txBody>
          <a:bodyPr wrap="square" anchor="t" lIns="25400" rIns="25400" tIns="25400" bIns="25400">
            <a:spAutoFit/>
          </a:bodyPr>
          <a:lstStyle/>
          <a:p>
            <a:r>
              <a:rPr sz="1200" b="0" i="0">
                <a:solidFill>
                  <a:srgbClr val="444444"/>
                </a:solidFill>
                <a:latin typeface="Calibri"/>
              </a:rPr>
              <a:t>Report built from commit eed9ecf</a:t>
            </a:r>
          </a:p>
        </p:txBody>
      </p:sp>
      <p:sp>
        <p:nvSpPr>
          <p:cNvPr id="10" name="TextBox 9"/>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1-2. Problem Statement and Objectives</a:t>
            </a:r>
          </a:p>
        </p:txBody>
      </p:sp>
      <p:sp>
        <p:nvSpPr>
          <p:cNvPr id="4" name="Rectangle 3"/>
          <p:cNvSpPr/>
          <p:nvPr/>
        </p:nvSpPr>
        <p:spPr>
          <a:xfrm>
            <a:off x="32004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6" name="TextBox 5"/>
          <p:cNvSpPr txBox="1"/>
          <p:nvPr/>
        </p:nvSpPr>
        <p:spPr>
          <a:xfrm>
            <a:off x="45720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Problem Statement</a:t>
            </a:r>
          </a:p>
        </p:txBody>
      </p:sp>
      <p:sp>
        <p:nvSpPr>
          <p:cNvPr id="7" name="Rectangle 6"/>
          <p:cNvSpPr/>
          <p:nvPr/>
        </p:nvSpPr>
        <p:spPr>
          <a:xfrm>
            <a:off x="6172200" y="1143000"/>
            <a:ext cx="5577840" cy="5303520"/>
          </a:xfrm>
          <a:prstGeom prst="rect">
            <a:avLst/>
          </a:prstGeom>
          <a:solidFill>
            <a:srgbClr val="F2F2F2"/>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216152"/>
            <a:ext cx="5303520" cy="274320"/>
          </a:xfrm>
          <a:prstGeom prst="rect">
            <a:avLst/>
          </a:prstGeom>
          <a:noFill/>
        </p:spPr>
        <p:txBody>
          <a:bodyPr wrap="square" anchor="t" lIns="25400" rIns="25400" tIns="25400" bIns="25400">
            <a:spAutoFit/>
          </a:bodyPr>
          <a:lstStyle/>
          <a:p>
            <a:r>
              <a:rPr sz="1000" b="0" i="1">
                <a:solidFill>
                  <a:srgbClr val="606060"/>
                </a:solidFill>
                <a:latin typeface="Calibri"/>
              </a:rPr>
              <a:t>AI-drafted -- review and rewrite in your own words</a:t>
            </a:r>
          </a:p>
        </p:txBody>
      </p:sp>
      <p:sp>
        <p:nvSpPr>
          <p:cNvPr id="9" name="TextBox 8"/>
          <p:cNvSpPr txBox="1"/>
          <p:nvPr/>
        </p:nvSpPr>
        <p:spPr>
          <a:xfrm>
            <a:off x="6309360" y="1508760"/>
            <a:ext cx="5303520" cy="274320"/>
          </a:xfrm>
          <a:prstGeom prst="rect">
            <a:avLst/>
          </a:prstGeom>
          <a:noFill/>
        </p:spPr>
        <p:txBody>
          <a:bodyPr wrap="square" anchor="t" lIns="25400" rIns="25400" tIns="25400" bIns="25400">
            <a:spAutoFit/>
          </a:bodyPr>
          <a:lstStyle/>
          <a:p>
            <a:r>
              <a:rPr sz="1600" b="1" i="0">
                <a:solidFill>
                  <a:srgbClr val="1F4E79"/>
                </a:solidFill>
                <a:latin typeface="Calibri"/>
              </a:rPr>
              <a:t>Objectives</a:t>
            </a:r>
          </a:p>
        </p:txBody>
      </p:sp>
      <p:sp>
        <p:nvSpPr>
          <p:cNvPr id="10" name="TextBox 9"/>
          <p:cNvSpPr txBox="1"/>
          <p:nvPr/>
        </p:nvSpPr>
        <p:spPr>
          <a:xfrm>
            <a:off x="457200" y="1874520"/>
            <a:ext cx="5303520" cy="4434840"/>
          </a:xfrm>
          <a:prstGeom prst="rect">
            <a:avLst/>
          </a:prstGeom>
          <a:noFill/>
        </p:spPr>
        <p:txBody>
          <a:bodyPr wrap="square" anchor="t" lIns="25400" rIns="25400" tIns="25400" bIns="25400">
            <a:spAutoFit/>
          </a:bodyPr>
          <a:lstStyle/>
          <a:p>
            <a:r>
              <a:rPr sz="1250" b="0" i="0">
                <a:solidFill>
                  <a:srgbClr val="1A1A1A"/>
                </a:solidFill>
                <a:latin typeface="Calibri"/>
              </a:rPr>
              <a:t>When a student works through a propositional-logic proof -- turning an English argument into premises, converting them to clauses, and resolving step by step -- the two places they actually go wrong are translation (misreading “unless” or “only if”) and the proof steps themselves (picking an irrelevant clause, or claiming a conclusion that doesn’t follow). In a classroom, a teacher can mark the final answer right or wrong, but checking every intermediate step for each student isn’t possible at scale, so a student who makes a mistake early often doesn’t find out until the grade comes back -- by which point the specific misunderstanding is gone. ProofPilot addresses this by giving step-level feedback as the student works: it reads a plain-English argument, builds the proof with the student rather than for them, and tracks which skills (translation, clause selection, relevance) the student has and hasn’t mastered, adjusting what it asks next. This matters because formative feedback -- feedback given during the work, not after it -- is what lets a student correct a misunderstanding before it hardens into a habit.</a:t>
            </a:r>
          </a:p>
        </p:txBody>
      </p:sp>
      <p:sp>
        <p:nvSpPr>
          <p:cNvPr id="11" name="TextBox 10"/>
          <p:cNvSpPr txBox="1"/>
          <p:nvPr/>
        </p:nvSpPr>
        <p:spPr>
          <a:xfrm>
            <a:off x="6309360" y="1874520"/>
            <a:ext cx="5303520" cy="443484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Parse a plain-English argument of arbitrary length into logical facts without hardcoded vocabulary, refusing (by name, with a rephrasing hint) any sentence it cannot confidently translate, rather than guessing.</a:t>
            </a:r>
          </a:p>
          <a:p>
            <a:pPr>
              <a:spcAft>
                <a:spcPts val="800"/>
              </a:spcAft>
            </a:pPr>
            <a:r>
              <a:rPr sz="1200" b="0" i="0">
                <a:solidFill>
                  <a:srgbClr val="1A1A1A"/>
                </a:solidFill>
                <a:latin typeface="Calibri"/>
              </a:rPr>
              <a:t>• Verify, using resolution refutation cross-checked against truth-table entailment, whether a stated conclusion actually follows from the student’s premises -- correctly, on a benchmark of randomly generated problems.</a:t>
            </a:r>
          </a:p>
          <a:p>
            <a:pPr>
              <a:spcAft>
                <a:spcPts val="800"/>
              </a:spcAft>
            </a:pPr>
            <a:r>
              <a:rPr sz="1200" b="0" i="0">
                <a:solidFill>
                  <a:srgbClr val="1A1A1A"/>
                </a:solidFill>
                <a:latin typeface="Calibri"/>
              </a:rPr>
              <a:t>• Generate a step-level hint at each stage of the proof, using breadth-first search over the remaining clauses, within a bounded and deterministic search budget.</a:t>
            </a:r>
          </a:p>
          <a:p>
            <a:pPr>
              <a:spcAft>
                <a:spcPts val="800"/>
              </a:spcAft>
            </a:pPr>
            <a:r>
              <a:rPr sz="1200" b="0" i="0">
                <a:solidFill>
                  <a:srgbClr val="1A1A1A"/>
                </a:solidFill>
                <a:latin typeface="Calibri"/>
              </a:rPr>
              <a:t>• Track per-skill mastery with Bayesian Knowledge Tracing and use it to decide, after each answer, whether to keep practicing or move on -- measurably reducing how often a simulated learner is released before mastery, compared to a fixed-length baseline.</a:t>
            </a:r>
          </a:p>
        </p:txBody>
      </p:sp>
      <p:sp>
        <p:nvSpPr>
          <p:cNvPr id="12" name="TextBox 11"/>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3-4. Literature Review and Limitations</a:t>
            </a:r>
          </a:p>
        </p:txBody>
      </p:sp>
      <p:graphicFrame>
        <p:nvGraphicFramePr>
          <p:cNvPr id="4" name="Table 3"/>
          <p:cNvGraphicFramePr>
            <a:graphicFrameLocks noGrp="1"/>
          </p:cNvGraphicFramePr>
          <p:nvPr/>
        </p:nvGraphicFramePr>
        <p:xfrm>
          <a:off x="274320" y="1097280"/>
          <a:ext cx="11612879" cy="4480560"/>
        </p:xfrm>
        <a:graphic>
          <a:graphicData uri="http://schemas.openxmlformats.org/drawingml/2006/table">
            <a:tbl>
              <a:tblPr firstRow="1" bandRow="1">
                <a:tableStyleId>{5C22544A-7EE6-4342-B048-85BDC9FD1C3A}</a:tableStyleId>
              </a:tblPr>
              <a:tblGrid>
                <a:gridCol w="2286000"/>
                <a:gridCol w="3931920"/>
                <a:gridCol w="3749039"/>
                <a:gridCol w="1645920"/>
              </a:tblGrid>
              <a:tr h="640080">
                <a:tc>
                  <a:txBody>
                    <a:bodyPr wrap="square"/>
                    <a:lstStyle/>
                    <a:p>
                      <a:pPr algn="l"/>
                      <a:r>
                        <a:rPr sz="1200" b="1" i="0">
                          <a:solidFill>
                            <a:srgbClr val="FFFFFF"/>
                          </a:solidFill>
                          <a:latin typeface="Calibri"/>
                        </a:rPr>
                        <a:t>Theme</a:t>
                      </a:r>
                    </a:p>
                  </a:txBody>
                  <a:tcPr marL="50800" marR="50800" marT="25400" marB="25400" anchor="ctr">
                    <a:solidFill>
                      <a:srgbClr val="1F4E79"/>
                    </a:solidFill>
                  </a:tcPr>
                </a:tc>
                <a:tc>
                  <a:txBody>
                    <a:bodyPr wrap="square"/>
                    <a:lstStyle/>
                    <a:p>
                      <a:pPr algn="l"/>
                      <a:r>
                        <a:rPr sz="1200" b="1" i="0">
                          <a:solidFill>
                            <a:srgbClr val="FFFFFF"/>
                          </a:solidFill>
                          <a:latin typeface="Calibri"/>
                        </a:rPr>
                        <a:t>Papers (verified citation)</a:t>
                      </a:r>
                    </a:p>
                  </a:txBody>
                  <a:tcPr marL="50800" marR="50800" marT="25400" marB="25400" anchor="ctr">
                    <a:solidFill>
                      <a:srgbClr val="1F4E79"/>
                    </a:solidFill>
                  </a:tcPr>
                </a:tc>
                <a:tc>
                  <a:txBody>
                    <a:bodyPr wrap="square"/>
                    <a:lstStyle/>
                    <a:p>
                      <a:pPr algn="l"/>
                      <a:r>
                        <a:rPr sz="1200" b="1" i="0">
                          <a:solidFill>
                            <a:srgbClr val="FFFFFF"/>
                          </a:solidFill>
                          <a:latin typeface="Calibri"/>
                        </a:rPr>
                        <a:t>Key finding</a:t>
                      </a:r>
                    </a:p>
                  </a:txBody>
                  <a:tcPr marL="50800" marR="50800" marT="25400" marB="25400" anchor="ctr">
                    <a:solidFill>
                      <a:srgbClr val="1F4E79"/>
                    </a:solidFill>
                  </a:tcPr>
                </a:tc>
                <a:tc>
                  <a:txBody>
                    <a:bodyPr wrap="square"/>
                    <a:lstStyle/>
                    <a:p>
                      <a:pPr algn="l"/>
                      <a:r>
                        <a:rPr sz="1200" b="1" i="0">
                          <a:solidFill>
                            <a:srgbClr val="FFFFFF"/>
                          </a:solidFill>
                          <a:latin typeface="Calibri"/>
                        </a:rPr>
                        <a:t>Gap</a:t>
                      </a:r>
                    </a:p>
                  </a:txBody>
                  <a:tcPr marL="50800" marR="50800" marT="25400" marB="25400" anchor="ctr">
                    <a:solidFill>
                      <a:srgbClr val="1F4E79"/>
                    </a:solidFill>
                  </a:tcPr>
                </a:tc>
              </a:tr>
              <a:tr h="640080">
                <a:tc>
                  <a:txBody>
                    <a:bodyPr wrap="square"/>
                    <a:lstStyle/>
                    <a:p>
                      <a:pPr algn="l"/>
                      <a:r>
                        <a:rPr sz="1100" b="1" i="0">
                          <a:solidFill>
                            <a:srgbClr val="1F4E79"/>
                          </a:solidFill>
                          <a:latin typeface="Calibri"/>
                        </a:rPr>
                        <a:t>Knowledge tracing &amp; student modeling</a:t>
                      </a:r>
                    </a:p>
                  </a:txBody>
                  <a:tcPr marL="50800" marR="50800" marT="25400" marB="25400" anchor="ctr">
                    <a:solidFill>
                      <a:srgbClr val="FFFFFF"/>
                    </a:solidFill>
                  </a:tcPr>
                </a:tc>
                <a:tc>
                  <a:txBody>
                    <a:bodyPr wrap="square"/>
                    <a:lstStyle/>
                    <a:p>
                      <a:pPr algn="l"/>
                      <a:r>
                        <a:rPr sz="1050" b="0" i="0">
                          <a:solidFill>
                            <a:srgbClr val="1A1A1A"/>
                          </a:solidFill>
                          <a:latin typeface="Calibri"/>
                        </a:rPr>
                        <a:t>Corbett &amp; Anderson (1995); Baker et al. (2008); Pardos &amp; Heffernan (2010); Pavlik et al. (2009); Piech et al. (2015); Khajah et al. (2016); Pelánek (2017); Bull &amp; Kay (2007)</a:t>
                      </a:r>
                    </a:p>
                  </a:txBody>
                  <a:tcPr marL="50800" marR="50800" marT="25400" marB="25400" anchor="ctr">
                    <a:solidFill>
                      <a:srgbClr val="FFFFFF"/>
                    </a:solidFill>
                  </a:tcPr>
                </a:tc>
                <a:tc>
                  <a:txBody>
                    <a:bodyPr wrap="square"/>
                    <a:lstStyle/>
                    <a:p>
                      <a:pPr algn="l"/>
                      <a:r>
                        <a:rPr sz="1050" b="0" i="0">
                          <a:solidFill>
                            <a:srgbClr val="1A1A1A"/>
                          </a:solidFill>
                          <a:latin typeface="Calibri"/>
                        </a:rPr>
                        <a:t>Classical BKT, extended with contextual/individual parameters, matches deep-learning tracers on the benchmarks tested.</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ITS &amp; tutoring effectiveness</a:t>
                      </a:r>
                    </a:p>
                  </a:txBody>
                  <a:tcPr marL="50800" marR="50800" marT="25400" marB="25400" anchor="ctr">
                    <a:solidFill>
                      <a:srgbClr val="F2F2F2"/>
                    </a:solidFill>
                  </a:tcPr>
                </a:tc>
                <a:tc>
                  <a:txBody>
                    <a:bodyPr wrap="square"/>
                    <a:lstStyle/>
                    <a:p>
                      <a:pPr algn="l"/>
                      <a:r>
                        <a:rPr sz="1050" b="0" i="0">
                          <a:solidFill>
                            <a:srgbClr val="1A1A1A"/>
                          </a:solidFill>
                          <a:latin typeface="Calibri"/>
                        </a:rPr>
                        <a:t>VanLehn (2006, 2011); Kulik &amp; Fletcher (2016); Ma et al. (2014); Bloom (1984)</a:t>
                      </a:r>
                    </a:p>
                  </a:txBody>
                  <a:tcPr marL="50800" marR="50800" marT="25400" marB="25400" anchor="ctr">
                    <a:solidFill>
                      <a:srgbClr val="F2F2F2"/>
                    </a:solidFill>
                  </a:tcPr>
                </a:tc>
                <a:tc>
                  <a:txBody>
                    <a:bodyPr wrap="square"/>
                    <a:lstStyle/>
                    <a:p>
                      <a:pPr algn="l"/>
                      <a:r>
                        <a:rPr sz="1050" b="0" i="0">
                          <a:solidFill>
                            <a:srgbClr val="1A1A1A"/>
                          </a:solidFill>
                          <a:latin typeface="Calibri"/>
                        </a:rPr>
                        <a:t>ITS approach human-tutor effect sizes (~0.7-0.8 SD); exact gains vary by outcome-measure type.</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Feedback &amp; formative assessment</a:t>
                      </a:r>
                    </a:p>
                  </a:txBody>
                  <a:tcPr marL="50800" marR="50800" marT="25400" marB="25400" anchor="ctr">
                    <a:solidFill>
                      <a:srgbClr val="FFFFFF"/>
                    </a:solidFill>
                  </a:tcPr>
                </a:tc>
                <a:tc>
                  <a:txBody>
                    <a:bodyPr wrap="square"/>
                    <a:lstStyle/>
                    <a:p>
                      <a:pPr algn="l"/>
                      <a:r>
                        <a:rPr sz="1050" b="0" i="0">
                          <a:solidFill>
                            <a:srgbClr val="1A1A1A"/>
                          </a:solidFill>
                          <a:latin typeface="Calibri"/>
                        </a:rPr>
                        <a:t>Black &amp; Wiliam (1998); Hattie &amp; Timperley (2007); Shute (2008); Brown &amp; Burton (1978)</a:t>
                      </a:r>
                    </a:p>
                  </a:txBody>
                  <a:tcPr marL="50800" marR="50800" marT="25400" marB="25400" anchor="ctr">
                    <a:solidFill>
                      <a:srgbClr val="FFFFFF"/>
                    </a:solidFill>
                  </a:tcPr>
                </a:tc>
                <a:tc>
                  <a:txBody>
                    <a:bodyPr wrap="square"/>
                    <a:lstStyle/>
                    <a:p>
                      <a:pPr algn="l"/>
                      <a:r>
                        <a:rPr sz="1050" b="0" i="0">
                          <a:solidFill>
                            <a:srgbClr val="1A1A1A"/>
                          </a:solidFill>
                          <a:latin typeface="Calibri"/>
                        </a:rPr>
                        <a:t>Specific, timely, non-evaluative feedback that names the error outperforms a single grade.</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Logic-proof tutoring &amp; hint generation</a:t>
                      </a:r>
                    </a:p>
                  </a:txBody>
                  <a:tcPr marL="50800" marR="50800" marT="25400" marB="25400" anchor="ctr">
                    <a:solidFill>
                      <a:srgbClr val="F2F2F2"/>
                    </a:solidFill>
                  </a:tcPr>
                </a:tc>
                <a:tc>
                  <a:txBody>
                    <a:bodyPr wrap="square"/>
                    <a:lstStyle/>
                    <a:p>
                      <a:pPr algn="l"/>
                      <a:r>
                        <a:rPr sz="1050" b="0" i="0">
                          <a:solidFill>
                            <a:srgbClr val="1A1A1A"/>
                          </a:solidFill>
                          <a:latin typeface="Calibri"/>
                        </a:rPr>
                        <a:t>Robinson (1965); Barnes &amp; Stamper (2008); Stamper et al. (2013)</a:t>
                      </a:r>
                    </a:p>
                  </a:txBody>
                  <a:tcPr marL="50800" marR="50800" marT="25400" marB="25400" anchor="ctr">
                    <a:solidFill>
                      <a:srgbClr val="F2F2F2"/>
                    </a:solidFill>
                  </a:tcPr>
                </a:tc>
                <a:tc>
                  <a:txBody>
                    <a:bodyPr wrap="square"/>
                    <a:lstStyle/>
                    <a:p>
                      <a:pPr algn="l"/>
                      <a:r>
                        <a:rPr sz="1050" b="0" i="0">
                          <a:solidFill>
                            <a:srgbClr val="1A1A1A"/>
                          </a:solidFill>
                          <a:latin typeface="Calibri"/>
                        </a:rPr>
                        <a:t>Resolution is the proof method; data-driven/MDP-based hints measurably help students persist through logic-proof tutors.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r h="640080">
                <a:tc>
                  <a:txBody>
                    <a:bodyPr wrap="square"/>
                    <a:lstStyle/>
                    <a:p>
                      <a:pPr algn="l"/>
                      <a:r>
                        <a:rPr sz="1100" b="1" i="0">
                          <a:solidFill>
                            <a:srgbClr val="1F4E79"/>
                          </a:solidFill>
                          <a:latin typeface="Calibri"/>
                        </a:rPr>
                        <a:t>Help-seeking &amp; misuse detection</a:t>
                      </a:r>
                    </a:p>
                  </a:txBody>
                  <a:tcPr marL="50800" marR="50800" marT="25400" marB="25400" anchor="ctr">
                    <a:solidFill>
                      <a:srgbClr val="FFFFFF"/>
                    </a:solidFill>
                  </a:tcPr>
                </a:tc>
                <a:tc>
                  <a:txBody>
                    <a:bodyPr wrap="square"/>
                    <a:lstStyle/>
                    <a:p>
                      <a:pPr algn="l"/>
                      <a:r>
                        <a:rPr sz="1050" b="0" i="0">
                          <a:solidFill>
                            <a:srgbClr val="1A1A1A"/>
                          </a:solidFill>
                          <a:latin typeface="Calibri"/>
                        </a:rPr>
                        <a:t>Aleven et al. (2006) × 2 papers found; Baker et al. (2004)</a:t>
                      </a:r>
                    </a:p>
                  </a:txBody>
                  <a:tcPr marL="50800" marR="50800" marT="25400" marB="25400" anchor="ctr">
                    <a:solidFill>
                      <a:srgbClr val="FFFFFF"/>
                    </a:solidFill>
                  </a:tcPr>
                </a:tc>
                <a:tc>
                  <a:txBody>
                    <a:bodyPr wrap="square"/>
                    <a:lstStyle/>
                    <a:p>
                      <a:pPr algn="l"/>
                      <a:r>
                        <a:rPr sz="1050" b="0" i="0">
                          <a:solidFill>
                            <a:srgbClr val="1A1A1A"/>
                          </a:solidFill>
                          <a:latin typeface="Calibri"/>
                        </a:rPr>
                        <a:t>Student help-seeking and gaming behaviour can be modeled and detected from interaction logs.</a:t>
                      </a:r>
                    </a:p>
                  </a:txBody>
                  <a:tcPr marL="50800" marR="50800" marT="25400" marB="25400" anchor="ctr">
                    <a:solidFill>
                      <a:srgbClr val="FFFFFF"/>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FFFFF"/>
                    </a:solidFill>
                  </a:tcPr>
                </a:tc>
              </a:tr>
              <a:tr h="640080">
                <a:tc>
                  <a:txBody>
                    <a:bodyPr wrap="square"/>
                    <a:lstStyle/>
                    <a:p>
                      <a:pPr algn="l"/>
                      <a:r>
                        <a:rPr sz="1100" b="1" i="0">
                          <a:solidFill>
                            <a:srgbClr val="1F4E79"/>
                          </a:solidFill>
                          <a:latin typeface="Calibri"/>
                        </a:rPr>
                        <a:t>Theoretical background</a:t>
                      </a:r>
                    </a:p>
                  </a:txBody>
                  <a:tcPr marL="50800" marR="50800" marT="25400" marB="25400" anchor="ctr">
                    <a:solidFill>
                      <a:srgbClr val="F2F2F2"/>
                    </a:solidFill>
                  </a:tcPr>
                </a:tc>
                <a:tc>
                  <a:txBody>
                    <a:bodyPr wrap="square"/>
                    <a:lstStyle/>
                    <a:p>
                      <a:pPr algn="l"/>
                      <a:r>
                        <a:rPr sz="1050" b="0" i="0">
                          <a:solidFill>
                            <a:srgbClr val="1A1A1A"/>
                          </a:solidFill>
                          <a:latin typeface="Calibri"/>
                        </a:rPr>
                        <a:t>Doignon &amp; Falmagne (1999); Russell &amp; Norvig (2020)</a:t>
                      </a:r>
                    </a:p>
                  </a:txBody>
                  <a:tcPr marL="50800" marR="50800" marT="25400" marB="25400" anchor="ctr">
                    <a:solidFill>
                      <a:srgbClr val="F2F2F2"/>
                    </a:solidFill>
                  </a:tcPr>
                </a:tc>
                <a:tc>
                  <a:txBody>
                    <a:bodyPr wrap="square"/>
                    <a:lstStyle/>
                    <a:p>
                      <a:pPr algn="l"/>
                      <a:r>
                        <a:rPr sz="1050" b="0" i="0">
                          <a:solidFill>
                            <a:srgbClr val="1A1A1A"/>
                          </a:solidFill>
                          <a:latin typeface="Calibri"/>
                        </a:rPr>
                        <a:t>Formal knowledge-space theory and standard course material (logic, search) underpin the design.</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a:t>
                      </a:r>
                    </a:p>
                  </a:txBody>
                  <a:tcPr marL="50800" marR="50800" marT="25400" marB="25400" anchor="ctr">
                    <a:solidFill>
                      <a:srgbClr val="F2F2F2"/>
                    </a:solidFill>
                  </a:tcPr>
                </a:tc>
              </a:tr>
            </a:tbl>
          </a:graphicData>
        </a:graphic>
      </p:graphicFrame>
      <p:sp>
        <p:nvSpPr>
          <p:cNvPr id="5" name="TextBox 4"/>
          <p:cNvSpPr txBox="1"/>
          <p:nvPr/>
        </p:nvSpPr>
        <p:spPr>
          <a:xfrm>
            <a:off x="274320" y="5669280"/>
            <a:ext cx="11612880" cy="777240"/>
          </a:xfrm>
          <a:prstGeom prst="rect">
            <a:avLst/>
          </a:prstGeom>
          <a:noFill/>
        </p:spPr>
        <p:txBody>
          <a:bodyPr wrap="square" anchor="t" lIns="25400" rIns="25400" tIns="25400" bIns="25400">
            <a:spAutoFit/>
          </a:bodyPr>
          <a:lstStyle/>
          <a:p>
            <a:r>
              <a:rPr sz="1200" b="0" i="1">
                <a:solidFill>
                  <a:srgbClr val="404040"/>
                </a:solidFill>
                <a:latin typeface="Calibri"/>
              </a:rPr>
              <a:t>23 of 24 seed citations verified, 1 ambiguous (Aleven et al. 2006, two papers found, pick one). 25-30 required — more still needed.</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Architecture and Workflow</a:t>
            </a:r>
          </a:p>
        </p:txBody>
      </p:sp>
      <p:sp>
        <p:nvSpPr>
          <p:cNvPr id="4" name="Rectangle 3"/>
          <p:cNvSpPr/>
          <p:nvPr/>
        </p:nvSpPr>
        <p:spPr>
          <a:xfrm>
            <a:off x="3200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parse</a:t>
            </a:r>
          </a:p>
        </p:txBody>
      </p:sp>
      <p:sp>
        <p:nvSpPr>
          <p:cNvPr id="6" name="TextBox 5"/>
          <p:cNvSpPr txBox="1"/>
          <p:nvPr/>
        </p:nvSpPr>
        <p:spPr>
          <a:xfrm>
            <a:off x="210312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7" name="Rectangle 6"/>
          <p:cNvSpPr/>
          <p:nvPr/>
        </p:nvSpPr>
        <p:spPr>
          <a:xfrm>
            <a:off x="224028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4028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facts</a:t>
            </a:r>
          </a:p>
        </p:txBody>
      </p:sp>
      <p:sp>
        <p:nvSpPr>
          <p:cNvPr id="9" name="TextBox 8"/>
          <p:cNvSpPr txBox="1"/>
          <p:nvPr/>
        </p:nvSpPr>
        <p:spPr>
          <a:xfrm>
            <a:off x="402336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0" name="Rectangle 9"/>
          <p:cNvSpPr/>
          <p:nvPr/>
        </p:nvSpPr>
        <p:spPr>
          <a:xfrm>
            <a:off x="416052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6052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consistency</a:t>
            </a:r>
          </a:p>
        </p:txBody>
      </p:sp>
      <p:sp>
        <p:nvSpPr>
          <p:cNvPr id="12" name="TextBox 11"/>
          <p:cNvSpPr txBox="1"/>
          <p:nvPr/>
        </p:nvSpPr>
        <p:spPr>
          <a:xfrm>
            <a:off x="594360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3" name="Rectangle 12"/>
          <p:cNvSpPr/>
          <p:nvPr/>
        </p:nvSpPr>
        <p:spPr>
          <a:xfrm>
            <a:off x="6080760" y="1188720"/>
            <a:ext cx="1783080" cy="685800"/>
          </a:xfrm>
          <a:prstGeom prst="rect">
            <a:avLst/>
          </a:prstGeom>
          <a:solidFill>
            <a:srgbClr val="1F4E7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1188720"/>
            <a:ext cx="1783080" cy="685800"/>
          </a:xfrm>
          <a:prstGeom prst="rect">
            <a:avLst/>
          </a:prstGeom>
          <a:noFill/>
        </p:spPr>
        <p:txBody>
          <a:bodyPr wrap="square" anchor="ctr" lIns="25400" rIns="25400" tIns="25400" bIns="25400">
            <a:spAutoFit/>
          </a:bodyPr>
          <a:lstStyle/>
          <a:p>
            <a:pPr algn="ctr"/>
            <a:r>
              <a:rPr sz="1300" b="1" i="0">
                <a:solidFill>
                  <a:srgbClr val="FFFFFF"/>
                </a:solidFill>
                <a:latin typeface="Calibri"/>
              </a:rPr>
              <a:t>entailment</a:t>
            </a:r>
          </a:p>
        </p:txBody>
      </p:sp>
      <p:sp>
        <p:nvSpPr>
          <p:cNvPr id="15" name="TextBox 14"/>
          <p:cNvSpPr txBox="1"/>
          <p:nvPr/>
        </p:nvSpPr>
        <p:spPr>
          <a:xfrm>
            <a:off x="786384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6" name="Rectangle 15"/>
          <p:cNvSpPr/>
          <p:nvPr/>
        </p:nvSpPr>
        <p:spPr>
          <a:xfrm>
            <a:off x="800100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relevance</a:t>
            </a:r>
          </a:p>
        </p:txBody>
      </p:sp>
      <p:sp>
        <p:nvSpPr>
          <p:cNvPr id="18" name="TextBox 17"/>
          <p:cNvSpPr txBox="1"/>
          <p:nvPr/>
        </p:nvSpPr>
        <p:spPr>
          <a:xfrm>
            <a:off x="9784080" y="1188720"/>
            <a:ext cx="137160" cy="6858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19" name="Rectangle 18"/>
          <p:cNvSpPr/>
          <p:nvPr/>
        </p:nvSpPr>
        <p:spPr>
          <a:xfrm>
            <a:off x="9921240" y="1188720"/>
            <a:ext cx="1783080" cy="6858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21240" y="1188720"/>
            <a:ext cx="1783080" cy="685800"/>
          </a:xfrm>
          <a:prstGeom prst="rect">
            <a:avLst/>
          </a:prstGeom>
          <a:noFill/>
        </p:spPr>
        <p:txBody>
          <a:bodyPr wrap="square" anchor="ctr" lIns="25400" rIns="25400" tIns="25400" bIns="25400">
            <a:spAutoFit/>
          </a:bodyPr>
          <a:lstStyle/>
          <a:p>
            <a:pPr algn="ctr"/>
            <a:r>
              <a:rPr sz="1300" b="1" i="0">
                <a:solidFill>
                  <a:srgbClr val="1F4E79"/>
                </a:solidFill>
                <a:latin typeface="Calibri"/>
              </a:rPr>
              <a:t>proof</a:t>
            </a:r>
          </a:p>
        </p:txBody>
      </p:sp>
      <p:sp>
        <p:nvSpPr>
          <p:cNvPr id="21" name="TextBox 20"/>
          <p:cNvSpPr txBox="1"/>
          <p:nvPr/>
        </p:nvSpPr>
        <p:spPr>
          <a:xfrm>
            <a:off x="320040" y="2011680"/>
            <a:ext cx="11521440" cy="365760"/>
          </a:xfrm>
          <a:prstGeom prst="rect">
            <a:avLst/>
          </a:prstGeom>
          <a:noFill/>
        </p:spPr>
        <p:txBody>
          <a:bodyPr wrap="square" anchor="t" lIns="25400" rIns="25400" tIns="25400" bIns="25400">
            <a:spAutoFit/>
          </a:bodyPr>
          <a:lstStyle/>
          <a:p>
            <a:r>
              <a:rPr sz="1100" b="0" i="1">
                <a:solidFill>
                  <a:srgbClr val="606060"/>
                </a:solidFill>
                <a:latin typeface="Calibri"/>
              </a:rPr>
              <a:t>6-stage pipeline, per docs/HLD.md §7 (not 9 — flagged in FACTS.md as a brief/design mismatch to clarify, not invented to match)</a:t>
            </a:r>
          </a:p>
        </p:txBody>
      </p:sp>
      <p:sp>
        <p:nvSpPr>
          <p:cNvPr id="22" name="Rectangle 21"/>
          <p:cNvSpPr/>
          <p:nvPr/>
        </p:nvSpPr>
        <p:spPr>
          <a:xfrm>
            <a:off x="320040" y="260604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267919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React frontend</a:t>
            </a:r>
          </a:p>
        </p:txBody>
      </p:sp>
      <p:sp>
        <p:nvSpPr>
          <p:cNvPr id="24" name="TextBox 23"/>
          <p:cNvSpPr txBox="1"/>
          <p:nvPr/>
        </p:nvSpPr>
        <p:spPr>
          <a:xfrm>
            <a:off x="411480" y="301752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Render, post actions,</a:t>
            </a:r>
          </a:p>
          <a:p>
            <a:r>
              <a:rPr sz="1100" b="0" i="0">
                <a:solidFill>
                  <a:srgbClr val="1A1A1A"/>
                </a:solidFill>
                <a:latin typeface="Calibri"/>
              </a:rPr>
              <a:t>persist to localStorage</a:t>
            </a:r>
          </a:p>
        </p:txBody>
      </p:sp>
      <p:sp>
        <p:nvSpPr>
          <p:cNvPr id="25" name="TextBox 24"/>
          <p:cNvSpPr txBox="1"/>
          <p:nvPr/>
        </p:nvSpPr>
        <p:spPr>
          <a:xfrm>
            <a:off x="3017520" y="297180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26" name="Rectangle 25"/>
          <p:cNvSpPr/>
          <p:nvPr/>
        </p:nvSpPr>
        <p:spPr>
          <a:xfrm>
            <a:off x="3200400" y="260604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267919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FastAPI (4 endpoints)</a:t>
            </a:r>
          </a:p>
        </p:txBody>
      </p:sp>
      <p:sp>
        <p:nvSpPr>
          <p:cNvPr id="28" name="TextBox 27"/>
          <p:cNvSpPr txBox="1"/>
          <p:nvPr/>
        </p:nvSpPr>
        <p:spPr>
          <a:xfrm>
            <a:off x="3291840" y="301752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Stateless HTTP adapter:</a:t>
            </a:r>
          </a:p>
          <a:p>
            <a:r>
              <a:rPr sz="1100" b="0" i="0">
                <a:solidFill>
                  <a:srgbClr val="1A1A1A"/>
                </a:solidFill>
                <a:latin typeface="Calibri"/>
              </a:rPr>
              <a:t>parse body, call app, return JSON</a:t>
            </a:r>
          </a:p>
        </p:txBody>
      </p:sp>
      <p:sp>
        <p:nvSpPr>
          <p:cNvPr id="29" name="TextBox 28"/>
          <p:cNvSpPr txBox="1"/>
          <p:nvPr/>
        </p:nvSpPr>
        <p:spPr>
          <a:xfrm>
            <a:off x="5897880" y="297180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0" name="Rectangle 29"/>
          <p:cNvSpPr/>
          <p:nvPr/>
        </p:nvSpPr>
        <p:spPr>
          <a:xfrm>
            <a:off x="6080760" y="260604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67919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app/ (shared edge)</a:t>
            </a:r>
          </a:p>
        </p:txBody>
      </p:sp>
      <p:sp>
        <p:nvSpPr>
          <p:cNvPr id="32" name="TextBox 31"/>
          <p:cNvSpPr txBox="1"/>
          <p:nvPr/>
        </p:nvSpPr>
        <p:spPr>
          <a:xfrm>
            <a:off x="6172200" y="301752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load+validate, prepare,</a:t>
            </a:r>
          </a:p>
          <a:p>
            <a:r>
              <a:rPr sz="1100" b="0" i="0">
                <a:solidFill>
                  <a:srgbClr val="1A1A1A"/>
                </a:solidFill>
                <a:latin typeface="Calibri"/>
              </a:rPr>
              <a:t>render, mint clause ids</a:t>
            </a:r>
          </a:p>
        </p:txBody>
      </p:sp>
      <p:sp>
        <p:nvSpPr>
          <p:cNvPr id="33" name="TextBox 32"/>
          <p:cNvSpPr txBox="1"/>
          <p:nvPr/>
        </p:nvSpPr>
        <p:spPr>
          <a:xfrm>
            <a:off x="8778240" y="2971800"/>
            <a:ext cx="182880" cy="457200"/>
          </a:xfrm>
          <a:prstGeom prst="rect">
            <a:avLst/>
          </a:prstGeom>
          <a:noFill/>
        </p:spPr>
        <p:txBody>
          <a:bodyPr wrap="square" anchor="ctr" lIns="25400" rIns="25400" tIns="25400" bIns="25400">
            <a:spAutoFit/>
          </a:bodyPr>
          <a:lstStyle/>
          <a:p>
            <a:pPr algn="ctr"/>
            <a:r>
              <a:rPr sz="1600" b="1" i="0">
                <a:solidFill>
                  <a:srgbClr val="1F4E79"/>
                </a:solidFill>
                <a:latin typeface="Calibri"/>
              </a:rPr>
              <a:t>→</a:t>
            </a:r>
          </a:p>
        </p:txBody>
      </p:sp>
      <p:sp>
        <p:nvSpPr>
          <p:cNvPr id="34" name="Rectangle 33"/>
          <p:cNvSpPr/>
          <p:nvPr/>
        </p:nvSpPr>
        <p:spPr>
          <a:xfrm>
            <a:off x="8961120" y="2606040"/>
            <a:ext cx="2697480" cy="1188720"/>
          </a:xfrm>
          <a:prstGeom prst="rect">
            <a:avLst/>
          </a:prstGeom>
          <a:solidFill>
            <a:srgbClr val="FFFFFF"/>
          </a:solidFill>
          <a:ln w="190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0" y="2679192"/>
            <a:ext cx="2514600" cy="320040"/>
          </a:xfrm>
          <a:prstGeom prst="rect">
            <a:avLst/>
          </a:prstGeom>
          <a:noFill/>
        </p:spPr>
        <p:txBody>
          <a:bodyPr wrap="square" anchor="t" lIns="25400" rIns="25400" tIns="25400" bIns="25400">
            <a:spAutoFit/>
          </a:bodyPr>
          <a:lstStyle/>
          <a:p>
            <a:r>
              <a:rPr sz="1300" b="1" i="0">
                <a:solidFill>
                  <a:srgbClr val="1F4E79"/>
                </a:solidFill>
                <a:latin typeface="Calibri"/>
              </a:rPr>
              <a:t>core/ (12 modules)</a:t>
            </a:r>
          </a:p>
        </p:txBody>
      </p:sp>
      <p:sp>
        <p:nvSpPr>
          <p:cNvPr id="36" name="TextBox 35"/>
          <p:cNvSpPr txBox="1"/>
          <p:nvPr/>
        </p:nvSpPr>
        <p:spPr>
          <a:xfrm>
            <a:off x="9052560" y="3017520"/>
            <a:ext cx="2514600" cy="685800"/>
          </a:xfrm>
          <a:prstGeom prst="rect">
            <a:avLst/>
          </a:prstGeom>
          <a:noFill/>
        </p:spPr>
        <p:txBody>
          <a:bodyPr wrap="square" anchor="t" lIns="25400" rIns="25400" tIns="25400" bIns="25400">
            <a:spAutoFit/>
          </a:bodyPr>
          <a:lstStyle/>
          <a:p>
            <a:r>
              <a:rPr sz="1100" b="0" i="0">
                <a:solidFill>
                  <a:srgbClr val="1A1A1A"/>
                </a:solidFill>
                <a:latin typeface="Calibri"/>
              </a:rPr>
              <a:t>Pure Python, zero web</a:t>
            </a:r>
          </a:p>
          <a:p>
            <a:r>
              <a:rPr sz="1100" b="0" i="0">
                <a:solidFill>
                  <a:srgbClr val="1A1A1A"/>
                </a:solidFill>
                <a:latin typeface="Calibri"/>
              </a:rPr>
              <a:t>imports, 6-stage pipeline</a:t>
            </a:r>
          </a:p>
        </p:txBody>
      </p:sp>
      <p:sp>
        <p:nvSpPr>
          <p:cNvPr id="37" name="TextBox 36"/>
          <p:cNvSpPr txBox="1"/>
          <p:nvPr/>
        </p:nvSpPr>
        <p:spPr>
          <a:xfrm>
            <a:off x="320040" y="3977639"/>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Implementation strategy (FACTS.md §9)</a:t>
            </a:r>
          </a:p>
        </p:txBody>
      </p:sp>
      <p:sp>
        <p:nvSpPr>
          <p:cNvPr id="38" name="TextBox 37"/>
          <p:cNvSpPr txBox="1"/>
          <p:nvPr/>
        </p:nvSpPr>
        <p:spPr>
          <a:xfrm>
            <a:off x="320040" y="4343400"/>
            <a:ext cx="11521440" cy="1737360"/>
          </a:xfrm>
          <a:prstGeom prst="rect">
            <a:avLst/>
          </a:prstGeom>
          <a:noFill/>
        </p:spPr>
        <p:txBody>
          <a:bodyPr wrap="square" anchor="t" lIns="25400" rIns="25400" tIns="25400" bIns="25400">
            <a:spAutoFit/>
          </a:bodyPr>
          <a:lstStyle/>
          <a:p>
            <a:pPr>
              <a:spcAft>
                <a:spcPts val="600"/>
              </a:spcAft>
            </a:pPr>
            <a:r>
              <a:rPr sz="1200" b="0" i="0">
                <a:solidFill>
                  <a:srgbClr val="1A1A1A"/>
                </a:solidFill>
                <a:latin typeface="Calibri"/>
              </a:rPr>
              <a:t>• core/ imports nothing outside the standard library — no web, no file I/O — so every module is unit-testable from literals with no fixture files.</a:t>
            </a:r>
          </a:p>
          <a:p>
            <a:pPr>
              <a:spcAft>
                <a:spcPts val="600"/>
              </a:spcAft>
            </a:pPr>
            <a:r>
              <a:rPr sz="1200" b="0" i="0">
                <a:solidFill>
                  <a:srgbClr val="1A1A1A"/>
                </a:solidFill>
                <a:latin typeface="Calibri"/>
              </a:rPr>
              <a:t>• app/ is the only layer allowed to read a data file; it validates every file at startup with a named error per failure mode.</a:t>
            </a:r>
          </a:p>
          <a:p>
            <a:pPr>
              <a:spcAft>
                <a:spcPts val="600"/>
              </a:spcAft>
            </a:pPr>
            <a:r>
              <a:rPr sz="1200" b="0" i="0">
                <a:solidFill>
                  <a:srgbClr val="1A1A1A"/>
                </a:solidFill>
                <a:latin typeface="Calibri"/>
              </a:rPr>
              <a:t>• api/ and cli.py are thin adapters: parse input, call app, render output — zero logic, zero user-facing wording of their own (enforced by a dedicated test).</a:t>
            </a:r>
          </a:p>
          <a:p>
            <a:pPr>
              <a:spcAft>
                <a:spcPts val="600"/>
              </a:spcAft>
            </a:pPr>
            <a:r>
              <a:rPr sz="1200" b="0" i="0">
                <a:solidFill>
                  <a:srgbClr val="1A1A1A"/>
                </a:solidFill>
                <a:latin typeface="Calibri"/>
              </a:rPr>
              <a:t>• frontend/src reads server state directly (state.stage) rather than keeping a client-side copy of what stage the session is in.</a:t>
            </a:r>
          </a:p>
        </p:txBody>
      </p:sp>
      <p:sp>
        <p:nvSpPr>
          <p:cNvPr id="39" name="TextBox 38"/>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5. Methodology: Algorithms and Syllabus Mapping</a:t>
            </a:r>
          </a:p>
        </p:txBody>
      </p:sp>
      <p:graphicFrame>
        <p:nvGraphicFramePr>
          <p:cNvPr id="4" name="Table 3"/>
          <p:cNvGraphicFramePr>
            <a:graphicFrameLocks noGrp="1"/>
          </p:cNvGraphicFramePr>
          <p:nvPr/>
        </p:nvGraphicFramePr>
        <p:xfrm>
          <a:off x="274320" y="1097280"/>
          <a:ext cx="11612880" cy="2377440"/>
        </p:xfrm>
        <a:graphic>
          <a:graphicData uri="http://schemas.openxmlformats.org/drawingml/2006/table">
            <a:tbl>
              <a:tblPr firstRow="1" bandRow="1">
                <a:tableStyleId>{5C22544A-7EE6-4342-B048-85BDC9FD1C3A}</a:tableStyleId>
              </a:tblPr>
              <a:tblGrid>
                <a:gridCol w="2103120"/>
                <a:gridCol w="6766560"/>
                <a:gridCol w="2743200"/>
              </a:tblGrid>
              <a:tr h="475488">
                <a:tc>
                  <a:txBody>
                    <a:bodyPr wrap="square"/>
                    <a:lstStyle/>
                    <a:p>
                      <a:pPr algn="l"/>
                      <a:r>
                        <a:rPr sz="1300" b="1" i="0">
                          <a:solidFill>
                            <a:srgbClr val="FFFFFF"/>
                          </a:solidFill>
                          <a:latin typeface="Calibri"/>
                        </a:rPr>
                        <a:t>Component</a:t>
                      </a:r>
                    </a:p>
                  </a:txBody>
                  <a:tcPr marL="50800" marR="50800" marT="25400" marB="25400" anchor="ctr">
                    <a:solidFill>
                      <a:srgbClr val="1F4E79"/>
                    </a:solidFill>
                  </a:tcPr>
                </a:tc>
                <a:tc>
                  <a:txBody>
                    <a:bodyPr wrap="square"/>
                    <a:lstStyle/>
                    <a:p>
                      <a:pPr algn="l"/>
                      <a:r>
                        <a:rPr sz="1300" b="1" i="0">
                          <a:solidFill>
                            <a:srgbClr val="FFFFFF"/>
                          </a:solidFill>
                          <a:latin typeface="Calibri"/>
                        </a:rPr>
                        <a:t>Algorithm</a:t>
                      </a:r>
                    </a:p>
                  </a:txBody>
                  <a:tcPr marL="50800" marR="50800" marT="25400" marB="25400" anchor="ctr">
                    <a:solidFill>
                      <a:srgbClr val="1F4E79"/>
                    </a:solidFill>
                  </a:tcPr>
                </a:tc>
                <a:tc>
                  <a:txBody>
                    <a:bodyPr wrap="square"/>
                    <a:lstStyle/>
                    <a:p>
                      <a:pPr algn="l"/>
                      <a:r>
                        <a:rPr sz="1300" b="1" i="0">
                          <a:solidFill>
                            <a:srgbClr val="FFFFFF"/>
                          </a:solidFill>
                          <a:latin typeface="Calibri"/>
                        </a:rPr>
                        <a:t>Module(s)</a:t>
                      </a:r>
                    </a:p>
                  </a:txBody>
                  <a:tcPr marL="50800" marR="50800" marT="25400" marB="25400" anchor="ctr">
                    <a:solidFill>
                      <a:srgbClr val="1F4E79"/>
                    </a:solidFill>
                  </a:tcPr>
                </a:tc>
              </a:tr>
              <a:tr h="475488">
                <a:tc>
                  <a:txBody>
                    <a:bodyPr wrap="square"/>
                    <a:lstStyle/>
                    <a:p>
                      <a:pPr algn="l"/>
                      <a:r>
                        <a:rPr sz="1200" b="1" i="0">
                          <a:solidFill>
                            <a:srgbClr val="1F4E79"/>
                          </a:solidFill>
                          <a:latin typeface="Calibri"/>
                        </a:rPr>
                        <a:t>Parsing</a:t>
                      </a:r>
                    </a:p>
                  </a:txBody>
                  <a:tcPr marL="50800" marR="50800" marT="25400" marB="25400" anchor="ctr">
                    <a:solidFill>
                      <a:srgbClr val="FFFFFF"/>
                    </a:solidFill>
                  </a:tcPr>
                </a:tc>
                <a:tc>
                  <a:txBody>
                    <a:bodyPr wrap="square"/>
                    <a:lstStyle/>
                    <a:p>
                      <a:pPr algn="l"/>
                      <a:r>
                        <a:rPr sz="1150" b="0" i="0">
                          <a:solidFill>
                            <a:srgbClr val="1A1A1A"/>
                          </a:solidFill>
                          <a:latin typeface="Calibri"/>
                        </a:rPr>
                        <a:t>Controlled-grammar keyword scan → AST → clauses (textbook 3-step CNF algorithm)</a:t>
                      </a:r>
                    </a:p>
                  </a:txBody>
                  <a:tcPr marL="50800" marR="50800" marT="25400" marB="25400" anchor="ctr">
                    <a:solidFill>
                      <a:srgbClr val="FFFFFF"/>
                    </a:solidFill>
                  </a:tcPr>
                </a:tc>
                <a:tc>
                  <a:txBody>
                    <a:bodyPr wrap="square"/>
                    <a:lstStyle/>
                    <a:p>
                      <a:pPr algn="l"/>
                      <a:r>
                        <a:rPr sz="1150" b="0" i="0">
                          <a:solidFill>
                            <a:srgbClr val="1A1A1A"/>
                          </a:solidFill>
                          <a:latin typeface="Calibri"/>
                        </a:rPr>
                        <a:t>core/english.py, core/cnf.py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Entailment</a:t>
                      </a:r>
                    </a:p>
                  </a:txBody>
                  <a:tcPr marL="50800" marR="50800" marT="25400" marB="25400" anchor="ctr">
                    <a:solidFill>
                      <a:srgbClr val="F2F2F2"/>
                    </a:solidFill>
                  </a:tcPr>
                </a:tc>
                <a:tc>
                  <a:txBody>
                    <a:bodyPr wrap="square"/>
                    <a:lstStyle/>
                    <a:p>
                      <a:pPr algn="l"/>
                      <a:r>
                        <a:rPr sz="1150" b="0" i="0">
                          <a:solidFill>
                            <a:srgbClr val="1A1A1A"/>
                          </a:solidFill>
                          <a:latin typeface="Calibri"/>
                        </a:rPr>
                        <a:t>Truth-table enumeration, cross-checked against resolution (940/940 agreement)</a:t>
                      </a:r>
                    </a:p>
                  </a:txBody>
                  <a:tcPr marL="50800" marR="50800" marT="25400" marB="25400" anchor="ctr">
                    <a:solidFill>
                      <a:srgbClr val="F2F2F2"/>
                    </a:solidFill>
                  </a:tcPr>
                </a:tc>
                <a:tc>
                  <a:txBody>
                    <a:bodyPr wrap="square"/>
                    <a:lstStyle/>
                    <a:p>
                      <a:pPr algn="l"/>
                      <a:r>
                        <a:rPr sz="1150" b="0" i="0">
                          <a:solidFill>
                            <a:srgbClr val="1A1A1A"/>
                          </a:solidFill>
                          <a:latin typeface="Calibri"/>
                        </a:rPr>
                        <a:t>core/entail.py</a:t>
                      </a:r>
                    </a:p>
                  </a:txBody>
                  <a:tcPr marL="50800" marR="50800" marT="25400" marB="25400" anchor="ctr">
                    <a:solidFill>
                      <a:srgbClr val="F2F2F2"/>
                    </a:solidFill>
                  </a:tcPr>
                </a:tc>
              </a:tr>
              <a:tr h="475488">
                <a:tc>
                  <a:txBody>
                    <a:bodyPr wrap="square"/>
                    <a:lstStyle/>
                    <a:p>
                      <a:pPr algn="l"/>
                      <a:r>
                        <a:rPr sz="1200" b="1" i="0">
                          <a:solidFill>
                            <a:srgbClr val="1F4E79"/>
                          </a:solidFill>
                          <a:latin typeface="Calibri"/>
                        </a:rPr>
                        <a:t>Proof search</a:t>
                      </a:r>
                    </a:p>
                  </a:txBody>
                  <a:tcPr marL="50800" marR="50800" marT="25400" marB="25400" anchor="ctr">
                    <a:solidFill>
                      <a:srgbClr val="FFFFFF"/>
                    </a:solidFill>
                  </a:tcPr>
                </a:tc>
                <a:tc>
                  <a:txBody>
                    <a:bodyPr wrap="square"/>
                    <a:lstStyle/>
                    <a:p>
                      <a:pPr algn="l"/>
                      <a:r>
                        <a:rPr sz="1150" b="0" i="0">
                          <a:solidFill>
                            <a:srgbClr val="1A1A1A"/>
                          </a:solidFill>
                          <a:latin typeface="Calibri"/>
                        </a:rPr>
                        <a:t>Exact breadth-first search over clause sets, bounded work budget, rule-based fallback</a:t>
                      </a:r>
                    </a:p>
                  </a:txBody>
                  <a:tcPr marL="50800" marR="50800" marT="25400" marB="25400" anchor="ctr">
                    <a:solidFill>
                      <a:srgbClr val="FFFFFF"/>
                    </a:solidFill>
                  </a:tcPr>
                </a:tc>
                <a:tc>
                  <a:txBody>
                    <a:bodyPr wrap="square"/>
                    <a:lstStyle/>
                    <a:p>
                      <a:pPr algn="l"/>
                      <a:r>
                        <a:rPr sz="1150" b="0" i="0">
                          <a:solidFill>
                            <a:srgbClr val="1A1A1A"/>
                          </a:solidFill>
                          <a:latin typeface="Calibri"/>
                        </a:rPr>
                        <a:t>core/search.py</a:t>
                      </a:r>
                    </a:p>
                  </a:txBody>
                  <a:tcPr marL="50800" marR="50800" marT="25400" marB="25400" anchor="ctr">
                    <a:solidFill>
                      <a:srgbClr val="FFFFFF"/>
                    </a:solidFill>
                  </a:tcPr>
                </a:tc>
              </a:tr>
              <a:tr h="475488">
                <a:tc>
                  <a:txBody>
                    <a:bodyPr wrap="square"/>
                    <a:lstStyle/>
                    <a:p>
                      <a:pPr algn="l"/>
                      <a:r>
                        <a:rPr sz="1200" b="1" i="0">
                          <a:solidFill>
                            <a:srgbClr val="1F4E79"/>
                          </a:solidFill>
                          <a:latin typeface="Calibri"/>
                        </a:rPr>
                        <a:t>Mastery tracking</a:t>
                      </a:r>
                    </a:p>
                  </a:txBody>
                  <a:tcPr marL="50800" marR="50800" marT="25400" marB="25400" anchor="ctr">
                    <a:solidFill>
                      <a:srgbClr val="F2F2F2"/>
                    </a:solidFill>
                  </a:tcPr>
                </a:tc>
                <a:tc>
                  <a:txBody>
                    <a:bodyPr wrap="square"/>
                    <a:lstStyle/>
                    <a:p>
                      <a:pPr algn="l"/>
                      <a:r>
                        <a:rPr sz="1150" b="0" i="0">
                          <a:solidFill>
                            <a:srgbClr val="1A1A1A"/>
                          </a:solidFill>
                          <a:latin typeface="Calibri"/>
                        </a:rPr>
                        <a:t>Single-skill Bayesian Knowledge Tracing, 3 skills (CLASH, RESOLVE, STRATEGY)</a:t>
                      </a:r>
                    </a:p>
                  </a:txBody>
                  <a:tcPr marL="50800" marR="50800" marT="25400" marB="25400" anchor="ctr">
                    <a:solidFill>
                      <a:srgbClr val="F2F2F2"/>
                    </a:solidFill>
                  </a:tcPr>
                </a:tc>
                <a:tc>
                  <a:txBody>
                    <a:bodyPr wrap="square"/>
                    <a:lstStyle/>
                    <a:p>
                      <a:pPr algn="l"/>
                      <a:r>
                        <a:rPr sz="1150" b="0" i="0">
                          <a:solidFill>
                            <a:srgbClr val="1A1A1A"/>
                          </a:solidFill>
                          <a:latin typeface="Calibri"/>
                        </a:rPr>
                        <a:t>core/bkt.py</a:t>
                      </a:r>
                    </a:p>
                  </a:txBody>
                  <a:tcPr marL="50800" marR="50800" marT="25400" marB="25400" anchor="ctr">
                    <a:solidFill>
                      <a:srgbClr val="F2F2F2"/>
                    </a:solidFill>
                  </a:tcPr>
                </a:tc>
              </a:tr>
            </a:tbl>
          </a:graphicData>
        </a:graphic>
      </p:graphicFrame>
      <p:sp>
        <p:nvSpPr>
          <p:cNvPr id="5" name="TextBox 4"/>
          <p:cNvSpPr txBox="1"/>
          <p:nvPr/>
        </p:nvSpPr>
        <p:spPr>
          <a:xfrm>
            <a:off x="274320" y="3703320"/>
            <a:ext cx="11521440" cy="365760"/>
          </a:xfrm>
          <a:prstGeom prst="rect">
            <a:avLst/>
          </a:prstGeom>
          <a:noFill/>
        </p:spPr>
        <p:txBody>
          <a:bodyPr wrap="square" anchor="t" lIns="25400" rIns="25400" tIns="25400" bIns="25400">
            <a:spAutoFit/>
          </a:bodyPr>
          <a:lstStyle/>
          <a:p>
            <a:r>
              <a:rPr sz="1400" b="1" i="0">
                <a:solidFill>
                  <a:srgbClr val="1F4E79"/>
                </a:solidFill>
                <a:latin typeface="Calibri"/>
              </a:rPr>
              <a:t>Syllabus-unit mapping (README.md, verbatim)</a:t>
            </a:r>
          </a:p>
        </p:txBody>
      </p:sp>
      <p:graphicFrame>
        <p:nvGraphicFramePr>
          <p:cNvPr id="6" name="Table 5"/>
          <p:cNvGraphicFramePr>
            <a:graphicFrameLocks noGrp="1"/>
          </p:cNvGraphicFramePr>
          <p:nvPr/>
        </p:nvGraphicFramePr>
        <p:xfrm>
          <a:off x="274320" y="4114800"/>
          <a:ext cx="11612880" cy="1828800"/>
        </p:xfrm>
        <a:graphic>
          <a:graphicData uri="http://schemas.openxmlformats.org/drawingml/2006/table">
            <a:tbl>
              <a:tblPr firstRow="1" bandRow="1">
                <a:tableStyleId>{5C22544A-7EE6-4342-B048-85BDC9FD1C3A}</a:tableStyleId>
              </a:tblPr>
              <a:tblGrid>
                <a:gridCol w="2926080"/>
                <a:gridCol w="5029200"/>
                <a:gridCol w="3657600"/>
              </a:tblGrid>
              <a:tr h="457200">
                <a:tc>
                  <a:txBody>
                    <a:bodyPr wrap="square"/>
                    <a:lstStyle/>
                    <a:p>
                      <a:pPr algn="l"/>
                      <a:r>
                        <a:rPr sz="1300" b="1" i="0">
                          <a:solidFill>
                            <a:srgbClr val="FFFFFF"/>
                          </a:solidFill>
                          <a:latin typeface="Calibri"/>
                        </a:rPr>
                        <a:t>Syllabus unit</a:t>
                      </a:r>
                    </a:p>
                  </a:txBody>
                  <a:tcPr marL="50800" marR="50800" marT="25400" marB="25400" anchor="ctr">
                    <a:solidFill>
                      <a:srgbClr val="1F4E79"/>
                    </a:solidFill>
                  </a:tcPr>
                </a:tc>
                <a:tc>
                  <a:txBody>
                    <a:bodyPr wrap="square"/>
                    <a:lstStyle/>
                    <a:p>
                      <a:pPr algn="l"/>
                      <a:r>
                        <a:rPr sz="1300" b="1" i="0">
                          <a:solidFill>
                            <a:srgbClr val="FFFFFF"/>
                          </a:solidFill>
                          <a:latin typeface="Calibri"/>
                        </a:rPr>
                        <a:t>Topic</a:t>
                      </a:r>
                    </a:p>
                  </a:txBody>
                  <a:tcPr marL="50800" marR="50800" marT="25400" marB="25400" anchor="ctr">
                    <a:solidFill>
                      <a:srgbClr val="1F4E79"/>
                    </a:solidFill>
                  </a:tcPr>
                </a:tc>
                <a:tc>
                  <a:txBody>
                    <a:bodyPr wrap="square"/>
                    <a:lstStyle/>
                    <a:p>
                      <a:pPr algn="l"/>
                      <a:r>
                        <a:rPr sz="1300" b="1" i="0">
                          <a:solidFill>
                            <a:srgbClr val="FFFFFF"/>
                          </a:solidFill>
                          <a:latin typeface="Calibri"/>
                        </a:rPr>
                        <a:t>Where implemented</a:t>
                      </a:r>
                    </a:p>
                  </a:txBody>
                  <a:tcPr marL="50800" marR="50800" marT="25400" marB="25400" anchor="ctr">
                    <a:solidFill>
                      <a:srgbClr val="1F4E79"/>
                    </a:solidFill>
                  </a:tcPr>
                </a:tc>
              </a:tr>
              <a:tr h="457200">
                <a:tc>
                  <a:txBody>
                    <a:bodyPr wrap="square"/>
                    <a:lstStyle/>
                    <a:p>
                      <a:pPr algn="l"/>
                      <a:r>
                        <a:rPr sz="1250" b="1" i="0">
                          <a:solidFill>
                            <a:srgbClr val="1F4E79"/>
                          </a:solidFill>
                          <a:latin typeface="Calibri"/>
                        </a:rPr>
                        <a:t>Unit 2 — Search</a:t>
                      </a:r>
                    </a:p>
                  </a:txBody>
                  <a:tcPr marL="50800" marR="50800" marT="25400" marB="25400" anchor="ctr">
                    <a:solidFill>
                      <a:srgbClr val="FFFFFF"/>
                    </a:solidFill>
                  </a:tcPr>
                </a:tc>
                <a:tc>
                  <a:txBody>
                    <a:bodyPr wrap="square"/>
                    <a:lstStyle/>
                    <a:p>
                      <a:pPr algn="l"/>
                      <a:r>
                        <a:rPr sz="1250" b="0" i="0">
                          <a:solidFill>
                            <a:srgbClr val="1A1A1A"/>
                          </a:solidFill>
                          <a:latin typeface="Calibri"/>
                        </a:rPr>
                        <a:t>Breadth-first search</a:t>
                      </a:r>
                    </a:p>
                  </a:txBody>
                  <a:tcPr marL="50800" marR="50800" marT="25400" marB="25400" anchor="ctr">
                    <a:solidFill>
                      <a:srgbClr val="FFFFFF"/>
                    </a:solidFill>
                  </a:tcPr>
                </a:tc>
                <a:tc>
                  <a:txBody>
                    <a:bodyPr wrap="square"/>
                    <a:lstStyle/>
                    <a:p>
                      <a:pPr algn="l"/>
                      <a:r>
                        <a:rPr sz="1250" b="0" i="0">
                          <a:solidFill>
                            <a:srgbClr val="1A1A1A"/>
                          </a:solidFill>
                          <a:latin typeface="Calibri"/>
                        </a:rPr>
                        <a:t>core/search.py</a:t>
                      </a:r>
                    </a:p>
                  </a:txBody>
                  <a:tcPr marL="50800" marR="50800" marT="25400" marB="25400" anchor="ctr">
                    <a:solidFill>
                      <a:srgbClr val="FFFFFF"/>
                    </a:solidFill>
                  </a:tcPr>
                </a:tc>
              </a:tr>
              <a:tr h="457200">
                <a:tc>
                  <a:txBody>
                    <a:bodyPr wrap="square"/>
                    <a:lstStyle/>
                    <a:p>
                      <a:pPr algn="l"/>
                      <a:r>
                        <a:rPr sz="1250" b="1" i="0">
                          <a:solidFill>
                            <a:srgbClr val="1F4E79"/>
                          </a:solidFill>
                          <a:latin typeface="Calibri"/>
                        </a:rPr>
                        <a:t>Unit 4 — Logic</a:t>
                      </a:r>
                    </a:p>
                  </a:txBody>
                  <a:tcPr marL="50800" marR="50800" marT="25400" marB="25400" anchor="ctr">
                    <a:solidFill>
                      <a:srgbClr val="F2F2F2"/>
                    </a:solidFill>
                  </a:tcPr>
                </a:tc>
                <a:tc>
                  <a:txBody>
                    <a:bodyPr wrap="square"/>
                    <a:lstStyle/>
                    <a:p>
                      <a:pPr algn="l"/>
                      <a:r>
                        <a:rPr sz="1250" b="0" i="0">
                          <a:solidFill>
                            <a:srgbClr val="1A1A1A"/>
                          </a:solidFill>
                          <a:latin typeface="Calibri"/>
                        </a:rPr>
                        <a:t>Resolution, refutation</a:t>
                      </a:r>
                    </a:p>
                  </a:txBody>
                  <a:tcPr marL="50800" marR="50800" marT="25400" marB="25400" anchor="ctr">
                    <a:solidFill>
                      <a:srgbClr val="F2F2F2"/>
                    </a:solidFill>
                  </a:tcPr>
                </a:tc>
                <a:tc>
                  <a:txBody>
                    <a:bodyPr wrap="square"/>
                    <a:lstStyle/>
                    <a:p>
                      <a:pPr algn="l"/>
                      <a:r>
                        <a:rPr sz="1250" b="0" i="0">
                          <a:solidFill>
                            <a:srgbClr val="1A1A1A"/>
                          </a:solidFill>
                          <a:latin typeface="Calibri"/>
                        </a:rPr>
                        <a:t>core/logic.py, core/cnf.py</a:t>
                      </a:r>
                    </a:p>
                  </a:txBody>
                  <a:tcPr marL="50800" marR="50800" marT="25400" marB="25400" anchor="ctr">
                    <a:solidFill>
                      <a:srgbClr val="F2F2F2"/>
                    </a:solidFill>
                  </a:tcPr>
                </a:tc>
              </a:tr>
              <a:tr h="457200">
                <a:tc>
                  <a:txBody>
                    <a:bodyPr wrap="square"/>
                    <a:lstStyle/>
                    <a:p>
                      <a:pPr algn="l"/>
                      <a:r>
                        <a:rPr sz="1250" b="1" i="0">
                          <a:solidFill>
                            <a:srgbClr val="1F4E79"/>
                          </a:solidFill>
                          <a:latin typeface="Calibri"/>
                        </a:rPr>
                        <a:t>Unit 5 — Uncertainty</a:t>
                      </a:r>
                    </a:p>
                  </a:txBody>
                  <a:tcPr marL="50800" marR="50800" marT="25400" marB="25400" anchor="ctr">
                    <a:solidFill>
                      <a:srgbClr val="FFFFFF"/>
                    </a:solidFill>
                  </a:tcPr>
                </a:tc>
                <a:tc>
                  <a:txBody>
                    <a:bodyPr wrap="square"/>
                    <a:lstStyle/>
                    <a:p>
                      <a:pPr algn="l"/>
                      <a:r>
                        <a:rPr sz="1250" b="0" i="0">
                          <a:solidFill>
                            <a:srgbClr val="1A1A1A"/>
                          </a:solidFill>
                          <a:latin typeface="Calibri"/>
                        </a:rPr>
                        <a:t>Bayes' rule, Bayesian Knowledge Tracing</a:t>
                      </a:r>
                    </a:p>
                  </a:txBody>
                  <a:tcPr marL="50800" marR="50800" marT="25400" marB="25400" anchor="ctr">
                    <a:solidFill>
                      <a:srgbClr val="FFFFFF"/>
                    </a:solidFill>
                  </a:tcPr>
                </a:tc>
                <a:tc>
                  <a:txBody>
                    <a:bodyPr wrap="square"/>
                    <a:lstStyle/>
                    <a:p>
                      <a:pPr algn="l"/>
                      <a:r>
                        <a:rPr sz="1250" b="0" i="0">
                          <a:solidFill>
                            <a:srgbClr val="1A1A1A"/>
                          </a:solidFill>
                          <a:latin typeface="Calibri"/>
                        </a:rPr>
                        <a:t>core/bkt.py</a:t>
                      </a:r>
                    </a:p>
                  </a:txBody>
                  <a:tcPr marL="50800" marR="50800" marT="25400" marB="25400" anchor="ctr">
                    <a:solidFill>
                      <a:srgbClr val="FFFFFF"/>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6. Code Repository and Build Record</a:t>
            </a:r>
          </a:p>
        </p:txBody>
      </p:sp>
      <p:graphicFrame>
        <p:nvGraphicFramePr>
          <p:cNvPr id="4" name="Table 3"/>
          <p:cNvGraphicFramePr>
            <a:graphicFrameLocks noGrp="1"/>
          </p:cNvGraphicFramePr>
          <p:nvPr/>
        </p:nvGraphicFramePr>
        <p:xfrm>
          <a:off x="274320" y="1188720"/>
          <a:ext cx="11612880" cy="4023360"/>
        </p:xfrm>
        <a:graphic>
          <a:graphicData uri="http://schemas.openxmlformats.org/drawingml/2006/table">
            <a:tbl>
              <a:tblPr firstRow="1" bandRow="1">
                <a:tableStyleId>{5C22544A-7EE6-4342-B048-85BDC9FD1C3A}</a:tableStyleId>
              </a:tblPr>
              <a:tblGrid>
                <a:gridCol w="3931920"/>
                <a:gridCol w="7680960"/>
              </a:tblGrid>
              <a:tr h="502920">
                <a:tc>
                  <a:txBody>
                    <a:bodyPr wrap="square"/>
                    <a:lstStyle/>
                    <a:p>
                      <a:pPr algn="l"/>
                      <a:r>
                        <a:rPr sz="1400" b="1" i="0">
                          <a:solidFill>
                            <a:srgbClr val="FFFFFF"/>
                          </a:solidFill>
                          <a:latin typeface="Calibri"/>
                        </a:rPr>
                        <a:t>Fact</a:t>
                      </a:r>
                    </a:p>
                  </a:txBody>
                  <a:tcPr marL="50800" marR="50800" marT="25400" marB="25400" anchor="ctr">
                    <a:solidFill>
                      <a:srgbClr val="1F4E79"/>
                    </a:solidFill>
                  </a:tcPr>
                </a:tc>
                <a:tc>
                  <a:txBody>
                    <a:bodyPr wrap="square"/>
                    <a:lstStyle/>
                    <a:p>
                      <a:pPr algn="l"/>
                      <a:r>
                        <a:rPr sz="1400" b="1" i="0">
                          <a:solidFill>
                            <a:srgbClr val="FFFFFF"/>
                          </a:solidFill>
                          <a:latin typeface="Calibri"/>
                        </a:rPr>
                        <a:t>Value</a:t>
                      </a:r>
                    </a:p>
                  </a:txBody>
                  <a:tcPr marL="50800" marR="50800" marT="25400" marB="25400" anchor="ctr">
                    <a:solidFill>
                      <a:srgbClr val="1F4E79"/>
                    </a:solidFill>
                  </a:tcPr>
                </a:tc>
              </a:tr>
              <a:tr h="502920">
                <a:tc>
                  <a:txBody>
                    <a:bodyPr wrap="square"/>
                    <a:lstStyle/>
                    <a:p>
                      <a:pPr algn="l"/>
                      <a:r>
                        <a:rPr sz="1300" b="1" i="0">
                          <a:solidFill>
                            <a:srgbClr val="FFFFFF"/>
                          </a:solidFill>
                          <a:latin typeface="Calibri"/>
                        </a:rPr>
                        <a:t>Repository URL</a:t>
                      </a:r>
                    </a:p>
                  </a:txBody>
                  <a:tcPr marL="50800" marR="50800" marT="25400" marB="25400" anchor="ctr">
                    <a:solidFill>
                      <a:srgbClr val="FFFFFF"/>
                    </a:solidFill>
                  </a:tcPr>
                </a:tc>
                <a:tc>
                  <a:txBody>
                    <a:bodyPr wrap="square"/>
                    <a:lstStyle/>
                    <a:p>
                      <a:pPr algn="l"/>
                      <a:r>
                        <a:rPr sz="1250" b="0" i="0">
                          <a:solidFill>
                            <a:srgbClr val="1A1A1A"/>
                          </a:solidFill>
                          <a:latin typeface="Calibri"/>
                        </a:rPr>
                        <a:t>https://github.com/ujwal2311/proofpilot.git</a:t>
                      </a:r>
                    </a:p>
                  </a:txBody>
                  <a:tcPr marL="50800" marR="50800" marT="25400" marB="25400" anchor="ctr">
                    <a:solidFill>
                      <a:srgbClr val="FFFFFF"/>
                    </a:solidFill>
                  </a:tcPr>
                </a:tc>
              </a:tr>
              <a:tr h="502920">
                <a:tc>
                  <a:txBody>
                    <a:bodyPr wrap="square"/>
                    <a:lstStyle/>
                    <a:p>
                      <a:pPr algn="l"/>
                      <a:r>
                        <a:rPr sz="1300" b="1" i="0">
                          <a:solidFill>
                            <a:srgbClr val="FFFFFF"/>
                          </a:solidFill>
                          <a:latin typeface="Calibri"/>
                        </a:rPr>
                        <a:t>Licence</a:t>
                      </a:r>
                    </a:p>
                  </a:txBody>
                  <a:tcPr marL="50800" marR="50800" marT="25400" marB="25400" anchor="ctr">
                    <a:solidFill>
                      <a:srgbClr val="F2F2F2"/>
                    </a:solidFill>
                  </a:tcPr>
                </a:tc>
                <a:tc>
                  <a:txBody>
                    <a:bodyPr wrap="square"/>
                    <a:lstStyle/>
                    <a:p>
                      <a:pPr algn="l"/>
                      <a:r>
                        <a:rPr sz="1250" b="0" i="0">
                          <a:solidFill>
                            <a:srgbClr val="1A1A1A"/>
                          </a:solidFill>
                          <a:latin typeface="Calibri"/>
                        </a:rPr>
                        <a:t>MIT</a:t>
                      </a:r>
                    </a:p>
                  </a:txBody>
                  <a:tcPr marL="50800" marR="50800" marT="25400" marB="25400" anchor="ctr">
                    <a:solidFill>
                      <a:srgbClr val="F2F2F2"/>
                    </a:solidFill>
                  </a:tcPr>
                </a:tc>
              </a:tr>
              <a:tr h="502920">
                <a:tc>
                  <a:txBody>
                    <a:bodyPr wrap="square"/>
                    <a:lstStyle/>
                    <a:p>
                      <a:pPr algn="l"/>
                      <a:r>
                        <a:rPr sz="1300" b="1" i="0">
                          <a:solidFill>
                            <a:srgbClr val="FFFFFF"/>
                          </a:solidFill>
                          <a:latin typeface="Calibri"/>
                        </a:rPr>
                        <a:t>Total commits</a:t>
                      </a:r>
                    </a:p>
                  </a:txBody>
                  <a:tcPr marL="50800" marR="50800" marT="25400" marB="25400" anchor="ctr">
                    <a:solidFill>
                      <a:srgbClr val="FFFFFF"/>
                    </a:solidFill>
                  </a:tcPr>
                </a:tc>
                <a:tc>
                  <a:txBody>
                    <a:bodyPr wrap="square"/>
                    <a:lstStyle/>
                    <a:p>
                      <a:pPr algn="l"/>
                      <a:r>
                        <a:rPr sz="1250" b="0" i="0">
                          <a:solidFill>
                            <a:srgbClr val="1A1A1A"/>
                          </a:solidFill>
                          <a:latin typeface="Calibri"/>
                        </a:rPr>
                        <a:t>71 (git log --format=%H | wc -l)</a:t>
                      </a:r>
                    </a:p>
                  </a:txBody>
                  <a:tcPr marL="50800" marR="50800" marT="25400" marB="25400" anchor="ctr">
                    <a:solidFill>
                      <a:srgbClr val="FFFFFF"/>
                    </a:solidFill>
                  </a:tcPr>
                </a:tc>
              </a:tr>
              <a:tr h="502920">
                <a:tc>
                  <a:txBody>
                    <a:bodyPr wrap="square"/>
                    <a:lstStyle/>
                    <a:p>
                      <a:pPr algn="l"/>
                      <a:r>
                        <a:rPr sz="1300" b="1" i="0">
                          <a:solidFill>
                            <a:srgbClr val="FFFFFF"/>
                          </a:solidFill>
                          <a:latin typeface="Calibri"/>
                        </a:rPr>
                        <a:t>Latest commit (this deck)</a:t>
                      </a:r>
                    </a:p>
                  </a:txBody>
                  <a:tcPr marL="50800" marR="50800" marT="25400" marB="25400" anchor="ctr">
                    <a:solidFill>
                      <a:srgbClr val="F2F2F2"/>
                    </a:solidFill>
                  </a:tcPr>
                </a:tc>
                <a:tc>
                  <a:txBody>
                    <a:bodyPr wrap="square"/>
                    <a:lstStyle/>
                    <a:p>
                      <a:pPr algn="l"/>
                      <a:r>
                        <a:rPr sz="1250" b="0" i="0">
                          <a:solidFill>
                            <a:srgbClr val="1A1A1A"/>
                          </a:solidFill>
                          <a:latin typeface="Calibri"/>
                        </a:rPr>
                        <a:t>eed9ecf -- S10: report support kit</a:t>
                      </a:r>
                    </a:p>
                  </a:txBody>
                  <a:tcPr marL="50800" marR="50800" marT="25400" marB="25400" anchor="ctr">
                    <a:solidFill>
                      <a:srgbClr val="F2F2F2"/>
                    </a:solidFill>
                  </a:tcPr>
                </a:tc>
              </a:tr>
              <a:tr h="502920">
                <a:tc>
                  <a:txBody>
                    <a:bodyPr wrap="square"/>
                    <a:lstStyle/>
                    <a:p>
                      <a:pPr algn="l"/>
                      <a:r>
                        <a:rPr sz="1300" b="1" i="0">
                          <a:solidFill>
                            <a:srgbClr val="FFFFFF"/>
                          </a:solidFill>
                          <a:latin typeface="Calibri"/>
                        </a:rPr>
                        <a:t>CI status</a:t>
                      </a:r>
                    </a:p>
                  </a:txBody>
                  <a:tcPr marL="50800" marR="50800" marT="25400" marB="25400" anchor="ctr">
                    <a:solidFill>
                      <a:srgbClr val="FFFFFF"/>
                    </a:solidFill>
                  </a:tcPr>
                </a:tc>
                <a:tc>
                  <a:txBody>
                    <a:bodyPr wrap="square"/>
                    <a:lstStyle/>
                    <a:p>
                      <a:pPr algn="l"/>
                      <a:r>
                        <a:rPr sz="1250" b="0" i="0">
                          <a:solidFill>
                            <a:srgbClr val="1A1A1A"/>
                          </a:solidFill>
                          <a:latin typeface="Calibri"/>
                        </a:rPr>
                        <a:t>20/20 of the last 20 pushes succeeded (gh run list --branch main --limit 20)</a:t>
                      </a:r>
                    </a:p>
                  </a:txBody>
                  <a:tcPr marL="50800" marR="50800" marT="25400" marB="25400" anchor="ctr">
                    <a:solidFill>
                      <a:srgbClr val="FFFFFF"/>
                    </a:solidFill>
                  </a:tcPr>
                </a:tc>
              </a:tr>
              <a:tr h="502920">
                <a:tc>
                  <a:txBody>
                    <a:bodyPr wrap="square"/>
                    <a:lstStyle/>
                    <a:p>
                      <a:pPr algn="l"/>
                      <a:r>
                        <a:rPr sz="1300" b="1" i="0">
                          <a:solidFill>
                            <a:srgbClr val="FFFFFF"/>
                          </a:solidFill>
                          <a:latin typeface="Calibri"/>
                        </a:rPr>
                        <a:t>AI_USAGE_LOG.md entries</a:t>
                      </a:r>
                    </a:p>
                  </a:txBody>
                  <a:tcPr marL="50800" marR="50800" marT="25400" marB="25400" anchor="ctr">
                    <a:solidFill>
                      <a:srgbClr val="F2F2F2"/>
                    </a:solidFill>
                  </a:tcPr>
                </a:tc>
                <a:tc>
                  <a:txBody>
                    <a:bodyPr wrap="square"/>
                    <a:lstStyle/>
                    <a:p>
                      <a:pPr algn="l"/>
                      <a:r>
                        <a:rPr sz="1250" b="0" i="0">
                          <a:solidFill>
                            <a:srgbClr val="1A1A1A"/>
                          </a:solidFill>
                          <a:latin typeface="Calibri"/>
                        </a:rPr>
                        <a:t>29 dated entries, one per development phase/sprint block</a:t>
                      </a:r>
                    </a:p>
                  </a:txBody>
                  <a:tcPr marL="50800" marR="50800" marT="25400" marB="25400" anchor="ctr">
                    <a:solidFill>
                      <a:srgbClr val="F2F2F2"/>
                    </a:solidFill>
                  </a:tcPr>
                </a:tc>
              </a:tr>
              <a:tr h="502920">
                <a:tc>
                  <a:txBody>
                    <a:bodyPr wrap="square"/>
                    <a:lstStyle/>
                    <a:p>
                      <a:pPr algn="l"/>
                      <a:r>
                        <a:rPr sz="1300" b="1" i="0">
                          <a:solidFill>
                            <a:srgbClr val="FFFFFF"/>
                          </a:solidFill>
                          <a:latin typeface="Calibri"/>
                        </a:rPr>
                        <a:t>Commits with Co-Authored-By: Claude</a:t>
                      </a:r>
                    </a:p>
                  </a:txBody>
                  <a:tcPr marL="50800" marR="50800" marT="25400" marB="25400" anchor="ctr">
                    <a:solidFill>
                      <a:srgbClr val="FFFFFF"/>
                    </a:solidFill>
                  </a:tcPr>
                </a:tc>
                <a:tc>
                  <a:txBody>
                    <a:bodyPr wrap="square"/>
                    <a:lstStyle/>
                    <a:p>
                      <a:pPr algn="l"/>
                      <a:r>
                        <a:rPr sz="1250" b="0" i="0">
                          <a:solidFill>
                            <a:srgbClr val="1A1A1A"/>
                          </a:solidFill>
                          <a:latin typeface="Calibri"/>
                        </a:rPr>
                        <a:t>58 of 71 (git log --format=%B | grep -c "Co-Authored-By: Claude")</a:t>
                      </a:r>
                    </a:p>
                  </a:txBody>
                  <a:tcPr marL="50800" marR="50800" marT="25400" marB="25400" anchor="ctr">
                    <a:solidFill>
                      <a:srgbClr val="FFFFFF"/>
                    </a:solidFill>
                  </a:tcPr>
                </a:tc>
              </a:tr>
            </a:tbl>
          </a:graphicData>
        </a:graphic>
      </p:graphicFrame>
      <p:sp>
        <p:nvSpPr>
          <p:cNvPr id="5" name="TextBox 4"/>
          <p:cNvSpPr txBox="1"/>
          <p:nvPr/>
        </p:nvSpPr>
        <p:spPr>
          <a:xfrm>
            <a:off x="274320" y="5486400"/>
            <a:ext cx="11612880" cy="822960"/>
          </a:xfrm>
          <a:prstGeom prst="rect">
            <a:avLst/>
          </a:prstGeom>
          <a:noFill/>
        </p:spPr>
        <p:txBody>
          <a:bodyPr wrap="square" anchor="t" lIns="25400" rIns="25400" tIns="25400" bIns="25400">
            <a:spAutoFit/>
          </a:bodyPr>
          <a:lstStyle/>
          <a:p>
            <a:r>
              <a:rPr sz="1200" b="0" i="1">
                <a:solidFill>
                  <a:srgbClr val="505050"/>
                </a:solidFill>
                <a:latin typeface="Calibri"/>
              </a:rPr>
              <a:t>Every figure above is sourced to the exact command that produced it (docs/report/FACTS.md §1) — re-run any of them to re-check.</a:t>
            </a:r>
          </a:p>
        </p:txBody>
      </p:sp>
      <p:sp>
        <p:nvSpPr>
          <p:cNvPr id="6" name="TextBox 5"/>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7. Experiments: Stopping-Rule Simulation</a:t>
            </a:r>
          </a:p>
        </p:txBody>
      </p:sp>
      <p:graphicFrame>
        <p:nvGraphicFramePr>
          <p:cNvPr id="4" name="Table 3"/>
          <p:cNvGraphicFramePr>
            <a:graphicFrameLocks noGrp="1"/>
          </p:cNvGraphicFramePr>
          <p:nvPr/>
        </p:nvGraphicFramePr>
        <p:xfrm>
          <a:off x="274320" y="1143000"/>
          <a:ext cx="11612880" cy="2011680"/>
        </p:xfrm>
        <a:graphic>
          <a:graphicData uri="http://schemas.openxmlformats.org/drawingml/2006/table">
            <a:tbl>
              <a:tblPr firstRow="1" bandRow="1">
                <a:tableStyleId>{5C22544A-7EE6-4342-B048-85BDC9FD1C3A}</a:tableStyleId>
              </a:tblPr>
              <a:tblGrid>
                <a:gridCol w="2926080"/>
                <a:gridCol w="3017520"/>
                <a:gridCol w="2743200"/>
                <a:gridCol w="2926080"/>
              </a:tblGrid>
              <a:tr h="502920">
                <a:tc>
                  <a:txBody>
                    <a:bodyPr wrap="square"/>
                    <a:lstStyle/>
                    <a:p>
                      <a:pPr algn="l"/>
                      <a:r>
                        <a:rPr sz="1300" b="1" i="0">
                          <a:solidFill>
                            <a:srgbClr val="FFFFFF"/>
                          </a:solidFill>
                          <a:latin typeface="Calibri"/>
                        </a:rPr>
                        <a:t>Policy</a:t>
                      </a:r>
                    </a:p>
                  </a:txBody>
                  <a:tcPr marL="50800" marR="50800" marT="25400" marB="25400" anchor="ctr">
                    <a:solidFill>
                      <a:srgbClr val="1F4E79"/>
                    </a:solidFill>
                  </a:tcPr>
                </a:tc>
                <a:tc>
                  <a:txBody>
                    <a:bodyPr wrap="square"/>
                    <a:lstStyle/>
                    <a:p>
                      <a:pPr algn="l"/>
                      <a:r>
                        <a:rPr sz="1300" b="1" i="0">
                          <a:solidFill>
                            <a:srgbClr val="FFFFFF"/>
                          </a:solidFill>
                          <a:latin typeface="Calibri"/>
                        </a:rPr>
                        <a:t>Premature-release %</a:t>
                      </a:r>
                    </a:p>
                  </a:txBody>
                  <a:tcPr marL="50800" marR="50800" marT="25400" marB="25400" anchor="ctr">
                    <a:solidFill>
                      <a:srgbClr val="1F4E79"/>
                    </a:solidFill>
                  </a:tcPr>
                </a:tc>
                <a:tc>
                  <a:txBody>
                    <a:bodyPr wrap="square"/>
                    <a:lstStyle/>
                    <a:p>
                      <a:pPr algn="l"/>
                      <a:r>
                        <a:rPr sz="1300" b="1" i="0">
                          <a:solidFill>
                            <a:srgbClr val="FFFFFF"/>
                          </a:solidFill>
                          <a:latin typeface="Calibri"/>
                        </a:rPr>
                        <a:t>Mean exercises</a:t>
                      </a:r>
                    </a:p>
                  </a:txBody>
                  <a:tcPr marL="50800" marR="50800" marT="25400" marB="25400" anchor="ctr">
                    <a:solidFill>
                      <a:srgbClr val="1F4E79"/>
                    </a:solidFill>
                  </a:tcPr>
                </a:tc>
                <a:tc>
                  <a:txBody>
                    <a:bodyPr wrap="square"/>
                    <a:lstStyle/>
                    <a:p>
                      <a:pPr algn="l"/>
                      <a:r>
                        <a:rPr sz="1300" b="1" i="0">
                          <a:solidFill>
                            <a:srgbClr val="FFFFFF"/>
                          </a:solidFill>
                          <a:latin typeface="Calibri"/>
                        </a:rPr>
                        <a:t>Mean over-practice</a:t>
                      </a:r>
                    </a:p>
                  </a:txBody>
                  <a:tcPr marL="50800" marR="50800" marT="25400" marB="25400" anchor="ctr">
                    <a:solidFill>
                      <a:srgbClr val="1F4E79"/>
                    </a:solidFill>
                  </a:tcPr>
                </a:tc>
              </a:tr>
              <a:tr h="502920">
                <a:tc>
                  <a:txBody>
                    <a:bodyPr wrap="square"/>
                    <a:lstStyle/>
                    <a:p>
                      <a:pPr algn="l"/>
                      <a:r>
                        <a:rPr sz="1300" b="1" i="0">
                          <a:solidFill>
                            <a:srgbClr val="1F4E79"/>
                          </a:solidFill>
                          <a:latin typeface="Calibri"/>
                        </a:rPr>
                        <a:t>baseline (fixed-N)</a:t>
                      </a:r>
                    </a:p>
                  </a:txBody>
                  <a:tcPr marL="50800" marR="50800" marT="25400" marB="25400" anchor="ctr">
                    <a:solidFill>
                      <a:srgbClr val="FFFFFF"/>
                    </a:solidFill>
                  </a:tcPr>
                </a:tc>
                <a:tc>
                  <a:txBody>
                    <a:bodyPr wrap="square"/>
                    <a:lstStyle/>
                    <a:p>
                      <a:pPr algn="l"/>
                      <a:r>
                        <a:rPr sz="1300" b="0" i="0">
                          <a:solidFill>
                            <a:srgbClr val="1A1A1A"/>
                          </a:solidFill>
                          <a:latin typeface="Calibri"/>
                        </a:rPr>
                        <a:t>21.00</a:t>
                      </a:r>
                    </a:p>
                  </a:txBody>
                  <a:tcPr marL="50800" marR="50800" marT="25400" marB="25400" anchor="ctr">
                    <a:solidFill>
                      <a:srgbClr val="FFFFFF"/>
                    </a:solidFill>
                  </a:tcPr>
                </a:tc>
                <a:tc>
                  <a:txBody>
                    <a:bodyPr wrap="square"/>
                    <a:lstStyle/>
                    <a:p>
                      <a:pPr algn="l"/>
                      <a:r>
                        <a:rPr sz="1300" b="0" i="0">
                          <a:solidFill>
                            <a:srgbClr val="1A1A1A"/>
                          </a:solidFill>
                          <a:latin typeface="Calibri"/>
                        </a:rPr>
                        <a:t>8.00</a:t>
                      </a:r>
                    </a:p>
                  </a:txBody>
                  <a:tcPr marL="50800" marR="50800" marT="25400" marB="25400" anchor="ctr">
                    <a:solidFill>
                      <a:srgbClr val="FFFFFF"/>
                    </a:solidFill>
                  </a:tcPr>
                </a:tc>
                <a:tc>
                  <a:txBody>
                    <a:bodyPr wrap="square"/>
                    <a:lstStyle/>
                    <a:p>
                      <a:pPr algn="l"/>
                      <a:r>
                        <a:rPr sz="1300" b="0" i="0">
                          <a:solidFill>
                            <a:srgbClr val="1A1A1A"/>
                          </a:solidFill>
                          <a:latin typeface="Calibri"/>
                        </a:rPr>
                        <a:t>4.45</a:t>
                      </a:r>
                    </a:p>
                  </a:txBody>
                  <a:tcPr marL="50800" marR="50800" marT="25400" marB="25400" anchor="ctr">
                    <a:solidFill>
                      <a:srgbClr val="FFFFFF"/>
                    </a:solidFill>
                  </a:tcPr>
                </a:tc>
              </a:tr>
              <a:tr h="502920">
                <a:tc>
                  <a:txBody>
                    <a:bodyPr wrap="square"/>
                    <a:lstStyle/>
                    <a:p>
                      <a:pPr algn="l"/>
                      <a:r>
                        <a:rPr sz="1300" b="1" i="0">
                          <a:solidFill>
                            <a:srgbClr val="1F4E79"/>
                          </a:solidFill>
                          <a:latin typeface="Calibri"/>
                        </a:rPr>
                        <a:t>adaptive-matched</a:t>
                      </a:r>
                    </a:p>
                  </a:txBody>
                  <a:tcPr marL="50800" marR="50800" marT="25400" marB="25400" anchor="ctr">
                    <a:solidFill>
                      <a:srgbClr val="F2F2F2"/>
                    </a:solidFill>
                  </a:tcPr>
                </a:tc>
                <a:tc>
                  <a:txBody>
                    <a:bodyPr wrap="square"/>
                    <a:lstStyle/>
                    <a:p>
                      <a:pPr algn="l"/>
                      <a:r>
                        <a:rPr sz="1300" b="0" i="0">
                          <a:solidFill>
                            <a:srgbClr val="1A1A1A"/>
                          </a:solidFill>
                          <a:latin typeface="Calibri"/>
                        </a:rPr>
                        <a:t>2.60</a:t>
                      </a:r>
                    </a:p>
                  </a:txBody>
                  <a:tcPr marL="50800" marR="50800" marT="25400" marB="25400" anchor="ctr">
                    <a:solidFill>
                      <a:srgbClr val="F2F2F2"/>
                    </a:solidFill>
                  </a:tcPr>
                </a:tc>
                <a:tc>
                  <a:txBody>
                    <a:bodyPr wrap="square"/>
                    <a:lstStyle/>
                    <a:p>
                      <a:pPr algn="l"/>
                      <a:r>
                        <a:rPr sz="1300" b="0" i="0">
                          <a:solidFill>
                            <a:srgbClr val="1A1A1A"/>
                          </a:solidFill>
                          <a:latin typeface="Calibri"/>
                        </a:rPr>
                        <a:t>7.57</a:t>
                      </a:r>
                    </a:p>
                  </a:txBody>
                  <a:tcPr marL="50800" marR="50800" marT="25400" marB="25400" anchor="ctr">
                    <a:solidFill>
                      <a:srgbClr val="F2F2F2"/>
                    </a:solidFill>
                  </a:tcPr>
                </a:tc>
                <a:tc>
                  <a:txBody>
                    <a:bodyPr wrap="square"/>
                    <a:lstStyle/>
                    <a:p>
                      <a:pPr algn="l"/>
                      <a:r>
                        <a:rPr sz="1300" b="0" i="0">
                          <a:solidFill>
                            <a:srgbClr val="1A1A1A"/>
                          </a:solidFill>
                          <a:latin typeface="Calibri"/>
                        </a:rPr>
                        <a:t>2.67</a:t>
                      </a:r>
                    </a:p>
                  </a:txBody>
                  <a:tcPr marL="50800" marR="50800" marT="25400" marB="25400" anchor="ctr">
                    <a:solidFill>
                      <a:srgbClr val="F2F2F2"/>
                    </a:solidFill>
                  </a:tcPr>
                </a:tc>
              </a:tr>
              <a:tr h="502920">
                <a:tc>
                  <a:txBody>
                    <a:bodyPr wrap="square"/>
                    <a:lstStyle/>
                    <a:p>
                      <a:pPr algn="l"/>
                      <a:r>
                        <a:rPr sz="1300" b="1" i="0">
                          <a:solidFill>
                            <a:srgbClr val="1F4E79"/>
                          </a:solidFill>
                          <a:latin typeface="Calibri"/>
                        </a:rPr>
                        <a:t>adaptive-mismatched</a:t>
                      </a:r>
                    </a:p>
                  </a:txBody>
                  <a:tcPr marL="50800" marR="50800" marT="25400" marB="25400" anchor="ctr">
                    <a:solidFill>
                      <a:srgbClr val="FFFFFF"/>
                    </a:solidFill>
                  </a:tcPr>
                </a:tc>
                <a:tc>
                  <a:txBody>
                    <a:bodyPr wrap="square"/>
                    <a:lstStyle/>
                    <a:p>
                      <a:pPr algn="l"/>
                      <a:r>
                        <a:rPr sz="1300" b="0" i="0">
                          <a:solidFill>
                            <a:srgbClr val="1A1A1A"/>
                          </a:solidFill>
                          <a:latin typeface="Calibri"/>
                        </a:rPr>
                        <a:t>4.80</a:t>
                      </a:r>
                    </a:p>
                  </a:txBody>
                  <a:tcPr marL="50800" marR="50800" marT="25400" marB="25400" anchor="ctr">
                    <a:solidFill>
                      <a:srgbClr val="FFFFFF"/>
                    </a:solidFill>
                  </a:tcPr>
                </a:tc>
                <a:tc>
                  <a:txBody>
                    <a:bodyPr wrap="square"/>
                    <a:lstStyle/>
                    <a:p>
                      <a:pPr algn="l"/>
                      <a:r>
                        <a:rPr sz="1300" b="0" i="0">
                          <a:solidFill>
                            <a:srgbClr val="1A1A1A"/>
                          </a:solidFill>
                          <a:latin typeface="Calibri"/>
                        </a:rPr>
                        <a:t>11.51</a:t>
                      </a:r>
                    </a:p>
                  </a:txBody>
                  <a:tcPr marL="50800" marR="50800" marT="25400" marB="25400" anchor="ctr">
                    <a:solidFill>
                      <a:srgbClr val="FFFFFF"/>
                    </a:solidFill>
                  </a:tcPr>
                </a:tc>
                <a:tc>
                  <a:txBody>
                    <a:bodyPr wrap="square"/>
                    <a:lstStyle/>
                    <a:p>
                      <a:pPr algn="l"/>
                      <a:r>
                        <a:rPr sz="1300" b="0" i="0">
                          <a:solidFill>
                            <a:srgbClr val="1A1A1A"/>
                          </a:solidFill>
                          <a:latin typeface="Calibri"/>
                        </a:rPr>
                        <a:t>3.78</a:t>
                      </a:r>
                    </a:p>
                  </a:txBody>
                  <a:tcPr marL="50800" marR="50800" marT="25400" marB="25400" anchor="ctr">
                    <a:solidFill>
                      <a:srgbClr val="FFFFFF"/>
                    </a:solidFill>
                  </a:tcPr>
                </a:tc>
              </a:tr>
            </a:tbl>
          </a:graphicData>
        </a:graphic>
      </p:graphicFrame>
      <p:sp>
        <p:nvSpPr>
          <p:cNvPr id="5" name="TextBox 4"/>
          <p:cNvSpPr txBox="1"/>
          <p:nvPr/>
        </p:nvSpPr>
        <p:spPr>
          <a:xfrm>
            <a:off x="274320" y="3337560"/>
            <a:ext cx="11612880" cy="320040"/>
          </a:xfrm>
          <a:prstGeom prst="rect">
            <a:avLst/>
          </a:prstGeom>
          <a:noFill/>
        </p:spPr>
        <p:txBody>
          <a:bodyPr wrap="square" anchor="t" lIns="25400" rIns="25400" tIns="25400" bIns="25400">
            <a:spAutoFit/>
          </a:bodyPr>
          <a:lstStyle/>
          <a:p>
            <a:r>
              <a:rPr sz="1200" b="1" i="0">
                <a:solidFill>
                  <a:srgbClr val="1A1A1A"/>
                </a:solidFill>
                <a:latin typeface="Calibri"/>
              </a:rPr>
              <a:t>Seed 20261012, N=500 simulated learners per arm (python scripts/run_experiments.py --write)</a:t>
            </a:r>
          </a:p>
        </p:txBody>
      </p:sp>
      <p:sp>
        <p:nvSpPr>
          <p:cNvPr id="6" name="TextBox 5"/>
          <p:cNvSpPr txBox="1"/>
          <p:nvPr/>
        </p:nvSpPr>
        <p:spPr>
          <a:xfrm>
            <a:off x="274320" y="3749039"/>
            <a:ext cx="11612880" cy="2560320"/>
          </a:xfrm>
          <a:prstGeom prst="rect">
            <a:avLst/>
          </a:prstGeom>
          <a:noFill/>
        </p:spPr>
        <p:txBody>
          <a:bodyPr wrap="square" anchor="t" lIns="25400" rIns="25400" tIns="25400" bIns="25400">
            <a:spAutoFit/>
          </a:bodyPr>
          <a:lstStyle/>
          <a:p>
            <a:pPr>
              <a:spcAft>
                <a:spcPts val="800"/>
              </a:spcAft>
            </a:pPr>
            <a:r>
              <a:rPr sz="1200" b="0" i="0">
                <a:solidFill>
                  <a:srgbClr val="1A1A1A"/>
                </a:solidFill>
                <a:latin typeface="Calibri"/>
              </a:rPr>
              <a:t>• The adaptive-mismatched arm uses MORE exercises than the baseline (11.51 vs 8.00) and is NOT budget-matched to it. The correct claim: it still keeps premature release low (4.8%) at roughly 50% more practice than the matched arm — not that it beats the baseline at an equal budget.</a:t>
            </a:r>
          </a:p>
          <a:p>
            <a:pPr>
              <a:spcAft>
                <a:spcPts val="800"/>
              </a:spcAft>
            </a:pPr>
            <a:r>
              <a:rPr sz="1200" b="0" i="0">
                <a:solidFill>
                  <a:srgbClr val="1A1A1A"/>
                </a:solidFill>
                <a:latin typeface="Calibri"/>
              </a:rPr>
              <a:t>• “The simulation tests only the stopping rule under the model’s own assumptions” (HLD §14 item 9, verbatim) — not evidence that students learn more.</a:t>
            </a:r>
          </a:p>
          <a:p>
            <a:pPr>
              <a:spcAft>
                <a:spcPts val="800"/>
              </a:spcAft>
            </a:pPr>
            <a:r>
              <a:rPr sz="1200" b="0" i="0">
                <a:solidFill>
                  <a:srgbClr val="1A1A1A"/>
                </a:solidFill>
                <a:latin typeface="Calibri"/>
              </a:rPr>
              <a:t>• One BKT-tracked skill is simulated per learner, not three, because the three real skills update independently under identical dynamics.</a:t>
            </a:r>
          </a:p>
          <a:p>
            <a:pPr>
              <a:spcAft>
                <a:spcPts val="800"/>
              </a:spcAft>
            </a:pPr>
            <a:r>
              <a:rPr sz="1200" b="0" i="0">
                <a:solidFill>
                  <a:srgbClr val="1A1A1A"/>
                </a:solidFill>
                <a:latin typeface="Calibri"/>
              </a:rPr>
              <a:t>• The mismatched arm's “true” slip/transit parameters are a labelled design decision, not a fit to real data.</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7. Experimental Analysis and Current Progress</a:t>
            </a:r>
          </a:p>
        </p:txBody>
      </p:sp>
      <p:graphicFrame>
        <p:nvGraphicFramePr>
          <p:cNvPr id="4" name="Table 3"/>
          <p:cNvGraphicFramePr>
            <a:graphicFrameLocks noGrp="1"/>
          </p:cNvGraphicFramePr>
          <p:nvPr/>
        </p:nvGraphicFramePr>
        <p:xfrm>
          <a:off x="274320" y="1097280"/>
          <a:ext cx="11612880" cy="5394960"/>
        </p:xfrm>
        <a:graphic>
          <a:graphicData uri="http://schemas.openxmlformats.org/drawingml/2006/table">
            <a:tbl>
              <a:tblPr firstRow="1" bandRow="1">
                <a:tableStyleId>{5C22544A-7EE6-4342-B048-85BDC9FD1C3A}</a:tableStyleId>
              </a:tblPr>
              <a:tblGrid>
                <a:gridCol w="2377440"/>
                <a:gridCol w="9235440"/>
              </a:tblGrid>
              <a:tr h="539496">
                <a:tc>
                  <a:txBody>
                    <a:bodyPr wrap="square"/>
                    <a:lstStyle/>
                    <a:p>
                      <a:pPr algn="l"/>
                      <a:r>
                        <a:rPr sz="1300" b="1" i="0">
                          <a:solidFill>
                            <a:srgbClr val="FFFFFF"/>
                          </a:solidFill>
                          <a:latin typeface="Calibri"/>
                        </a:rPr>
                        <a:t>Item</a:t>
                      </a:r>
                    </a:p>
                  </a:txBody>
                  <a:tcPr marL="50800" marR="50800" marT="25400" marB="25400" anchor="ctr">
                    <a:solidFill>
                      <a:srgbClr val="1F4E79"/>
                    </a:solidFill>
                  </a:tcPr>
                </a:tc>
                <a:tc>
                  <a:txBody>
                    <a:bodyPr wrap="square"/>
                    <a:lstStyle/>
                    <a:p>
                      <a:pPr algn="l"/>
                      <a:r>
                        <a:rPr sz="1300" b="1" i="0">
                          <a:solidFill>
                            <a:srgbClr val="FFFFFF"/>
                          </a:solidFill>
                          <a:latin typeface="Calibri"/>
                        </a:rPr>
                        <a:t>Status</a:t>
                      </a:r>
                    </a:p>
                  </a:txBody>
                  <a:tcPr marL="50800" marR="50800" marT="25400" marB="25400" anchor="ctr">
                    <a:solidFill>
                      <a:srgbClr val="1F4E79"/>
                    </a:solidFill>
                  </a:tcPr>
                </a:tc>
              </a:tr>
              <a:tr h="539496">
                <a:tc>
                  <a:txBody>
                    <a:bodyPr wrap="square"/>
                    <a:lstStyle/>
                    <a:p>
                      <a:pPr algn="l"/>
                      <a:r>
                        <a:rPr sz="1150" b="1" i="0">
                          <a:solidFill>
                            <a:srgbClr val="1F4E79"/>
                          </a:solidFill>
                          <a:latin typeface="Calibri"/>
                        </a:rPr>
                        <a:t>Tests</a:t>
                      </a:r>
                    </a:p>
                  </a:txBody>
                  <a:tcPr marL="50800" marR="50800" marT="25400" marB="25400" anchor="ctr">
                    <a:solidFill>
                      <a:srgbClr val="FFFFFF"/>
                    </a:solidFill>
                  </a:tcPr>
                </a:tc>
                <a:tc>
                  <a:txBody>
                    <a:bodyPr wrap="square"/>
                    <a:lstStyle/>
                    <a:p>
                      <a:pPr algn="l"/>
                      <a:r>
                        <a:rPr sz="1050" b="0" i="0">
                          <a:solidFill>
                            <a:srgbClr val="1A1A1A"/>
                          </a:solidFill>
                          <a:latin typeface="Calibri"/>
                        </a:rPr>
                        <a:t>808/809 passed (1 skipped by default: 400-case slow sweep, needs PROOFPILOT_SLOW=1). 1 failing: test_the_planned_list_shrinks — the dead-reference allowlist needs a one-line update now that docs/report/*.md exist; out of this task's read-only-on-source-code scope.</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Differential testing</a:t>
                      </a:r>
                    </a:p>
                  </a:txBody>
                  <a:tcPr marL="50800" marR="50800" marT="25400" marB="25400" anchor="ctr">
                    <a:solidFill>
                      <a:srgbClr val="F2F2F2"/>
                    </a:solidFill>
                  </a:tcPr>
                </a:tc>
                <a:tc>
                  <a:txBody>
                    <a:bodyPr wrap="square"/>
                    <a:lstStyle/>
                    <a:p>
                      <a:pPr algn="l"/>
                      <a:r>
                        <a:rPr sz="1050" b="0" i="0">
                          <a:solidFill>
                            <a:srgbClr val="1A1A1A"/>
                          </a:solidFill>
                          <a:latin typeface="Calibri"/>
                        </a:rPr>
                        <a:t>940/940 agreement between truth-table entailment and resolution (100%).</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Mutation testing</a:t>
                      </a:r>
                    </a:p>
                  </a:txBody>
                  <a:tcPr marL="50800" marR="50800" marT="25400" marB="25400" anchor="ctr">
                    <a:solidFill>
                      <a:srgbClr val="FFFFFF"/>
                    </a:solidFill>
                  </a:tcPr>
                </a:tc>
                <a:tc>
                  <a:txBody>
                    <a:bodyPr wrap="square"/>
                    <a:lstStyle/>
                    <a:p>
                      <a:pPr algn="l"/>
                      <a:r>
                        <a:rPr sz="1050" b="0" i="0">
                          <a:solidFill>
                            <a:srgbClr val="1A1A1A"/>
                          </a:solidFill>
                          <a:latin typeface="Calibri"/>
                        </a:rPr>
                        <a:t>82/82 caught, but ONLY for Phase-6a core modules (bkt, cnf, english, entail, facts, logic, models, relevance, search). Stale for every module built since (tutor.py rewrite, session.py, API, frontend, pilot tooling) — scheduled, not run.</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Search latency</a:t>
                      </a:r>
                    </a:p>
                  </a:txBody>
                  <a:tcPr marL="50800" marR="50800" marT="25400" marB="25400" anchor="ctr">
                    <a:solidFill>
                      <a:srgbClr val="F2F2F2"/>
                    </a:solidFill>
                  </a:tcPr>
                </a:tc>
                <a:tc>
                  <a:txBody>
                    <a:bodyPr wrap="square"/>
                    <a:lstStyle/>
                    <a:p>
                      <a:pPr algn="l"/>
                      <a:r>
                        <a:rPr sz="1050" b="0" i="0">
                          <a:solidFill>
                            <a:srgbClr val="1A1A1A"/>
                          </a:solidFill>
                          <a:latin typeface="Calibri"/>
                        </a:rPr>
                        <a:t>Deepest bank proof (5 steps): 12.7 ms. Deepest budget-answered proof (7 steps): 691 ms. 8+ steps fall back to a rule-based hint.</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Evaluation sets (S/X)</a:t>
                      </a:r>
                    </a:p>
                  </a:txBody>
                  <a:tcPr marL="50800" marR="50800" marT="25400" marB="25400" anchor="ctr">
                    <a:solidFill>
                      <a:srgbClr val="FFFFFF"/>
                    </a:solidFill>
                  </a:tcPr>
                </a:tc>
                <a:tc>
                  <a:txBody>
                    <a:bodyPr wrap="square"/>
                    <a:lstStyle/>
                    <a:p>
                      <a:pPr algn="l"/>
                      <a:r>
                        <a:rPr sz="1050" b="0" i="0">
                          <a:solidFill>
                            <a:srgbClr val="1A1A1A"/>
                          </a:solidFill>
                          <a:latin typeface="Calibri"/>
                        </a:rPr>
                        <a:t>data/eval/*.json exist (15 items each, AI-generated, labelled), untracked by git, wired to no script — not yet used.</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Pilot (E5)</a:t>
                      </a:r>
                    </a:p>
                  </a:txBody>
                  <a:tcPr marL="50800" marR="50800" marT="25400" marB="25400" anchor="ctr">
                    <a:solidFill>
                      <a:srgbClr val="F2F2F2"/>
                    </a:solidFill>
                  </a:tcPr>
                </a:tc>
                <a:tc>
                  <a:txBody>
                    <a:bodyPr wrap="square"/>
                    <a:lstStyle/>
                    <a:p>
                      <a:pPr algn="l"/>
                      <a:r>
                        <a:rPr sz="1050" b="0" i="0">
                          <a:solidFill>
                            <a:srgbClr val="1A1A1A"/>
                          </a:solidFill>
                          <a:latin typeface="Calibri"/>
                        </a:rPr>
                        <a:t>Not run. Tooling ready; template.csv has a header row only.</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M2 (translation coach)</a:t>
                      </a:r>
                    </a:p>
                  </a:txBody>
                  <a:tcPr marL="50800" marR="50800" marT="25400" marB="25400" anchor="ctr">
                    <a:solidFill>
                      <a:srgbClr val="FFFFFF"/>
                    </a:solidFill>
                  </a:tcPr>
                </a:tc>
                <a:tc>
                  <a:txBody>
                    <a:bodyPr wrap="square"/>
                    <a:lstStyle/>
                    <a:p>
                      <a:pPr algn="l"/>
                      <a:r>
                        <a:rPr sz="1050" b="0" i="0">
                          <a:solidFill>
                            <a:srgbClr val="1A1A1A"/>
                          </a:solidFill>
                          <a:latin typeface="Calibri"/>
                        </a:rPr>
                        <a:t>Not built. core/translation.py, core/narrate.py do not exist.</a:t>
                      </a:r>
                    </a:p>
                  </a:txBody>
                  <a:tcPr marL="50800" marR="50800" marT="25400" marB="25400" anchor="ctr">
                    <a:solidFill>
                      <a:srgbClr val="FFFFFF"/>
                    </a:solidFill>
                  </a:tcPr>
                </a:tc>
              </a:tr>
              <a:tr h="539496">
                <a:tc>
                  <a:txBody>
                    <a:bodyPr wrap="square"/>
                    <a:lstStyle/>
                    <a:p>
                      <a:pPr algn="l"/>
                      <a:r>
                        <a:rPr sz="1150" b="1" i="0">
                          <a:solidFill>
                            <a:srgbClr val="1F4E79"/>
                          </a:solidFill>
                          <a:latin typeface="Calibri"/>
                        </a:rPr>
                        <a:t>Analysis of results</a:t>
                      </a:r>
                    </a:p>
                  </a:txBody>
                  <a:tcPr marL="50800" marR="50800" marT="25400" marB="25400" anchor="ctr">
                    <a:solidFill>
                      <a:srgbClr val="F2F2F2"/>
                    </a:solidFill>
                  </a:tcPr>
                </a:tc>
                <a:tc>
                  <a:txBody>
                    <a:bodyPr wrap="square"/>
                    <a:lstStyle/>
                    <a:p>
                      <a:pPr algn="l"/>
                      <a:r>
                        <a:rPr sz="1050" b="0" i="1">
                          <a:solidFill>
                            <a:srgbClr val="707070"/>
                          </a:solidFill>
                          <a:latin typeface="Calibri"/>
                        </a:rPr>
                        <a:t>[STUDENTS WRITE: your interpretation]</a:t>
                      </a:r>
                    </a:p>
                  </a:txBody>
                  <a:tcPr marL="50800" marR="50800" marT="25400" marB="25400" anchor="ctr">
                    <a:solidFill>
                      <a:srgbClr val="F2F2F2"/>
                    </a:solidFill>
                  </a:tcPr>
                </a:tc>
              </a:tr>
              <a:tr h="539496">
                <a:tc>
                  <a:txBody>
                    <a:bodyPr wrap="square"/>
                    <a:lstStyle/>
                    <a:p>
                      <a:pPr algn="l"/>
                      <a:r>
                        <a:rPr sz="1150" b="1" i="0">
                          <a:solidFill>
                            <a:srgbClr val="1F4E79"/>
                          </a:solidFill>
                          <a:latin typeface="Calibri"/>
                        </a:rPr>
                        <a:t>Next (PROGRESS.md)</a:t>
                      </a:r>
                    </a:p>
                  </a:txBody>
                  <a:tcPr marL="50800" marR="50800" marT="25400" marB="25400" anchor="ctr">
                    <a:solidFill>
                      <a:srgbClr val="FFFFFF"/>
                    </a:solidFill>
                  </a:tcPr>
                </a:tc>
                <a:tc>
                  <a:txBody>
                    <a:bodyPr wrap="square"/>
                    <a:lstStyle/>
                    <a:p>
                      <a:pPr algn="l"/>
                      <a:r>
                        <a:rPr sz="1050" b="0" i="0">
                          <a:solidFill>
                            <a:srgbClr val="1A1A1A"/>
                          </a:solidFill>
                          <a:latin typeface="Calibri"/>
                        </a:rPr>
                        <a:t>S6/S7 (M2 core+frontend) → S9 (mutation pass on new modules) → S11 (final audit, tag progress-v1).</a:t>
                      </a:r>
                    </a:p>
                  </a:txBody>
                  <a:tcPr marL="50800" marR="50800" marT="25400" marB="25400" anchor="ctr">
                    <a:solidFill>
                      <a:srgbClr val="FFFFFF"/>
                    </a:solidFill>
                  </a:tcPr>
                </a:tc>
              </a:tr>
            </a:tbl>
          </a:graphicData>
        </a:graphic>
      </p:graphicFrame>
      <p:sp>
        <p:nvSpPr>
          <p:cNvPr id="5" name="TextBox 4"/>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8. References (APA)</a:t>
            </a:r>
          </a:p>
        </p:txBody>
      </p:sp>
      <p:sp>
        <p:nvSpPr>
          <p:cNvPr id="4" name="TextBox 3"/>
          <p:cNvSpPr txBox="1"/>
          <p:nvPr/>
        </p:nvSpPr>
        <p:spPr>
          <a:xfrm>
            <a:off x="27432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Aleven, V., McLaren, B., Roll, I., &amp; Koedinger, K. (2006). Toward meta-cognitive tutoring: A model of help seeking with a cognitive tutor. IJAIED, 16(2), 101–128.</a:t>
            </a:r>
          </a:p>
          <a:p>
            <a:pPr>
              <a:spcAft>
                <a:spcPts val="500"/>
              </a:spcAft>
            </a:pPr>
            <a:r>
              <a:rPr sz="950" b="0" i="0">
                <a:solidFill>
                  <a:srgbClr val="1A1A1A"/>
                </a:solidFill>
                <a:latin typeface="Calibri"/>
              </a:rPr>
              <a:t>Aleven, V., McLaren, B. M., Sewall, J., &amp; Koedinger, K. R. (2006). The Cognitive Tutor Authoring Tools (CTAT): Preliminary evaluation of efficiency gains. ITS 2008, 61–70.</a:t>
            </a:r>
          </a:p>
          <a:p>
            <a:pPr>
              <a:spcAft>
                <a:spcPts val="500"/>
              </a:spcAft>
            </a:pPr>
            <a:r>
              <a:rPr sz="950" b="0" i="0">
                <a:solidFill>
                  <a:srgbClr val="1A1A1A"/>
                </a:solidFill>
                <a:latin typeface="Calibri"/>
              </a:rPr>
              <a:t>Baker, R. S., Corbett, A. T., &amp; Koedinger, K. R. (2004). Detecting student misuse of intelligent tutoring systems. ITS 2004, 531–540.</a:t>
            </a:r>
          </a:p>
          <a:p>
            <a:pPr>
              <a:spcAft>
                <a:spcPts val="500"/>
              </a:spcAft>
            </a:pPr>
            <a:r>
              <a:rPr sz="950" b="0" i="0">
                <a:solidFill>
                  <a:srgbClr val="1A1A1A"/>
                </a:solidFill>
                <a:latin typeface="Calibri"/>
              </a:rPr>
              <a:t>Baker, R. S. J. d., Corbett, A. T., &amp; Aleven, V. (2008). More accurate student modeling through contextual estimation of slip and guess probabilities in BKT. ITS 2008, 406–415.</a:t>
            </a:r>
          </a:p>
          <a:p>
            <a:pPr>
              <a:spcAft>
                <a:spcPts val="500"/>
              </a:spcAft>
            </a:pPr>
            <a:r>
              <a:rPr sz="950" b="0" i="0">
                <a:solidFill>
                  <a:srgbClr val="1A1A1A"/>
                </a:solidFill>
                <a:latin typeface="Calibri"/>
              </a:rPr>
              <a:t>Barnes, T., &amp; Stamper, J. (2008). Toward automatic hint generation for logic proof tutoring using historical student data. ITS 2008, 373–382.</a:t>
            </a:r>
          </a:p>
          <a:p>
            <a:pPr>
              <a:spcAft>
                <a:spcPts val="500"/>
              </a:spcAft>
            </a:pPr>
            <a:r>
              <a:rPr sz="950" b="0" i="0">
                <a:solidFill>
                  <a:srgbClr val="1A1A1A"/>
                </a:solidFill>
                <a:latin typeface="Calibri"/>
              </a:rPr>
              <a:t>Black, P., &amp; Wiliam, D. (1998). Assessment and classroom learning. Assessment in Education, 5(1), 7–74.</a:t>
            </a:r>
          </a:p>
          <a:p>
            <a:pPr>
              <a:spcAft>
                <a:spcPts val="500"/>
              </a:spcAft>
            </a:pPr>
            <a:r>
              <a:rPr sz="950" b="0" i="0">
                <a:solidFill>
                  <a:srgbClr val="1A1A1A"/>
                </a:solidFill>
                <a:latin typeface="Calibri"/>
              </a:rPr>
              <a:t>Bloom, B. S. (1984). The 2 sigma problem. Educational Researcher, 13(6), 4–16.</a:t>
            </a:r>
          </a:p>
          <a:p>
            <a:pPr>
              <a:spcAft>
                <a:spcPts val="500"/>
              </a:spcAft>
            </a:pPr>
            <a:r>
              <a:rPr sz="950" b="0" i="0">
                <a:solidFill>
                  <a:srgbClr val="1A1A1A"/>
                </a:solidFill>
                <a:latin typeface="Calibri"/>
              </a:rPr>
              <a:t>Brown, J. S., &amp; Burton, R. R. (1978). Diagnostic models for procedural bugs in basic mathematical skills. Cognitive Science, 2(2), 155–192.</a:t>
            </a:r>
          </a:p>
          <a:p>
            <a:pPr>
              <a:spcAft>
                <a:spcPts val="500"/>
              </a:spcAft>
            </a:pPr>
            <a:r>
              <a:rPr sz="950" b="0" i="0">
                <a:solidFill>
                  <a:srgbClr val="1A1A1A"/>
                </a:solidFill>
                <a:latin typeface="Calibri"/>
              </a:rPr>
              <a:t>Bull, S., &amp; Kay, J. (2007). Student models that invite the learner in: The SMILI framework. IJAIED, 17(2), 89–120.</a:t>
            </a:r>
          </a:p>
          <a:p>
            <a:pPr>
              <a:spcAft>
                <a:spcPts val="500"/>
              </a:spcAft>
            </a:pPr>
            <a:r>
              <a:rPr sz="950" b="0" i="0">
                <a:solidFill>
                  <a:srgbClr val="1A1A1A"/>
                </a:solidFill>
                <a:latin typeface="Calibri"/>
              </a:rPr>
              <a:t>Corbett, A. T., &amp; Anderson, J. R. (1995). Knowledge tracing: Modeling the acquisition of procedural knowledge. UMUAI, 4(4), 253–278.</a:t>
            </a:r>
          </a:p>
          <a:p>
            <a:pPr>
              <a:spcAft>
                <a:spcPts val="500"/>
              </a:spcAft>
            </a:pPr>
            <a:r>
              <a:rPr sz="950" b="0" i="0">
                <a:solidFill>
                  <a:srgbClr val="1A1A1A"/>
                </a:solidFill>
                <a:latin typeface="Calibri"/>
              </a:rPr>
              <a:t>Doignon, J.-P., &amp; Falmagne, J.-C. (1999). Knowledge spaces. Springer.</a:t>
            </a:r>
          </a:p>
          <a:p>
            <a:pPr>
              <a:spcAft>
                <a:spcPts val="500"/>
              </a:spcAft>
            </a:pPr>
            <a:r>
              <a:rPr sz="950" b="0" i="0">
                <a:solidFill>
                  <a:srgbClr val="1A1A1A"/>
                </a:solidFill>
                <a:latin typeface="Calibri"/>
              </a:rPr>
              <a:t>Hattie, J., &amp; Timperley, H. (2007). The power of feedback. Review of Educational Research, 77(1), 81–112.</a:t>
            </a:r>
          </a:p>
          <a:p>
            <a:pPr>
              <a:spcAft>
                <a:spcPts val="500"/>
              </a:spcAft>
            </a:pPr>
            <a:r>
              <a:rPr sz="950" b="0" i="0">
                <a:solidFill>
                  <a:srgbClr val="1A1A1A"/>
                </a:solidFill>
                <a:latin typeface="Calibri"/>
              </a:rPr>
              <a:t>Khajah, M., Lindsey, R. V., &amp; Mozer, M. C. (2016). How deep is knowledge tracing? EDM 2016.</a:t>
            </a:r>
          </a:p>
        </p:txBody>
      </p:sp>
      <p:sp>
        <p:nvSpPr>
          <p:cNvPr id="5" name="TextBox 4"/>
          <p:cNvSpPr txBox="1"/>
          <p:nvPr/>
        </p:nvSpPr>
        <p:spPr>
          <a:xfrm>
            <a:off x="6080760" y="1051560"/>
            <a:ext cx="5623560" cy="4526280"/>
          </a:xfrm>
          <a:prstGeom prst="rect">
            <a:avLst/>
          </a:prstGeom>
          <a:noFill/>
        </p:spPr>
        <p:txBody>
          <a:bodyPr wrap="square" anchor="t" lIns="25400" rIns="25400" tIns="25400" bIns="25400">
            <a:spAutoFit/>
          </a:bodyPr>
          <a:lstStyle/>
          <a:p>
            <a:pPr>
              <a:spcAft>
                <a:spcPts val="500"/>
              </a:spcAft>
            </a:pPr>
            <a:r>
              <a:rPr sz="950" b="0" i="0">
                <a:solidFill>
                  <a:srgbClr val="1A1A1A"/>
                </a:solidFill>
                <a:latin typeface="Calibri"/>
              </a:rPr>
              <a:t>Kulik, J. A., &amp; Fletcher, J. D. (2016). Effectiveness of intelligent tutoring systems. Review of Educational Research, 86(1), 42–78.</a:t>
            </a:r>
          </a:p>
          <a:p>
            <a:pPr>
              <a:spcAft>
                <a:spcPts val="500"/>
              </a:spcAft>
            </a:pPr>
            <a:r>
              <a:rPr sz="950" b="0" i="0">
                <a:solidFill>
                  <a:srgbClr val="1A1A1A"/>
                </a:solidFill>
                <a:latin typeface="Calibri"/>
              </a:rPr>
              <a:t>Ma, W., Adesope, O. O., Nesbit, J. C., &amp; Liu, Q. (2014). Intelligent tutoring systems and learning outcomes: A meta-analysis. J. Educational Psychology, 106(4), 901–918.</a:t>
            </a:r>
          </a:p>
          <a:p>
            <a:pPr>
              <a:spcAft>
                <a:spcPts val="500"/>
              </a:spcAft>
            </a:pPr>
            <a:r>
              <a:rPr sz="950" b="0" i="0">
                <a:solidFill>
                  <a:srgbClr val="1A1A1A"/>
                </a:solidFill>
                <a:latin typeface="Calibri"/>
              </a:rPr>
              <a:t>Pardos, Z. A., &amp; Heffernan, N. T. (2010). Modeling individualization in a Bayesian networks implementation of knowledge tracing. UMAP 2010, 255–266.</a:t>
            </a:r>
          </a:p>
          <a:p>
            <a:pPr>
              <a:spcAft>
                <a:spcPts val="500"/>
              </a:spcAft>
            </a:pPr>
            <a:r>
              <a:rPr sz="950" b="0" i="0">
                <a:solidFill>
                  <a:srgbClr val="1A1A1A"/>
                </a:solidFill>
                <a:latin typeface="Calibri"/>
              </a:rPr>
              <a:t>Pavlik, P. I., Cen, H., &amp; Koedinger, K. R. (2009). Performance factors analysis. AIED 2009, 531–538.</a:t>
            </a:r>
          </a:p>
          <a:p>
            <a:pPr>
              <a:spcAft>
                <a:spcPts val="500"/>
              </a:spcAft>
            </a:pPr>
            <a:r>
              <a:rPr sz="950" b="0" i="0">
                <a:solidFill>
                  <a:srgbClr val="1A1A1A"/>
                </a:solidFill>
                <a:latin typeface="Calibri"/>
              </a:rPr>
              <a:t>Pelánek, R. (2017). Bayesian knowledge tracing, logistic models, and beyond. UMUAI, 27(3–5), 313–350.</a:t>
            </a:r>
          </a:p>
          <a:p>
            <a:pPr>
              <a:spcAft>
                <a:spcPts val="500"/>
              </a:spcAft>
            </a:pPr>
            <a:r>
              <a:rPr sz="950" b="0" i="0">
                <a:solidFill>
                  <a:srgbClr val="1A1A1A"/>
                </a:solidFill>
                <a:latin typeface="Calibri"/>
              </a:rPr>
              <a:t>Piech, C., et al. (2015). Deep knowledge tracing. NeurIPS 28, 505–513.</a:t>
            </a:r>
          </a:p>
          <a:p>
            <a:pPr>
              <a:spcAft>
                <a:spcPts val="500"/>
              </a:spcAft>
            </a:pPr>
            <a:r>
              <a:rPr sz="950" b="0" i="0">
                <a:solidFill>
                  <a:srgbClr val="1A1A1A"/>
                </a:solidFill>
                <a:latin typeface="Calibri"/>
              </a:rPr>
              <a:t>Robinson, J. A. (1965). A machine-oriented logic based on the resolution principle. Journal of the ACM, 12(1), 23–41.</a:t>
            </a:r>
          </a:p>
          <a:p>
            <a:pPr>
              <a:spcAft>
                <a:spcPts val="500"/>
              </a:spcAft>
            </a:pPr>
            <a:r>
              <a:rPr sz="950" b="0" i="0">
                <a:solidFill>
                  <a:srgbClr val="1A1A1A"/>
                </a:solidFill>
                <a:latin typeface="Calibri"/>
              </a:rPr>
              <a:t>Russell, S. J., &amp; Norvig, P. (2020). Artificial intelligence: A modern approach (4th ed.). Pearson.</a:t>
            </a:r>
          </a:p>
          <a:p>
            <a:pPr>
              <a:spcAft>
                <a:spcPts val="500"/>
              </a:spcAft>
            </a:pPr>
            <a:r>
              <a:rPr sz="950" b="0" i="0">
                <a:solidFill>
                  <a:srgbClr val="1A1A1A"/>
                </a:solidFill>
                <a:latin typeface="Calibri"/>
              </a:rPr>
              <a:t>Shute, V. J. (2008). Focus on formative feedback. Review of Educational Research, 78(1), 153–189.</a:t>
            </a:r>
          </a:p>
          <a:p>
            <a:pPr>
              <a:spcAft>
                <a:spcPts val="500"/>
              </a:spcAft>
            </a:pPr>
            <a:r>
              <a:rPr sz="950" b="0" i="0">
                <a:solidFill>
                  <a:srgbClr val="1A1A1A"/>
                </a:solidFill>
                <a:latin typeface="Calibri"/>
              </a:rPr>
              <a:t>Stamper, J., Eagle, M., Barnes, T., &amp; Croy, M. (2013). Experimental evaluation of automatic hint generation for a logic tutor. IJAIED, 22(1–2), 3–17.</a:t>
            </a:r>
          </a:p>
          <a:p>
            <a:pPr>
              <a:spcAft>
                <a:spcPts val="500"/>
              </a:spcAft>
            </a:pPr>
            <a:r>
              <a:rPr sz="950" b="0" i="0">
                <a:solidFill>
                  <a:srgbClr val="1A1A1A"/>
                </a:solidFill>
                <a:latin typeface="Calibri"/>
              </a:rPr>
              <a:t>VanLehn, K. (2006). The behavior of tutoring systems. IJAIED, 16(3), 227–265.</a:t>
            </a:r>
          </a:p>
          <a:p>
            <a:pPr>
              <a:spcAft>
                <a:spcPts val="500"/>
              </a:spcAft>
            </a:pPr>
            <a:r>
              <a:rPr sz="950" b="0" i="0">
                <a:solidFill>
                  <a:srgbClr val="1A1A1A"/>
                </a:solidFill>
                <a:latin typeface="Calibri"/>
              </a:rPr>
              <a:t>VanLehn, K. (2011). The relative effectiveness of human tutoring, intelligent tutoring systems, and other tutoring systems. Educational Psychologist, 46(4), 197–221.</a:t>
            </a:r>
          </a:p>
        </p:txBody>
      </p:sp>
      <p:sp>
        <p:nvSpPr>
          <p:cNvPr id="6" name="TextBox 5"/>
          <p:cNvSpPr txBox="1"/>
          <p:nvPr/>
        </p:nvSpPr>
        <p:spPr>
          <a:xfrm>
            <a:off x="274320" y="5715000"/>
            <a:ext cx="11612880" cy="685800"/>
          </a:xfrm>
          <a:prstGeom prst="rect">
            <a:avLst/>
          </a:prstGeom>
          <a:noFill/>
        </p:spPr>
        <p:txBody>
          <a:bodyPr wrap="square" anchor="t" lIns="25400" rIns="25400" tIns="25400" bIns="25400">
            <a:spAutoFit/>
          </a:bodyPr>
          <a:lstStyle/>
          <a:p>
            <a:r>
              <a:rPr sz="1200" b="0" i="1">
                <a:solidFill>
                  <a:srgbClr val="404040"/>
                </a:solidFill>
                <a:latin typeface="Calibri"/>
              </a:rPr>
              <a:t>23 of 24 seed citations verified; 25-30 required by the brief. Confirm you have read each one before submitting; add the rest.</a:t>
            </a:r>
          </a:p>
        </p:txBody>
      </p:sp>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30000" cy="548640"/>
          </a:xfrm>
          <a:prstGeom prst="rect">
            <a:avLst/>
          </a:prstGeom>
          <a:noFill/>
        </p:spPr>
        <p:txBody>
          <a:bodyPr wrap="square" anchor="t" lIns="25400" rIns="25400" tIns="25400" bIns="25400">
            <a:spAutoFit/>
          </a:bodyPr>
          <a:lstStyle/>
          <a:p>
            <a:r>
              <a:rPr sz="2600" b="1" i="0">
                <a:solidFill>
                  <a:srgbClr val="FFFFFF"/>
                </a:solidFill>
                <a:latin typeface="Calibri"/>
              </a:rPr>
              <a:t>9. Contribution Statement and AI Disclosure</a:t>
            </a:r>
          </a:p>
        </p:txBody>
      </p:sp>
      <p:graphicFrame>
        <p:nvGraphicFramePr>
          <p:cNvPr id="4" name="Table 3"/>
          <p:cNvGraphicFramePr>
            <a:graphicFrameLocks noGrp="1"/>
          </p:cNvGraphicFramePr>
          <p:nvPr/>
        </p:nvGraphicFramePr>
        <p:xfrm>
          <a:off x="274320" y="1097280"/>
          <a:ext cx="11612880" cy="2743200"/>
        </p:xfrm>
        <a:graphic>
          <a:graphicData uri="http://schemas.openxmlformats.org/drawingml/2006/table">
            <a:tbl>
              <a:tblPr firstRow="1" bandRow="1">
                <a:tableStyleId>{5C22544A-7EE6-4342-B048-85BDC9FD1C3A}</a:tableStyleId>
              </a:tblPr>
              <a:tblGrid>
                <a:gridCol w="3017520"/>
                <a:gridCol w="4297680"/>
                <a:gridCol w="4297680"/>
              </a:tblGrid>
              <a:tr h="342900">
                <a:tc>
                  <a:txBody>
                    <a:bodyPr wrap="square"/>
                    <a:lstStyle/>
                    <a:p>
                      <a:pPr algn="l"/>
                      <a:r>
                        <a:rPr sz="1200" b="1" i="0">
                          <a:solidFill>
                            <a:srgbClr val="FFFFFF"/>
                          </a:solidFill>
                          <a:latin typeface="Calibri"/>
                        </a:rPr>
                        <a:t>Role</a:t>
                      </a:r>
                    </a:p>
                  </a:txBody>
                  <a:tcPr marL="50800" marR="50800" marT="25400" marB="25400" anchor="ctr">
                    <a:solidFill>
                      <a:srgbClr val="1F4E79"/>
                    </a:solidFill>
                  </a:tcPr>
                </a:tc>
                <a:tc>
                  <a:txBody>
                    <a:bodyPr wrap="square"/>
                    <a:lstStyle/>
                    <a:p>
                      <a:pPr algn="l"/>
                      <a:r>
                        <a:rPr sz="1200" b="1" i="0">
                          <a:solidFill>
                            <a:srgbClr val="FFFFFF"/>
                          </a:solidFill>
                          <a:latin typeface="Calibri"/>
                        </a:rPr>
                        <a:t>CVS Ujwal</a:t>
                      </a:r>
                    </a:p>
                  </a:txBody>
                  <a:tcPr marL="50800" marR="50800" marT="25400" marB="25400" anchor="ctr">
                    <a:solidFill>
                      <a:srgbClr val="1F4E79"/>
                    </a:solidFill>
                  </a:tcPr>
                </a:tc>
                <a:tc>
                  <a:txBody>
                    <a:bodyPr wrap="square"/>
                    <a:lstStyle/>
                    <a:p>
                      <a:pPr algn="l"/>
                      <a:r>
                        <a:rPr sz="1200" b="1" i="0">
                          <a:solidFill>
                            <a:srgbClr val="FFFFFF"/>
                          </a:solidFill>
                          <a:latin typeface="Calibri"/>
                        </a:rPr>
                        <a:t>Keshav Raj</a:t>
                      </a:r>
                    </a:p>
                  </a:txBody>
                  <a:tcPr marL="50800" marR="50800" marT="25400" marB="25400" anchor="ctr">
                    <a:solidFill>
                      <a:srgbClr val="1F4E79"/>
                    </a:solidFill>
                  </a:tcPr>
                </a:tc>
              </a:tr>
              <a:tr h="342900">
                <a:tc>
                  <a:txBody>
                    <a:bodyPr wrap="square"/>
                    <a:lstStyle/>
                    <a:p>
                      <a:pPr algn="l"/>
                      <a:r>
                        <a:rPr sz="1100" b="1" i="0">
                          <a:solidFill>
                            <a:srgbClr val="1F4E79"/>
                          </a:solidFill>
                          <a:latin typeface="Calibri"/>
                        </a:rPr>
                        <a:t>Literature review</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Methodology &amp; design</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Implementation</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Experimentation</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Analysis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r h="342900">
                <a:tc>
                  <a:txBody>
                    <a:bodyPr wrap="square"/>
                    <a:lstStyle/>
                    <a:p>
                      <a:pPr algn="l"/>
                      <a:r>
                        <a:rPr sz="1100" b="1" i="0">
                          <a:solidFill>
                            <a:srgbClr val="1F4E79"/>
                          </a:solidFill>
                          <a:latin typeface="Calibri"/>
                        </a:rPr>
                        <a:t>Code/design review, testing</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2F2F2"/>
                    </a:solidFill>
                  </a:tcPr>
                </a:tc>
              </a:tr>
              <a:tr h="342900">
                <a:tc>
                  <a:txBody>
                    <a:bodyPr wrap="square"/>
                    <a:lstStyle/>
                    <a:p>
                      <a:pPr algn="l"/>
                      <a:r>
                        <a:rPr sz="1100" b="1" i="0">
                          <a:solidFill>
                            <a:srgbClr val="1F4E79"/>
                          </a:solidFill>
                          <a:latin typeface="Calibri"/>
                        </a:rPr>
                        <a:t>Report preparation</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c>
                  <a:txBody>
                    <a:bodyPr wrap="square"/>
                    <a:lstStyle/>
                    <a:p>
                      <a:pPr algn="l"/>
                      <a:r>
                        <a:rPr sz="1050" b="0" i="1">
                          <a:solidFill>
                            <a:srgbClr val="707070"/>
                          </a:solidFill>
                          <a:latin typeface="Calibri"/>
                        </a:rPr>
                        <a:t>to be confirmed by students</a:t>
                      </a:r>
                    </a:p>
                  </a:txBody>
                  <a:tcPr marL="50800" marR="50800" marT="25400" marB="25400" anchor="ctr">
                    <a:solidFill>
                      <a:srgbClr val="FFFFFF"/>
                    </a:solidFill>
                  </a:tcPr>
                </a:tc>
              </a:tr>
            </a:tbl>
          </a:graphicData>
        </a:graphic>
      </p:graphicFrame>
      <p:sp>
        <p:nvSpPr>
          <p:cNvPr id="5" name="TextBox 4"/>
          <p:cNvSpPr txBox="1"/>
          <p:nvPr/>
        </p:nvSpPr>
        <p:spPr>
          <a:xfrm>
            <a:off x="274320" y="3977639"/>
            <a:ext cx="11521440" cy="320040"/>
          </a:xfrm>
          <a:prstGeom prst="rect">
            <a:avLst/>
          </a:prstGeom>
          <a:noFill/>
        </p:spPr>
        <p:txBody>
          <a:bodyPr wrap="square" anchor="t" lIns="25400" rIns="25400" tIns="25400" bIns="25400">
            <a:spAutoFit/>
          </a:bodyPr>
          <a:lstStyle/>
          <a:p>
            <a:r>
              <a:rPr sz="1400" b="1" i="0">
                <a:solidFill>
                  <a:srgbClr val="1F4E79"/>
                </a:solidFill>
                <a:latin typeface="Calibri"/>
              </a:rPr>
              <a:t>AI disclosure</a:t>
            </a:r>
          </a:p>
        </p:txBody>
      </p:sp>
      <p:graphicFrame>
        <p:nvGraphicFramePr>
          <p:cNvPr id="6" name="Table 5"/>
          <p:cNvGraphicFramePr>
            <a:graphicFrameLocks noGrp="1"/>
          </p:cNvGraphicFramePr>
          <p:nvPr/>
        </p:nvGraphicFramePr>
        <p:xfrm>
          <a:off x="274320" y="4343400"/>
          <a:ext cx="11612880" cy="2011680"/>
        </p:xfrm>
        <a:graphic>
          <a:graphicData uri="http://schemas.openxmlformats.org/drawingml/2006/table">
            <a:tbl>
              <a:tblPr firstRow="1" bandRow="1">
                <a:tableStyleId>{5C22544A-7EE6-4342-B048-85BDC9FD1C3A}</a:tableStyleId>
              </a:tblPr>
              <a:tblGrid>
                <a:gridCol w="3017520"/>
                <a:gridCol w="5029200"/>
                <a:gridCol w="3566160"/>
              </a:tblGrid>
              <a:tr h="402336">
                <a:tc>
                  <a:txBody>
                    <a:bodyPr wrap="square"/>
                    <a:lstStyle/>
                    <a:p>
                      <a:pPr algn="l"/>
                      <a:r>
                        <a:rPr sz="1200" b="1" i="0">
                          <a:solidFill>
                            <a:srgbClr val="FFFFFF"/>
                          </a:solidFill>
                          <a:latin typeface="Calibri"/>
                        </a:rPr>
                        <a:t>Tool</a:t>
                      </a:r>
                    </a:p>
                  </a:txBody>
                  <a:tcPr marL="50800" marR="50800" marT="25400" marB="25400" anchor="ctr">
                    <a:solidFill>
                      <a:srgbClr val="1F4E79"/>
                    </a:solidFill>
                  </a:tcPr>
                </a:tc>
                <a:tc>
                  <a:txBody>
                    <a:bodyPr wrap="square"/>
                    <a:lstStyle/>
                    <a:p>
                      <a:pPr algn="l"/>
                      <a:r>
                        <a:rPr sz="1200" b="1" i="0">
                          <a:solidFill>
                            <a:srgbClr val="FFFFFF"/>
                          </a:solidFill>
                          <a:latin typeface="Calibri"/>
                        </a:rPr>
                        <a:t>Purpose / extent</a:t>
                      </a:r>
                    </a:p>
                  </a:txBody>
                  <a:tcPr marL="50800" marR="50800" marT="25400" marB="25400" anchor="ctr">
                    <a:solidFill>
                      <a:srgbClr val="1F4E79"/>
                    </a:solidFill>
                  </a:tcPr>
                </a:tc>
                <a:tc>
                  <a:txBody>
                    <a:bodyPr wrap="square"/>
                    <a:lstStyle/>
                    <a:p>
                      <a:pPr algn="l"/>
                      <a:r>
                        <a:rPr sz="1200" b="1" i="0">
                          <a:solidFill>
                            <a:srgbClr val="FFFFFF"/>
                          </a:solidFill>
                          <a:latin typeface="Calibri"/>
                        </a:rPr>
                        <a:t>What humans did</a:t>
                      </a:r>
                    </a:p>
                  </a:txBody>
                  <a:tcPr marL="50800" marR="50800" marT="25400" marB="25400" anchor="ctr">
                    <a:solidFill>
                      <a:srgbClr val="1F4E79"/>
                    </a:solidFill>
                  </a:tcPr>
                </a:tc>
              </a:tr>
              <a:tr h="402336">
                <a:tc>
                  <a:txBody>
                    <a:bodyPr wrap="square"/>
                    <a:lstStyle/>
                    <a:p>
                      <a:pPr algn="l"/>
                      <a:r>
                        <a:rPr sz="1050" b="1" i="0">
                          <a:solidFill>
                            <a:srgbClr val="1F4E79"/>
                          </a:solidFill>
                          <a:latin typeface="Calibri"/>
                        </a:rPr>
                        <a:t>Claude Code (Opus 5 / Sonnet 5)</a:t>
                      </a:r>
                    </a:p>
                  </a:txBody>
                  <a:tcPr marL="50800" marR="50800" marT="25400" marB="25400" anchor="ctr">
                    <a:solidFill>
                      <a:srgbClr val="FFFFFF"/>
                    </a:solidFill>
                  </a:tcPr>
                </a:tc>
                <a:tc>
                  <a:txBody>
                    <a:bodyPr wrap="square"/>
                    <a:lstStyle/>
                    <a:p>
                      <a:pPr algn="l"/>
                      <a:r>
                        <a:rPr sz="1000" b="0" i="0">
                          <a:solidFill>
                            <a:srgbClr val="1A1A1A"/>
                          </a:solidFill>
                          <a:latin typeface="Calibri"/>
                        </a:rPr>
                        <a:t>Wrote core/app/api/cli/frontend, tests, tooling, HLD</a:t>
                      </a:r>
                    </a:p>
                  </a:txBody>
                  <a:tcPr marL="50800" marR="50800" marT="25400" marB="25400" anchor="ctr">
                    <a:solidFill>
                      <a:srgbClr val="FFFFFF"/>
                    </a:solidFill>
                  </a:tcPr>
                </a:tc>
                <a:tc>
                  <a:txBody>
                    <a:bodyPr wrap="square"/>
                    <a:lstStyle/>
                    <a:p>
                      <a:pPr algn="l"/>
                      <a:r>
                        <a:rPr sz="1000" b="0" i="0">
                          <a:solidFill>
                            <a:srgbClr val="1A1A1A"/>
                          </a:solidFill>
                          <a:latin typeface="Calibri"/>
                        </a:rPr>
                        <a:t>58/71 commits carry Co-Authored-By: Claude Opus 5</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claude.ai chat (web)</a:t>
                      </a:r>
                    </a:p>
                  </a:txBody>
                  <a:tcPr marL="50800" marR="50800" marT="25400" marB="25400" anchor="ctr">
                    <a:solidFill>
                      <a:srgbClr val="F2F2F2"/>
                    </a:solidFill>
                  </a:tcPr>
                </a:tc>
                <a:tc>
                  <a:txBody>
                    <a:bodyPr wrap="square"/>
                    <a:lstStyle/>
                    <a:p>
                      <a:pPr algn="l"/>
                      <a:r>
                        <a:rPr sz="1000" b="0" i="0">
                          <a:solidFill>
                            <a:srgbClr val="1A1A1A"/>
                          </a:solidFill>
                          <a:latin typeface="Calibri"/>
                        </a:rPr>
                        <a:t>Ideation, design review, prompt drafting</a:t>
                      </a:r>
                    </a:p>
                  </a:txBody>
                  <a:tcPr marL="50800" marR="50800" marT="25400" marB="25400" anchor="ctr">
                    <a:solidFill>
                      <a:srgbClr val="F2F2F2"/>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2F2F2"/>
                    </a:solidFill>
                  </a:tcPr>
                </a:tc>
              </a:tr>
              <a:tr h="402336">
                <a:tc>
                  <a:txBody>
                    <a:bodyPr wrap="square"/>
                    <a:lstStyle/>
                    <a:p>
                      <a:pPr algn="l"/>
                      <a:r>
                        <a:rPr sz="1050" b="1" i="0">
                          <a:solidFill>
                            <a:srgbClr val="1F4E79"/>
                          </a:solidFill>
                          <a:latin typeface="Calibri"/>
                        </a:rPr>
                        <a:t>AI-generated evaluation sets</a:t>
                      </a:r>
                    </a:p>
                  </a:txBody>
                  <a:tcPr marL="50800" marR="50800" marT="25400" marB="25400" anchor="ctr">
                    <a:solidFill>
                      <a:srgbClr val="FFFFFF"/>
                    </a:solidFill>
                  </a:tcPr>
                </a:tc>
                <a:tc>
                  <a:txBody>
                    <a:bodyPr wrap="square"/>
                    <a:lstStyle/>
                    <a:p>
                      <a:pPr algn="l"/>
                      <a:r>
                        <a:rPr sz="1000" b="0" i="0">
                          <a:solidFill>
                            <a:srgbClr val="1A1A1A"/>
                          </a:solidFill>
                          <a:latin typeface="Calibri"/>
                        </a:rPr>
                        <a:t>data/eval/*.json, 15 items each, labelled "AI-generated (Claude)"</a:t>
                      </a:r>
                    </a:p>
                  </a:txBody>
                  <a:tcPr marL="50800" marR="50800" marT="25400" marB="25400" anchor="ctr">
                    <a:solidFill>
                      <a:srgbClr val="FFFFFF"/>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FFFFF"/>
                    </a:solidFill>
                  </a:tcPr>
                </a:tc>
              </a:tr>
              <a:tr h="402336">
                <a:tc>
                  <a:txBody>
                    <a:bodyPr wrap="square"/>
                    <a:lstStyle/>
                    <a:p>
                      <a:pPr algn="l"/>
                      <a:r>
                        <a:rPr sz="1050" b="1" i="0">
                          <a:solidFill>
                            <a:srgbClr val="1F4E79"/>
                          </a:solidFill>
                          <a:latin typeface="Calibri"/>
                        </a:rPr>
                        <a:t>Pilot forms</a:t>
                      </a:r>
                    </a:p>
                  </a:txBody>
                  <a:tcPr marL="50800" marR="50800" marT="25400" marB="25400" anchor="ctr">
                    <a:solidFill>
                      <a:srgbClr val="F2F2F2"/>
                    </a:solidFill>
                  </a:tcPr>
                </a:tc>
                <a:tc>
                  <a:txBody>
                    <a:bodyPr wrap="square"/>
                    <a:lstStyle/>
                    <a:p>
                      <a:pPr algn="l"/>
                      <a:r>
                        <a:rPr sz="1000" b="0" i="0">
                          <a:solidFill>
                            <a:srgbClr val="1A1A1A"/>
                          </a:solidFill>
                          <a:latin typeface="Calibri"/>
                        </a:rPr>
                        <a:t>docs/pilot/*.md drafted by Claude Code, sprint S8</a:t>
                      </a:r>
                    </a:p>
                  </a:txBody>
                  <a:tcPr marL="50800" marR="50800" marT="25400" marB="25400" anchor="ctr">
                    <a:solidFill>
                      <a:srgbClr val="F2F2F2"/>
                    </a:solidFill>
                  </a:tcPr>
                </a:tc>
                <a:tc>
                  <a:txBody>
                    <a:bodyPr wrap="square"/>
                    <a:lstStyle/>
                    <a:p>
                      <a:pPr algn="l"/>
                      <a:r>
                        <a:rPr sz="1000" b="0" i="1">
                          <a:solidFill>
                            <a:srgbClr val="707070"/>
                          </a:solidFill>
                          <a:latin typeface="Calibri"/>
                        </a:rPr>
                        <a:t>[STUDENTS WRITE]</a:t>
                      </a:r>
                    </a:p>
                  </a:txBody>
                  <a:tcPr marL="50800" marR="50800" marT="25400" marB="25400" anchor="ctr">
                    <a:solidFill>
                      <a:srgbClr val="F2F2F2"/>
                    </a:solidFill>
                  </a:tcPr>
                </a:tc>
              </a:tr>
            </a:tbl>
          </a:graphicData>
        </a:graphic>
      </p:graphicFrame>
      <p:sp>
        <p:nvSpPr>
          <p:cNvPr id="7" name="TextBox 6"/>
          <p:cNvSpPr txBox="1"/>
          <p:nvPr/>
        </p:nvSpPr>
        <p:spPr>
          <a:xfrm>
            <a:off x="274320" y="6537960"/>
            <a:ext cx="3657600" cy="274320"/>
          </a:xfrm>
          <a:prstGeom prst="rect">
            <a:avLst/>
          </a:prstGeom>
          <a:noFill/>
        </p:spPr>
        <p:txBody>
          <a:bodyPr wrap="square" anchor="t" lIns="25400" rIns="25400" tIns="25400" bIns="25400">
            <a:spAutoFit/>
          </a:bodyPr>
          <a:lstStyle/>
          <a:p>
            <a:r>
              <a:rPr sz="1000" b="0" i="0">
                <a:solidFill>
                  <a:srgbClr val="666666"/>
                </a:solidFill>
                <a:latin typeface="Calibri"/>
              </a:rPr>
              <a:t>ProofPilot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