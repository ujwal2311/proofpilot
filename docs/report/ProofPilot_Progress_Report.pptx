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77440"/>
            <a:ext cx="12191695" cy="201168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606040"/>
            <a:ext cx="10332720" cy="914400"/>
          </a:xfrm>
          <a:prstGeom prst="rect">
            <a:avLst/>
          </a:prstGeom>
          <a:noFill/>
        </p:spPr>
        <p:txBody>
          <a:bodyPr wrap="square" anchor="t" lIns="25400" rIns="25400" tIns="25400" bIns="25400">
            <a:spAutoFit/>
          </a:bodyPr>
          <a:lstStyle/>
          <a:p>
            <a:r>
              <a:rPr sz="4400" b="1" i="0">
                <a:solidFill>
                  <a:srgbClr val="FFFFFF"/>
                </a:solidFill>
                <a:latin typeface="Calibri"/>
              </a:rPr>
              <a:t>ProofPilot</a:t>
            </a:r>
          </a:p>
        </p:txBody>
      </p:sp>
      <p:sp>
        <p:nvSpPr>
          <p:cNvPr id="5" name="TextBox 4"/>
          <p:cNvSpPr txBox="1"/>
          <p:nvPr/>
        </p:nvSpPr>
        <p:spPr>
          <a:xfrm>
            <a:off x="914400" y="3291840"/>
            <a:ext cx="10332720" cy="457200"/>
          </a:xfrm>
          <a:prstGeom prst="rect">
            <a:avLst/>
          </a:prstGeom>
          <a:noFill/>
        </p:spPr>
        <p:txBody>
          <a:bodyPr wrap="square" anchor="t" lIns="25400" rIns="25400" tIns="25400" bIns="25400">
            <a:spAutoFit/>
          </a:bodyPr>
          <a:lstStyle/>
          <a:p>
            <a:r>
              <a:rPr sz="1800" b="0" i="0">
                <a:solidFill>
                  <a:srgbClr val="FFFFFF"/>
                </a:solidFill>
                <a:latin typeface="Calibri"/>
              </a:rPr>
              <a:t>Step-level formative feedback for propositional logic proofs</a:t>
            </a:r>
          </a:p>
        </p:txBody>
      </p:sp>
      <p:sp>
        <p:nvSpPr>
          <p:cNvPr id="6" name="TextBox 5"/>
          <p:cNvSpPr txBox="1"/>
          <p:nvPr/>
        </p:nvSpPr>
        <p:spPr>
          <a:xfrm>
            <a:off x="914400" y="4663440"/>
            <a:ext cx="10332720" cy="365760"/>
          </a:xfrm>
          <a:prstGeom prst="rect">
            <a:avLst/>
          </a:prstGeom>
          <a:noFill/>
        </p:spPr>
        <p:txBody>
          <a:bodyPr wrap="square" anchor="t" lIns="25400" rIns="25400" tIns="25400" bIns="25400">
            <a:spAutoFit/>
          </a:bodyPr>
          <a:lstStyle/>
          <a:p>
            <a:r>
              <a:rPr sz="1600" b="1" i="0">
                <a:solidFill>
                  <a:srgbClr val="1A1A1A"/>
                </a:solidFill>
                <a:latin typeface="Calibri"/>
              </a:rPr>
              <a:t>Project progress report | Artificial Intelligence (Theory)</a:t>
            </a:r>
          </a:p>
        </p:txBody>
      </p:sp>
      <p:sp>
        <p:nvSpPr>
          <p:cNvPr id="7" name="TextBox 6"/>
          <p:cNvSpPr txBox="1"/>
          <p:nvPr/>
        </p:nvSpPr>
        <p:spPr>
          <a:xfrm>
            <a:off x="914400" y="5074920"/>
            <a:ext cx="10332720" cy="365760"/>
          </a:xfrm>
          <a:prstGeom prst="rect">
            <a:avLst/>
          </a:prstGeom>
          <a:noFill/>
        </p:spPr>
        <p:txBody>
          <a:bodyPr wrap="square" anchor="t" lIns="25400" rIns="25400" tIns="25400" bIns="25400">
            <a:spAutoFit/>
          </a:bodyPr>
          <a:lstStyle/>
          <a:p>
            <a:r>
              <a:rPr sz="1400" b="0" i="0">
                <a:solidFill>
                  <a:srgbClr val="1A1A1A"/>
                </a:solidFill>
                <a:latin typeface="Calibri"/>
              </a:rPr>
              <a:t>Team: CVS Ujwal, Keshav Raj</a:t>
            </a:r>
          </a:p>
        </p:txBody>
      </p:sp>
      <p:sp>
        <p:nvSpPr>
          <p:cNvPr id="8" name="TextBox 7"/>
          <p:cNvSpPr txBox="1"/>
          <p:nvPr/>
        </p:nvSpPr>
        <p:spPr>
          <a:xfrm>
            <a:off x="914400" y="5486400"/>
            <a:ext cx="10332720" cy="365760"/>
          </a:xfrm>
          <a:prstGeom prst="rect">
            <a:avLst/>
          </a:prstGeom>
          <a:noFill/>
        </p:spPr>
        <p:txBody>
          <a:bodyPr wrap="square" anchor="t" lIns="25400" rIns="25400" tIns="25400" bIns="25400">
            <a:spAutoFit/>
          </a:bodyPr>
          <a:lstStyle/>
          <a:p>
            <a:r>
              <a:rPr sz="1200" b="0" i="0">
                <a:solidFill>
                  <a:srgbClr val="444444"/>
                </a:solidFill>
                <a:latin typeface="Calibri"/>
              </a:rPr>
              <a:t>Repository: https://github.com/ujwal2311/proofpilot.git</a:t>
            </a:r>
          </a:p>
        </p:txBody>
      </p:sp>
      <p:sp>
        <p:nvSpPr>
          <p:cNvPr id="9" name="TextBox 8"/>
          <p:cNvSpPr txBox="1"/>
          <p:nvPr/>
        </p:nvSpPr>
        <p:spPr>
          <a:xfrm>
            <a:off x="914400" y="5806440"/>
            <a:ext cx="10332720" cy="365760"/>
          </a:xfrm>
          <a:prstGeom prst="rect">
            <a:avLst/>
          </a:prstGeom>
          <a:noFill/>
        </p:spPr>
        <p:txBody>
          <a:bodyPr wrap="square" anchor="t" lIns="25400" rIns="25400" tIns="25400" bIns="25400">
            <a:spAutoFit/>
          </a:bodyPr>
          <a:lstStyle/>
          <a:p>
            <a:r>
              <a:rPr sz="1200" b="0" i="0">
                <a:solidFill>
                  <a:srgbClr val="444444"/>
                </a:solidFill>
                <a:latin typeface="Calibri"/>
              </a:rPr>
              <a:t>Report built from commit e0b3aca (pushed, CI-verified green -- see slide 6)</a:t>
            </a:r>
          </a:p>
        </p:txBody>
      </p:sp>
      <p:sp>
        <p:nvSpPr>
          <p:cNvPr id="10" name="TextBox 9"/>
          <p:cNvSpPr txBox="1"/>
          <p:nvPr/>
        </p:nvSpPr>
        <p:spPr>
          <a:xfrm>
            <a:off x="274320" y="6537960"/>
            <a:ext cx="3657600" cy="274320"/>
          </a:xfrm>
          <a:prstGeom prst="rect">
            <a:avLst/>
          </a:prstGeom>
          <a:noFill/>
        </p:spPr>
        <p:txBody>
          <a:bodyPr wrap="square" anchor="t" lIns="25400" rIns="25400" tIns="25400" bIns="25400">
            <a:spAutoFit/>
          </a:bodyPr>
          <a:lstStyle/>
          <a:p>
            <a:r>
              <a:rPr sz="1000" b="0" i="0">
                <a:solidFill>
                  <a:srgbClr val="666666"/>
                </a:solidFill>
                <a:latin typeface="Calibri"/>
              </a:rPr>
              <a:t>ProofPilot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30000" cy="548640"/>
          </a:xfrm>
          <a:prstGeom prst="rect">
            <a:avLst/>
          </a:prstGeom>
          <a:noFill/>
        </p:spPr>
        <p:txBody>
          <a:bodyPr wrap="square" anchor="t" lIns="25400" rIns="25400" tIns="25400" bIns="25400">
            <a:spAutoFit/>
          </a:bodyPr>
          <a:lstStyle/>
          <a:p>
            <a:r>
              <a:rPr sz="2600" b="1" i="0">
                <a:solidFill>
                  <a:srgbClr val="FFFFFF"/>
                </a:solidFill>
                <a:latin typeface="Calibri"/>
              </a:rPr>
              <a:t>1-2. Problem Statement and Objectives</a:t>
            </a:r>
          </a:p>
        </p:txBody>
      </p:sp>
      <p:sp>
        <p:nvSpPr>
          <p:cNvPr id="4" name="Rectangle 3"/>
          <p:cNvSpPr/>
          <p:nvPr/>
        </p:nvSpPr>
        <p:spPr>
          <a:xfrm>
            <a:off x="320040" y="1143000"/>
            <a:ext cx="5577840" cy="5303520"/>
          </a:xfrm>
          <a:prstGeom prst="rect">
            <a:avLst/>
          </a:prstGeom>
          <a:solidFill>
            <a:srgbClr val="F2F2F2"/>
          </a:solidFill>
          <a:ln w="1905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16152"/>
            <a:ext cx="5303520" cy="274320"/>
          </a:xfrm>
          <a:prstGeom prst="rect">
            <a:avLst/>
          </a:prstGeom>
          <a:noFill/>
        </p:spPr>
        <p:txBody>
          <a:bodyPr wrap="square" anchor="t" lIns="25400" rIns="25400" tIns="25400" bIns="25400">
            <a:spAutoFit/>
          </a:bodyPr>
          <a:lstStyle/>
          <a:p>
            <a:r>
              <a:rPr sz="1000" b="0" i="1">
                <a:solidFill>
                  <a:srgbClr val="606060"/>
                </a:solidFill>
                <a:latin typeface="Calibri"/>
              </a:rPr>
              <a:t>AI-drafted -- review and rewrite in your own words</a:t>
            </a:r>
          </a:p>
        </p:txBody>
      </p:sp>
      <p:sp>
        <p:nvSpPr>
          <p:cNvPr id="6" name="TextBox 5"/>
          <p:cNvSpPr txBox="1"/>
          <p:nvPr/>
        </p:nvSpPr>
        <p:spPr>
          <a:xfrm>
            <a:off x="457200" y="1508760"/>
            <a:ext cx="5303520" cy="274320"/>
          </a:xfrm>
          <a:prstGeom prst="rect">
            <a:avLst/>
          </a:prstGeom>
          <a:noFill/>
        </p:spPr>
        <p:txBody>
          <a:bodyPr wrap="square" anchor="t" lIns="25400" rIns="25400" tIns="25400" bIns="25400">
            <a:spAutoFit/>
          </a:bodyPr>
          <a:lstStyle/>
          <a:p>
            <a:r>
              <a:rPr sz="1600" b="1" i="0">
                <a:solidFill>
                  <a:srgbClr val="1F4E79"/>
                </a:solidFill>
                <a:latin typeface="Calibri"/>
              </a:rPr>
              <a:t>Problem Statement</a:t>
            </a:r>
          </a:p>
        </p:txBody>
      </p:sp>
      <p:sp>
        <p:nvSpPr>
          <p:cNvPr id="7" name="Rectangle 6"/>
          <p:cNvSpPr/>
          <p:nvPr/>
        </p:nvSpPr>
        <p:spPr>
          <a:xfrm>
            <a:off x="6172200" y="1143000"/>
            <a:ext cx="5577840" cy="5303520"/>
          </a:xfrm>
          <a:prstGeom prst="rect">
            <a:avLst/>
          </a:prstGeom>
          <a:solidFill>
            <a:srgbClr val="F2F2F2"/>
          </a:solidFill>
          <a:ln w="1905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0" y="1216152"/>
            <a:ext cx="5303520" cy="274320"/>
          </a:xfrm>
          <a:prstGeom prst="rect">
            <a:avLst/>
          </a:prstGeom>
          <a:noFill/>
        </p:spPr>
        <p:txBody>
          <a:bodyPr wrap="square" anchor="t" lIns="25400" rIns="25400" tIns="25400" bIns="25400">
            <a:spAutoFit/>
          </a:bodyPr>
          <a:lstStyle/>
          <a:p>
            <a:r>
              <a:rPr sz="1000" b="0" i="1">
                <a:solidFill>
                  <a:srgbClr val="606060"/>
                </a:solidFill>
                <a:latin typeface="Calibri"/>
              </a:rPr>
              <a:t>AI-drafted -- review and rewrite in your own words</a:t>
            </a:r>
          </a:p>
        </p:txBody>
      </p:sp>
      <p:sp>
        <p:nvSpPr>
          <p:cNvPr id="9" name="TextBox 8"/>
          <p:cNvSpPr txBox="1"/>
          <p:nvPr/>
        </p:nvSpPr>
        <p:spPr>
          <a:xfrm>
            <a:off x="6309360" y="1508760"/>
            <a:ext cx="5303520" cy="274320"/>
          </a:xfrm>
          <a:prstGeom prst="rect">
            <a:avLst/>
          </a:prstGeom>
          <a:noFill/>
        </p:spPr>
        <p:txBody>
          <a:bodyPr wrap="square" anchor="t" lIns="25400" rIns="25400" tIns="25400" bIns="25400">
            <a:spAutoFit/>
          </a:bodyPr>
          <a:lstStyle/>
          <a:p>
            <a:r>
              <a:rPr sz="1600" b="1" i="0">
                <a:solidFill>
                  <a:srgbClr val="1F4E79"/>
                </a:solidFill>
                <a:latin typeface="Calibri"/>
              </a:rPr>
              <a:t>Objectives</a:t>
            </a:r>
          </a:p>
        </p:txBody>
      </p:sp>
      <p:sp>
        <p:nvSpPr>
          <p:cNvPr id="10" name="TextBox 9"/>
          <p:cNvSpPr txBox="1"/>
          <p:nvPr/>
        </p:nvSpPr>
        <p:spPr>
          <a:xfrm>
            <a:off x="457200" y="1874520"/>
            <a:ext cx="5303520" cy="4434840"/>
          </a:xfrm>
          <a:prstGeom prst="rect">
            <a:avLst/>
          </a:prstGeom>
          <a:noFill/>
        </p:spPr>
        <p:txBody>
          <a:bodyPr wrap="square" anchor="t" lIns="25400" rIns="25400" tIns="25400" bIns="25400">
            <a:spAutoFit/>
          </a:bodyPr>
          <a:lstStyle/>
          <a:p>
            <a:r>
              <a:rPr sz="1250" b="0" i="0">
                <a:solidFill>
                  <a:srgbClr val="1A1A1A"/>
                </a:solidFill>
                <a:latin typeface="Calibri"/>
              </a:rPr>
              <a:t>When a student works through a propositional-logic proof -- turning an English argument into premises, converting them to clauses, and resolving step by step -- the two places they actually go wrong are translation (misreading “unless” or “only if”) and the proof steps themselves (picking an irrelevant clause, or claiming a conclusion that doesn’t follow). In a classroom, a teacher can mark the final answer right or wrong, but checking every intermediate step for each student isn’t possible at scale, so a student who makes a mistake early often doesn’t find out until the grade comes back -- by which point the specific misunderstanding is gone. ProofPilot addresses this by giving step-level feedback as the student works: it reads a plain-English argument, builds the proof with the student rather than for them, and tracks which skills (translation, clause selection, relevance) the student has and hasn’t mastered, adjusting what it asks next. This matters because formative feedback -- feedback given during the work, not after it -- is what lets a student correct a misunderstanding before it hardens into a habit.</a:t>
            </a:r>
          </a:p>
        </p:txBody>
      </p:sp>
      <p:sp>
        <p:nvSpPr>
          <p:cNvPr id="11" name="TextBox 10"/>
          <p:cNvSpPr txBox="1"/>
          <p:nvPr/>
        </p:nvSpPr>
        <p:spPr>
          <a:xfrm>
            <a:off x="6309360" y="1874520"/>
            <a:ext cx="5303520" cy="4434840"/>
          </a:xfrm>
          <a:prstGeom prst="rect">
            <a:avLst/>
          </a:prstGeom>
          <a:noFill/>
        </p:spPr>
        <p:txBody>
          <a:bodyPr wrap="square" anchor="t" lIns="25400" rIns="25400" tIns="25400" bIns="25400">
            <a:spAutoFit/>
          </a:bodyPr>
          <a:lstStyle/>
          <a:p>
            <a:pPr>
              <a:spcAft>
                <a:spcPts val="800"/>
              </a:spcAft>
            </a:pPr>
            <a:r>
              <a:rPr sz="1200" b="0" i="0">
                <a:solidFill>
                  <a:srgbClr val="1A1A1A"/>
                </a:solidFill>
                <a:latin typeface="Calibri"/>
              </a:rPr>
              <a:t>• Parse a plain-English argument of arbitrary length into logical facts without hardcoded vocabulary, refusing (by name, with a rephrasing hint) any sentence it cannot confidently translate, rather than guessing.</a:t>
            </a:r>
          </a:p>
          <a:p>
            <a:pPr>
              <a:spcAft>
                <a:spcPts val="800"/>
              </a:spcAft>
            </a:pPr>
            <a:r>
              <a:rPr sz="1200" b="0" i="0">
                <a:solidFill>
                  <a:srgbClr val="1A1A1A"/>
                </a:solidFill>
                <a:latin typeface="Calibri"/>
              </a:rPr>
              <a:t>• Verify, using resolution refutation cross-checked against truth-table entailment, whether a stated conclusion actually follows from the student’s premises -- correctly, on a benchmark of randomly generated problems.</a:t>
            </a:r>
          </a:p>
          <a:p>
            <a:pPr>
              <a:spcAft>
                <a:spcPts val="800"/>
              </a:spcAft>
            </a:pPr>
            <a:r>
              <a:rPr sz="1200" b="0" i="0">
                <a:solidFill>
                  <a:srgbClr val="1A1A1A"/>
                </a:solidFill>
                <a:latin typeface="Calibri"/>
              </a:rPr>
              <a:t>• Generate a step-level hint at each stage of the proof, using breadth-first search over the remaining clauses, within a bounded and deterministic search budget.</a:t>
            </a:r>
          </a:p>
          <a:p>
            <a:pPr>
              <a:spcAft>
                <a:spcPts val="800"/>
              </a:spcAft>
            </a:pPr>
            <a:r>
              <a:rPr sz="1200" b="0" i="0">
                <a:solidFill>
                  <a:srgbClr val="1A1A1A"/>
                </a:solidFill>
                <a:latin typeface="Calibri"/>
              </a:rPr>
              <a:t>• Track per-skill mastery with Bayesian Knowledge Tracing and use it to decide, after each answer, whether to keep practicing or move on -- measurably reducing how often a simulated learner is released before mastery, compared to a fixed-length baseline.</a:t>
            </a:r>
          </a:p>
        </p:txBody>
      </p:sp>
      <p:sp>
        <p:nvSpPr>
          <p:cNvPr id="12" name="TextBox 11"/>
          <p:cNvSpPr txBox="1"/>
          <p:nvPr/>
        </p:nvSpPr>
        <p:spPr>
          <a:xfrm>
            <a:off x="274320" y="6537960"/>
            <a:ext cx="3657600" cy="274320"/>
          </a:xfrm>
          <a:prstGeom prst="rect">
            <a:avLst/>
          </a:prstGeom>
          <a:noFill/>
        </p:spPr>
        <p:txBody>
          <a:bodyPr wrap="square" anchor="t" lIns="25400" rIns="25400" tIns="25400" bIns="25400">
            <a:spAutoFit/>
          </a:bodyPr>
          <a:lstStyle/>
          <a:p>
            <a:r>
              <a:rPr sz="1000" b="0" i="0">
                <a:solidFill>
                  <a:srgbClr val="666666"/>
                </a:solidFill>
                <a:latin typeface="Calibri"/>
              </a:rPr>
              <a:t>ProofPilot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30000" cy="548640"/>
          </a:xfrm>
          <a:prstGeom prst="rect">
            <a:avLst/>
          </a:prstGeom>
          <a:noFill/>
        </p:spPr>
        <p:txBody>
          <a:bodyPr wrap="square" anchor="t" lIns="25400" rIns="25400" tIns="25400" bIns="25400">
            <a:spAutoFit/>
          </a:bodyPr>
          <a:lstStyle/>
          <a:p>
            <a:r>
              <a:rPr sz="2600" b="1" i="0">
                <a:solidFill>
                  <a:srgbClr val="FFFFFF"/>
                </a:solidFill>
                <a:latin typeface="Calibri"/>
              </a:rPr>
              <a:t>3-4. Literature Review and Limitations</a:t>
            </a:r>
          </a:p>
        </p:txBody>
      </p:sp>
      <p:graphicFrame>
        <p:nvGraphicFramePr>
          <p:cNvPr id="4" name="Table 3"/>
          <p:cNvGraphicFramePr>
            <a:graphicFrameLocks noGrp="1"/>
          </p:cNvGraphicFramePr>
          <p:nvPr/>
        </p:nvGraphicFramePr>
        <p:xfrm>
          <a:off x="274320" y="1097280"/>
          <a:ext cx="11612879" cy="4480560"/>
        </p:xfrm>
        <a:graphic>
          <a:graphicData uri="http://schemas.openxmlformats.org/drawingml/2006/table">
            <a:tbl>
              <a:tblPr firstRow="1" bandRow="1">
                <a:tableStyleId>{5C22544A-7EE6-4342-B048-85BDC9FD1C3A}</a:tableStyleId>
              </a:tblPr>
              <a:tblGrid>
                <a:gridCol w="2286000"/>
                <a:gridCol w="3931920"/>
                <a:gridCol w="3749039"/>
                <a:gridCol w="1645920"/>
              </a:tblGrid>
              <a:tr h="640080">
                <a:tc>
                  <a:txBody>
                    <a:bodyPr wrap="square"/>
                    <a:lstStyle/>
                    <a:p>
                      <a:pPr algn="l"/>
                      <a:r>
                        <a:rPr sz="1200" b="1" i="0">
                          <a:solidFill>
                            <a:srgbClr val="FFFFFF"/>
                          </a:solidFill>
                          <a:latin typeface="Calibri"/>
                        </a:rPr>
                        <a:t>Theme</a:t>
                      </a:r>
                    </a:p>
                  </a:txBody>
                  <a:tcPr marL="50800" marR="50800" marT="25400" marB="25400" anchor="ctr">
                    <a:solidFill>
                      <a:srgbClr val="1F4E79"/>
                    </a:solidFill>
                  </a:tcPr>
                </a:tc>
                <a:tc>
                  <a:txBody>
                    <a:bodyPr wrap="square"/>
                    <a:lstStyle/>
                    <a:p>
                      <a:pPr algn="l"/>
                      <a:r>
                        <a:rPr sz="1200" b="1" i="0">
                          <a:solidFill>
                            <a:srgbClr val="FFFFFF"/>
                          </a:solidFill>
                          <a:latin typeface="Calibri"/>
                        </a:rPr>
                        <a:t>Papers (verified citation)</a:t>
                      </a:r>
                    </a:p>
                  </a:txBody>
                  <a:tcPr marL="50800" marR="50800" marT="25400" marB="25400" anchor="ctr">
                    <a:solidFill>
                      <a:srgbClr val="1F4E79"/>
                    </a:solidFill>
                  </a:tcPr>
                </a:tc>
                <a:tc>
                  <a:txBody>
                    <a:bodyPr wrap="square"/>
                    <a:lstStyle/>
                    <a:p>
                      <a:pPr algn="l"/>
                      <a:r>
                        <a:rPr sz="1200" b="1" i="0">
                          <a:solidFill>
                            <a:srgbClr val="FFFFFF"/>
                          </a:solidFill>
                          <a:latin typeface="Calibri"/>
                        </a:rPr>
                        <a:t>Key finding</a:t>
                      </a:r>
                    </a:p>
                  </a:txBody>
                  <a:tcPr marL="50800" marR="50800" marT="25400" marB="25400" anchor="ctr">
                    <a:solidFill>
                      <a:srgbClr val="1F4E79"/>
                    </a:solidFill>
                  </a:tcPr>
                </a:tc>
                <a:tc>
                  <a:txBody>
                    <a:bodyPr wrap="square"/>
                    <a:lstStyle/>
                    <a:p>
                      <a:pPr algn="l"/>
                      <a:r>
                        <a:rPr sz="1200" b="1" i="0">
                          <a:solidFill>
                            <a:srgbClr val="FFFFFF"/>
                          </a:solidFill>
                          <a:latin typeface="Calibri"/>
                        </a:rPr>
                        <a:t>Gap</a:t>
                      </a:r>
                    </a:p>
                  </a:txBody>
                  <a:tcPr marL="50800" marR="50800" marT="25400" marB="25400" anchor="ctr">
                    <a:solidFill>
                      <a:srgbClr val="1F4E79"/>
                    </a:solidFill>
                  </a:tcPr>
                </a:tc>
              </a:tr>
              <a:tr h="640080">
                <a:tc>
                  <a:txBody>
                    <a:bodyPr wrap="square"/>
                    <a:lstStyle/>
                    <a:p>
                      <a:pPr algn="l"/>
                      <a:r>
                        <a:rPr sz="1100" b="1" i="0">
                          <a:solidFill>
                            <a:srgbClr val="1F4E79"/>
                          </a:solidFill>
                          <a:latin typeface="Calibri"/>
                        </a:rPr>
                        <a:t>Knowledge tracing &amp; student modeling</a:t>
                      </a:r>
                    </a:p>
                  </a:txBody>
                  <a:tcPr marL="50800" marR="50800" marT="25400" marB="25400" anchor="ctr">
                    <a:solidFill>
                      <a:srgbClr val="FFFFFF"/>
                    </a:solidFill>
                  </a:tcPr>
                </a:tc>
                <a:tc>
                  <a:txBody>
                    <a:bodyPr wrap="square"/>
                    <a:lstStyle/>
                    <a:p>
                      <a:pPr algn="l"/>
                      <a:r>
                        <a:rPr sz="1050" b="0" i="0">
                          <a:solidFill>
                            <a:srgbClr val="1A1A1A"/>
                          </a:solidFill>
                          <a:latin typeface="Calibri"/>
                        </a:rPr>
                        <a:t>Corbett &amp; Anderson (1995); Baker et al. (2008); Pardos &amp; Heffernan (2010); Pavlik et al. (2009); Piech et al. (2015); Khajah et al. (2016); Pelánek (2017); Bull &amp; Kay (2007)</a:t>
                      </a:r>
                    </a:p>
                  </a:txBody>
                  <a:tcPr marL="50800" marR="50800" marT="25400" marB="25400" anchor="ctr">
                    <a:solidFill>
                      <a:srgbClr val="FFFFFF"/>
                    </a:solidFill>
                  </a:tcPr>
                </a:tc>
                <a:tc>
                  <a:txBody>
                    <a:bodyPr wrap="square"/>
                    <a:lstStyle/>
                    <a:p>
                      <a:pPr algn="l"/>
                      <a:r>
                        <a:rPr sz="1050" b="0" i="0">
                          <a:solidFill>
                            <a:srgbClr val="1A1A1A"/>
                          </a:solidFill>
                          <a:latin typeface="Calibri"/>
                        </a:rPr>
                        <a:t>Classical BKT, extended with contextual/individual parameters, matches deep-learning tracers on the benchmarks tested.</a:t>
                      </a:r>
                    </a:p>
                  </a:txBody>
                  <a:tcPr marL="50800" marR="50800" marT="25400" marB="25400" anchor="ctr">
                    <a:solidFill>
                      <a:srgbClr val="FFFFFF"/>
                    </a:solidFill>
                  </a:tcPr>
                </a:tc>
                <a:tc>
                  <a:txBody>
                    <a:bodyPr wrap="square"/>
                    <a:lstStyle/>
                    <a:p>
                      <a:pPr algn="l"/>
                      <a:r>
                        <a:rPr sz="1050" b="0" i="1">
                          <a:solidFill>
                            <a:srgbClr val="707070"/>
                          </a:solidFill>
                          <a:latin typeface="Calibri"/>
                        </a:rPr>
                        <a:t>[STUDENTS WRITE]</a:t>
                      </a:r>
                    </a:p>
                  </a:txBody>
                  <a:tcPr marL="50800" marR="50800" marT="25400" marB="25400" anchor="ctr">
                    <a:solidFill>
                      <a:srgbClr val="FFFFFF"/>
                    </a:solidFill>
                  </a:tcPr>
                </a:tc>
              </a:tr>
              <a:tr h="640080">
                <a:tc>
                  <a:txBody>
                    <a:bodyPr wrap="square"/>
                    <a:lstStyle/>
                    <a:p>
                      <a:pPr algn="l"/>
                      <a:r>
                        <a:rPr sz="1100" b="1" i="0">
                          <a:solidFill>
                            <a:srgbClr val="1F4E79"/>
                          </a:solidFill>
                          <a:latin typeface="Calibri"/>
                        </a:rPr>
                        <a:t>ITS &amp; tutoring effectiveness</a:t>
                      </a:r>
                    </a:p>
                  </a:txBody>
                  <a:tcPr marL="50800" marR="50800" marT="25400" marB="25400" anchor="ctr">
                    <a:solidFill>
                      <a:srgbClr val="F2F2F2"/>
                    </a:solidFill>
                  </a:tcPr>
                </a:tc>
                <a:tc>
                  <a:txBody>
                    <a:bodyPr wrap="square"/>
                    <a:lstStyle/>
                    <a:p>
                      <a:pPr algn="l"/>
                      <a:r>
                        <a:rPr sz="1050" b="0" i="0">
                          <a:solidFill>
                            <a:srgbClr val="1A1A1A"/>
                          </a:solidFill>
                          <a:latin typeface="Calibri"/>
                        </a:rPr>
                        <a:t>VanLehn (2006, 2011); Kulik &amp; Fletcher (2016); Ma et al. (2014); Bloom (1984)</a:t>
                      </a:r>
                    </a:p>
                  </a:txBody>
                  <a:tcPr marL="50800" marR="50800" marT="25400" marB="25400" anchor="ctr">
                    <a:solidFill>
                      <a:srgbClr val="F2F2F2"/>
                    </a:solidFill>
                  </a:tcPr>
                </a:tc>
                <a:tc>
                  <a:txBody>
                    <a:bodyPr wrap="square"/>
                    <a:lstStyle/>
                    <a:p>
                      <a:pPr algn="l"/>
                      <a:r>
                        <a:rPr sz="1050" b="0" i="0">
                          <a:solidFill>
                            <a:srgbClr val="1A1A1A"/>
                          </a:solidFill>
                          <a:latin typeface="Calibri"/>
                        </a:rPr>
                        <a:t>ITS approach human-tutor effect sizes (~0.7-0.8 SD); exact gains vary by outcome-measure type.</a:t>
                      </a:r>
                    </a:p>
                  </a:txBody>
                  <a:tcPr marL="50800" marR="50800" marT="25400" marB="25400" anchor="ctr">
                    <a:solidFill>
                      <a:srgbClr val="F2F2F2"/>
                    </a:solidFill>
                  </a:tcPr>
                </a:tc>
                <a:tc>
                  <a:txBody>
                    <a:bodyPr wrap="square"/>
                    <a:lstStyle/>
                    <a:p>
                      <a:pPr algn="l"/>
                      <a:r>
                        <a:rPr sz="1050" b="0" i="1">
                          <a:solidFill>
                            <a:srgbClr val="707070"/>
                          </a:solidFill>
                          <a:latin typeface="Calibri"/>
                        </a:rPr>
                        <a:t>[STUDENTS WRITE]</a:t>
                      </a:r>
                    </a:p>
                  </a:txBody>
                  <a:tcPr marL="50800" marR="50800" marT="25400" marB="25400" anchor="ctr">
                    <a:solidFill>
                      <a:srgbClr val="F2F2F2"/>
                    </a:solidFill>
                  </a:tcPr>
                </a:tc>
              </a:tr>
              <a:tr h="640080">
                <a:tc>
                  <a:txBody>
                    <a:bodyPr wrap="square"/>
                    <a:lstStyle/>
                    <a:p>
                      <a:pPr algn="l"/>
                      <a:r>
                        <a:rPr sz="1100" b="1" i="0">
                          <a:solidFill>
                            <a:srgbClr val="1F4E79"/>
                          </a:solidFill>
                          <a:latin typeface="Calibri"/>
                        </a:rPr>
                        <a:t>Feedback &amp; formative assessment</a:t>
                      </a:r>
                    </a:p>
                  </a:txBody>
                  <a:tcPr marL="50800" marR="50800" marT="25400" marB="25400" anchor="ctr">
                    <a:solidFill>
                      <a:srgbClr val="FFFFFF"/>
                    </a:solidFill>
                  </a:tcPr>
                </a:tc>
                <a:tc>
                  <a:txBody>
                    <a:bodyPr wrap="square"/>
                    <a:lstStyle/>
                    <a:p>
                      <a:pPr algn="l"/>
                      <a:r>
                        <a:rPr sz="1050" b="0" i="0">
                          <a:solidFill>
                            <a:srgbClr val="1A1A1A"/>
                          </a:solidFill>
                          <a:latin typeface="Calibri"/>
                        </a:rPr>
                        <a:t>Black &amp; Wiliam (1998); Hattie &amp; Timperley (2007); Shute (2008); Brown &amp; Burton (1978)</a:t>
                      </a:r>
                    </a:p>
                  </a:txBody>
                  <a:tcPr marL="50800" marR="50800" marT="25400" marB="25400" anchor="ctr">
                    <a:solidFill>
                      <a:srgbClr val="FFFFFF"/>
                    </a:solidFill>
                  </a:tcPr>
                </a:tc>
                <a:tc>
                  <a:txBody>
                    <a:bodyPr wrap="square"/>
                    <a:lstStyle/>
                    <a:p>
                      <a:pPr algn="l"/>
                      <a:r>
                        <a:rPr sz="1050" b="0" i="0">
                          <a:solidFill>
                            <a:srgbClr val="1A1A1A"/>
                          </a:solidFill>
                          <a:latin typeface="Calibri"/>
                        </a:rPr>
                        <a:t>Specific, timely, non-evaluative feedback that names the error outperforms a single grade.</a:t>
                      </a:r>
                    </a:p>
                  </a:txBody>
                  <a:tcPr marL="50800" marR="50800" marT="25400" marB="25400" anchor="ctr">
                    <a:solidFill>
                      <a:srgbClr val="FFFFFF"/>
                    </a:solidFill>
                  </a:tcPr>
                </a:tc>
                <a:tc>
                  <a:txBody>
                    <a:bodyPr wrap="square"/>
                    <a:lstStyle/>
                    <a:p>
                      <a:pPr algn="l"/>
                      <a:r>
                        <a:rPr sz="1050" b="0" i="1">
                          <a:solidFill>
                            <a:srgbClr val="707070"/>
                          </a:solidFill>
                          <a:latin typeface="Calibri"/>
                        </a:rPr>
                        <a:t>[STUDENTS WRITE]</a:t>
                      </a:r>
                    </a:p>
                  </a:txBody>
                  <a:tcPr marL="50800" marR="50800" marT="25400" marB="25400" anchor="ctr">
                    <a:solidFill>
                      <a:srgbClr val="FFFFFF"/>
                    </a:solidFill>
                  </a:tcPr>
                </a:tc>
              </a:tr>
              <a:tr h="640080">
                <a:tc>
                  <a:txBody>
                    <a:bodyPr wrap="square"/>
                    <a:lstStyle/>
                    <a:p>
                      <a:pPr algn="l"/>
                      <a:r>
                        <a:rPr sz="1100" b="1" i="0">
                          <a:solidFill>
                            <a:srgbClr val="1F4E79"/>
                          </a:solidFill>
                          <a:latin typeface="Calibri"/>
                        </a:rPr>
                        <a:t>Logic-proof tutoring &amp; hint generation</a:t>
                      </a:r>
                    </a:p>
                  </a:txBody>
                  <a:tcPr marL="50800" marR="50800" marT="25400" marB="25400" anchor="ctr">
                    <a:solidFill>
                      <a:srgbClr val="F2F2F2"/>
                    </a:solidFill>
                  </a:tcPr>
                </a:tc>
                <a:tc>
                  <a:txBody>
                    <a:bodyPr wrap="square"/>
                    <a:lstStyle/>
                    <a:p>
                      <a:pPr algn="l"/>
                      <a:r>
                        <a:rPr sz="1050" b="0" i="0">
                          <a:solidFill>
                            <a:srgbClr val="1A1A1A"/>
                          </a:solidFill>
                          <a:latin typeface="Calibri"/>
                        </a:rPr>
                        <a:t>Robinson (1965); Barnes &amp; Stamper (2008); Stamper et al. (2013)</a:t>
                      </a:r>
                    </a:p>
                  </a:txBody>
                  <a:tcPr marL="50800" marR="50800" marT="25400" marB="25400" anchor="ctr">
                    <a:solidFill>
                      <a:srgbClr val="F2F2F2"/>
                    </a:solidFill>
                  </a:tcPr>
                </a:tc>
                <a:tc>
                  <a:txBody>
                    <a:bodyPr wrap="square"/>
                    <a:lstStyle/>
                    <a:p>
                      <a:pPr algn="l"/>
                      <a:r>
                        <a:rPr sz="1050" b="0" i="0">
                          <a:solidFill>
                            <a:srgbClr val="1A1A1A"/>
                          </a:solidFill>
                          <a:latin typeface="Calibri"/>
                        </a:rPr>
                        <a:t>Resolution is the proof method; data-driven/MDP-based hints measurably help students persist through logic-proof tutors.</a:t>
                      </a:r>
                    </a:p>
                  </a:txBody>
                  <a:tcPr marL="50800" marR="50800" marT="25400" marB="25400" anchor="ctr">
                    <a:solidFill>
                      <a:srgbClr val="F2F2F2"/>
                    </a:solidFill>
                  </a:tcPr>
                </a:tc>
                <a:tc>
                  <a:txBody>
                    <a:bodyPr wrap="square"/>
                    <a:lstStyle/>
                    <a:p>
                      <a:pPr algn="l"/>
                      <a:r>
                        <a:rPr sz="1050" b="0" i="1">
                          <a:solidFill>
                            <a:srgbClr val="707070"/>
                          </a:solidFill>
                          <a:latin typeface="Calibri"/>
                        </a:rPr>
                        <a:t>[STUDENTS WRITE]</a:t>
                      </a:r>
                    </a:p>
                  </a:txBody>
                  <a:tcPr marL="50800" marR="50800" marT="25400" marB="25400" anchor="ctr">
                    <a:solidFill>
                      <a:srgbClr val="F2F2F2"/>
                    </a:solidFill>
                  </a:tcPr>
                </a:tc>
              </a:tr>
              <a:tr h="640080">
                <a:tc>
                  <a:txBody>
                    <a:bodyPr wrap="square"/>
                    <a:lstStyle/>
                    <a:p>
                      <a:pPr algn="l"/>
                      <a:r>
                        <a:rPr sz="1100" b="1" i="0">
                          <a:solidFill>
                            <a:srgbClr val="1F4E79"/>
                          </a:solidFill>
                          <a:latin typeface="Calibri"/>
                        </a:rPr>
                        <a:t>Help-seeking &amp; misuse detection</a:t>
                      </a:r>
                    </a:p>
                  </a:txBody>
                  <a:tcPr marL="50800" marR="50800" marT="25400" marB="25400" anchor="ctr">
                    <a:solidFill>
                      <a:srgbClr val="FFFFFF"/>
                    </a:solidFill>
                  </a:tcPr>
                </a:tc>
                <a:tc>
                  <a:txBody>
                    <a:bodyPr wrap="square"/>
                    <a:lstStyle/>
                    <a:p>
                      <a:pPr algn="l"/>
                      <a:r>
                        <a:rPr sz="1050" b="0" i="0">
                          <a:solidFill>
                            <a:srgbClr val="1A1A1A"/>
                          </a:solidFill>
                          <a:latin typeface="Calibri"/>
                        </a:rPr>
                        <a:t>Aleven et al. (2006) × 2 papers found; Baker et al. (2004)</a:t>
                      </a:r>
                    </a:p>
                  </a:txBody>
                  <a:tcPr marL="50800" marR="50800" marT="25400" marB="25400" anchor="ctr">
                    <a:solidFill>
                      <a:srgbClr val="FFFFFF"/>
                    </a:solidFill>
                  </a:tcPr>
                </a:tc>
                <a:tc>
                  <a:txBody>
                    <a:bodyPr wrap="square"/>
                    <a:lstStyle/>
                    <a:p>
                      <a:pPr algn="l"/>
                      <a:r>
                        <a:rPr sz="1050" b="0" i="0">
                          <a:solidFill>
                            <a:srgbClr val="1A1A1A"/>
                          </a:solidFill>
                          <a:latin typeface="Calibri"/>
                        </a:rPr>
                        <a:t>Student help-seeking and gaming behaviour can be modeled and detected from interaction logs.</a:t>
                      </a:r>
                    </a:p>
                  </a:txBody>
                  <a:tcPr marL="50800" marR="50800" marT="25400" marB="25400" anchor="ctr">
                    <a:solidFill>
                      <a:srgbClr val="FFFFFF"/>
                    </a:solidFill>
                  </a:tcPr>
                </a:tc>
                <a:tc>
                  <a:txBody>
                    <a:bodyPr wrap="square"/>
                    <a:lstStyle/>
                    <a:p>
                      <a:pPr algn="l"/>
                      <a:r>
                        <a:rPr sz="1050" b="0" i="1">
                          <a:solidFill>
                            <a:srgbClr val="707070"/>
                          </a:solidFill>
                          <a:latin typeface="Calibri"/>
                        </a:rPr>
                        <a:t>[STUDENTS WRITE]</a:t>
                      </a:r>
                    </a:p>
                  </a:txBody>
                  <a:tcPr marL="50800" marR="50800" marT="25400" marB="25400" anchor="ctr">
                    <a:solidFill>
                      <a:srgbClr val="FFFFFF"/>
                    </a:solidFill>
                  </a:tcPr>
                </a:tc>
              </a:tr>
              <a:tr h="640080">
                <a:tc>
                  <a:txBody>
                    <a:bodyPr wrap="square"/>
                    <a:lstStyle/>
                    <a:p>
                      <a:pPr algn="l"/>
                      <a:r>
                        <a:rPr sz="1100" b="1" i="0">
                          <a:solidFill>
                            <a:srgbClr val="1F4E79"/>
                          </a:solidFill>
                          <a:latin typeface="Calibri"/>
                        </a:rPr>
                        <a:t>Theoretical background</a:t>
                      </a:r>
                    </a:p>
                  </a:txBody>
                  <a:tcPr marL="50800" marR="50800" marT="25400" marB="25400" anchor="ctr">
                    <a:solidFill>
                      <a:srgbClr val="F2F2F2"/>
                    </a:solidFill>
                  </a:tcPr>
                </a:tc>
                <a:tc>
                  <a:txBody>
                    <a:bodyPr wrap="square"/>
                    <a:lstStyle/>
                    <a:p>
                      <a:pPr algn="l"/>
                      <a:r>
                        <a:rPr sz="1050" b="0" i="0">
                          <a:solidFill>
                            <a:srgbClr val="1A1A1A"/>
                          </a:solidFill>
                          <a:latin typeface="Calibri"/>
                        </a:rPr>
                        <a:t>Doignon &amp; Falmagne (1999); Russell &amp; Norvig (2020)</a:t>
                      </a:r>
                    </a:p>
                  </a:txBody>
                  <a:tcPr marL="50800" marR="50800" marT="25400" marB="25400" anchor="ctr">
                    <a:solidFill>
                      <a:srgbClr val="F2F2F2"/>
                    </a:solidFill>
                  </a:tcPr>
                </a:tc>
                <a:tc>
                  <a:txBody>
                    <a:bodyPr wrap="square"/>
                    <a:lstStyle/>
                    <a:p>
                      <a:pPr algn="l"/>
                      <a:r>
                        <a:rPr sz="1050" b="0" i="0">
                          <a:solidFill>
                            <a:srgbClr val="1A1A1A"/>
                          </a:solidFill>
                          <a:latin typeface="Calibri"/>
                        </a:rPr>
                        <a:t>Formal knowledge-space theory and standard course material (logic, search) underpin the design.</a:t>
                      </a:r>
                    </a:p>
                  </a:txBody>
                  <a:tcPr marL="50800" marR="50800" marT="25400" marB="25400" anchor="ctr">
                    <a:solidFill>
                      <a:srgbClr val="F2F2F2"/>
                    </a:solidFill>
                  </a:tcPr>
                </a:tc>
                <a:tc>
                  <a:txBody>
                    <a:bodyPr wrap="square"/>
                    <a:lstStyle/>
                    <a:p>
                      <a:pPr algn="l"/>
                      <a:r>
                        <a:rPr sz="1050" b="0" i="1">
                          <a:solidFill>
                            <a:srgbClr val="707070"/>
                          </a:solidFill>
                          <a:latin typeface="Calibri"/>
                        </a:rPr>
                        <a:t>[STUDENTS WRITE]</a:t>
                      </a:r>
                    </a:p>
                  </a:txBody>
                  <a:tcPr marL="50800" marR="50800" marT="25400" marB="25400" anchor="ctr">
                    <a:solidFill>
                      <a:srgbClr val="F2F2F2"/>
                    </a:solidFill>
                  </a:tcPr>
                </a:tc>
              </a:tr>
            </a:tbl>
          </a:graphicData>
        </a:graphic>
      </p:graphicFrame>
      <p:sp>
        <p:nvSpPr>
          <p:cNvPr id="5" name="TextBox 4"/>
          <p:cNvSpPr txBox="1"/>
          <p:nvPr/>
        </p:nvSpPr>
        <p:spPr>
          <a:xfrm>
            <a:off x="274320" y="5669280"/>
            <a:ext cx="11612880" cy="777240"/>
          </a:xfrm>
          <a:prstGeom prst="rect">
            <a:avLst/>
          </a:prstGeom>
          <a:noFill/>
        </p:spPr>
        <p:txBody>
          <a:bodyPr wrap="square" anchor="t" lIns="25400" rIns="25400" tIns="25400" bIns="25400">
            <a:spAutoFit/>
          </a:bodyPr>
          <a:lstStyle/>
          <a:p>
            <a:r>
              <a:rPr sz="1200" b="0" i="1">
                <a:solidFill>
                  <a:srgbClr val="404040"/>
                </a:solidFill>
                <a:latin typeface="Calibri"/>
              </a:rPr>
              <a:t>23 of 24 seed citations verified, 1 ambiguous (Aleven et al. 2006, two papers found, pick one). 25-30 required — more still needed.</a:t>
            </a:r>
          </a:p>
        </p:txBody>
      </p:sp>
      <p:sp>
        <p:nvSpPr>
          <p:cNvPr id="6" name="TextBox 5"/>
          <p:cNvSpPr txBox="1"/>
          <p:nvPr/>
        </p:nvSpPr>
        <p:spPr>
          <a:xfrm>
            <a:off x="274320" y="6537960"/>
            <a:ext cx="3657600" cy="274320"/>
          </a:xfrm>
          <a:prstGeom prst="rect">
            <a:avLst/>
          </a:prstGeom>
          <a:noFill/>
        </p:spPr>
        <p:txBody>
          <a:bodyPr wrap="square" anchor="t" lIns="25400" rIns="25400" tIns="25400" bIns="25400">
            <a:spAutoFit/>
          </a:bodyPr>
          <a:lstStyle/>
          <a:p>
            <a:r>
              <a:rPr sz="1000" b="0" i="0">
                <a:solidFill>
                  <a:srgbClr val="666666"/>
                </a:solidFill>
                <a:latin typeface="Calibri"/>
              </a:rPr>
              <a:t>ProofPilot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30000" cy="548640"/>
          </a:xfrm>
          <a:prstGeom prst="rect">
            <a:avLst/>
          </a:prstGeom>
          <a:noFill/>
        </p:spPr>
        <p:txBody>
          <a:bodyPr wrap="square" anchor="t" lIns="25400" rIns="25400" tIns="25400" bIns="25400">
            <a:spAutoFit/>
          </a:bodyPr>
          <a:lstStyle/>
          <a:p>
            <a:r>
              <a:rPr sz="2600" b="1" i="0">
                <a:solidFill>
                  <a:srgbClr val="FFFFFF"/>
                </a:solidFill>
                <a:latin typeface="Calibri"/>
              </a:rPr>
              <a:t>5. Methodology: Architecture and Workflow</a:t>
            </a:r>
          </a:p>
        </p:txBody>
      </p:sp>
      <p:sp>
        <p:nvSpPr>
          <p:cNvPr id="4" name="Rectangle 3"/>
          <p:cNvSpPr/>
          <p:nvPr/>
        </p:nvSpPr>
        <p:spPr>
          <a:xfrm>
            <a:off x="320040" y="1188720"/>
            <a:ext cx="1783080" cy="6858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188720"/>
            <a:ext cx="1783080" cy="685800"/>
          </a:xfrm>
          <a:prstGeom prst="rect">
            <a:avLst/>
          </a:prstGeom>
          <a:noFill/>
        </p:spPr>
        <p:txBody>
          <a:bodyPr wrap="square" anchor="ctr" lIns="25400" rIns="25400" tIns="25400" bIns="25400">
            <a:spAutoFit/>
          </a:bodyPr>
          <a:lstStyle/>
          <a:p>
            <a:pPr algn="ctr"/>
            <a:r>
              <a:rPr sz="1300" b="1" i="0">
                <a:solidFill>
                  <a:srgbClr val="1F4E79"/>
                </a:solidFill>
                <a:latin typeface="Calibri"/>
              </a:rPr>
              <a:t>parse</a:t>
            </a:r>
          </a:p>
        </p:txBody>
      </p:sp>
      <p:sp>
        <p:nvSpPr>
          <p:cNvPr id="6" name="TextBox 5"/>
          <p:cNvSpPr txBox="1"/>
          <p:nvPr/>
        </p:nvSpPr>
        <p:spPr>
          <a:xfrm>
            <a:off x="2103120" y="1188720"/>
            <a:ext cx="137160" cy="685800"/>
          </a:xfrm>
          <a:prstGeom prst="rect">
            <a:avLst/>
          </a:prstGeom>
          <a:noFill/>
        </p:spPr>
        <p:txBody>
          <a:bodyPr wrap="square" anchor="ctr" lIns="25400" rIns="25400" tIns="25400" bIns="25400">
            <a:spAutoFit/>
          </a:bodyPr>
          <a:lstStyle/>
          <a:p>
            <a:pPr algn="ctr"/>
            <a:r>
              <a:rPr sz="1600" b="1" i="0">
                <a:solidFill>
                  <a:srgbClr val="1F4E79"/>
                </a:solidFill>
                <a:latin typeface="Calibri"/>
              </a:rPr>
              <a:t>→</a:t>
            </a:r>
          </a:p>
        </p:txBody>
      </p:sp>
      <p:sp>
        <p:nvSpPr>
          <p:cNvPr id="7" name="Rectangle 6"/>
          <p:cNvSpPr/>
          <p:nvPr/>
        </p:nvSpPr>
        <p:spPr>
          <a:xfrm>
            <a:off x="2240280" y="1188720"/>
            <a:ext cx="1783080" cy="6858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40280" y="1188720"/>
            <a:ext cx="1783080" cy="685800"/>
          </a:xfrm>
          <a:prstGeom prst="rect">
            <a:avLst/>
          </a:prstGeom>
          <a:noFill/>
        </p:spPr>
        <p:txBody>
          <a:bodyPr wrap="square" anchor="ctr" lIns="25400" rIns="25400" tIns="25400" bIns="25400">
            <a:spAutoFit/>
          </a:bodyPr>
          <a:lstStyle/>
          <a:p>
            <a:pPr algn="ctr"/>
            <a:r>
              <a:rPr sz="1300" b="1" i="0">
                <a:solidFill>
                  <a:srgbClr val="1F4E79"/>
                </a:solidFill>
                <a:latin typeface="Calibri"/>
              </a:rPr>
              <a:t>facts</a:t>
            </a:r>
          </a:p>
        </p:txBody>
      </p:sp>
      <p:sp>
        <p:nvSpPr>
          <p:cNvPr id="9" name="TextBox 8"/>
          <p:cNvSpPr txBox="1"/>
          <p:nvPr/>
        </p:nvSpPr>
        <p:spPr>
          <a:xfrm>
            <a:off x="4023360" y="1188720"/>
            <a:ext cx="137160" cy="685800"/>
          </a:xfrm>
          <a:prstGeom prst="rect">
            <a:avLst/>
          </a:prstGeom>
          <a:noFill/>
        </p:spPr>
        <p:txBody>
          <a:bodyPr wrap="square" anchor="ctr" lIns="25400" rIns="25400" tIns="25400" bIns="25400">
            <a:spAutoFit/>
          </a:bodyPr>
          <a:lstStyle/>
          <a:p>
            <a:pPr algn="ctr"/>
            <a:r>
              <a:rPr sz="1600" b="1" i="0">
                <a:solidFill>
                  <a:srgbClr val="1F4E79"/>
                </a:solidFill>
                <a:latin typeface="Calibri"/>
              </a:rPr>
              <a:t>→</a:t>
            </a:r>
          </a:p>
        </p:txBody>
      </p:sp>
      <p:sp>
        <p:nvSpPr>
          <p:cNvPr id="10" name="Rectangle 9"/>
          <p:cNvSpPr/>
          <p:nvPr/>
        </p:nvSpPr>
        <p:spPr>
          <a:xfrm>
            <a:off x="4160520" y="1188720"/>
            <a:ext cx="1783080" cy="685800"/>
          </a:xfrm>
          <a:prstGeom prst="rect">
            <a:avLst/>
          </a:prstGeom>
          <a:solidFill>
            <a:srgbClr val="1F4E7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60520" y="1188720"/>
            <a:ext cx="1783080" cy="685800"/>
          </a:xfrm>
          <a:prstGeom prst="rect">
            <a:avLst/>
          </a:prstGeom>
          <a:noFill/>
        </p:spPr>
        <p:txBody>
          <a:bodyPr wrap="square" anchor="ctr" lIns="25400" rIns="25400" tIns="25400" bIns="25400">
            <a:spAutoFit/>
          </a:bodyPr>
          <a:lstStyle/>
          <a:p>
            <a:pPr algn="ctr"/>
            <a:r>
              <a:rPr sz="1300" b="1" i="0">
                <a:solidFill>
                  <a:srgbClr val="FFFFFF"/>
                </a:solidFill>
                <a:latin typeface="Calibri"/>
              </a:rPr>
              <a:t>consistency</a:t>
            </a:r>
          </a:p>
        </p:txBody>
      </p:sp>
      <p:sp>
        <p:nvSpPr>
          <p:cNvPr id="12" name="TextBox 11"/>
          <p:cNvSpPr txBox="1"/>
          <p:nvPr/>
        </p:nvSpPr>
        <p:spPr>
          <a:xfrm>
            <a:off x="5943600" y="1188720"/>
            <a:ext cx="137160" cy="685800"/>
          </a:xfrm>
          <a:prstGeom prst="rect">
            <a:avLst/>
          </a:prstGeom>
          <a:noFill/>
        </p:spPr>
        <p:txBody>
          <a:bodyPr wrap="square" anchor="ctr" lIns="25400" rIns="25400" tIns="25400" bIns="25400">
            <a:spAutoFit/>
          </a:bodyPr>
          <a:lstStyle/>
          <a:p>
            <a:pPr algn="ctr"/>
            <a:r>
              <a:rPr sz="1600" b="1" i="0">
                <a:solidFill>
                  <a:srgbClr val="1F4E79"/>
                </a:solidFill>
                <a:latin typeface="Calibri"/>
              </a:rPr>
              <a:t>→</a:t>
            </a:r>
          </a:p>
        </p:txBody>
      </p:sp>
      <p:sp>
        <p:nvSpPr>
          <p:cNvPr id="13" name="Rectangle 12"/>
          <p:cNvSpPr/>
          <p:nvPr/>
        </p:nvSpPr>
        <p:spPr>
          <a:xfrm>
            <a:off x="6080760" y="1188720"/>
            <a:ext cx="1783080" cy="685800"/>
          </a:xfrm>
          <a:prstGeom prst="rect">
            <a:avLst/>
          </a:prstGeom>
          <a:solidFill>
            <a:srgbClr val="1F4E7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80760" y="1188720"/>
            <a:ext cx="1783080" cy="685800"/>
          </a:xfrm>
          <a:prstGeom prst="rect">
            <a:avLst/>
          </a:prstGeom>
          <a:noFill/>
        </p:spPr>
        <p:txBody>
          <a:bodyPr wrap="square" anchor="ctr" lIns="25400" rIns="25400" tIns="25400" bIns="25400">
            <a:spAutoFit/>
          </a:bodyPr>
          <a:lstStyle/>
          <a:p>
            <a:pPr algn="ctr"/>
            <a:r>
              <a:rPr sz="1300" b="1" i="0">
                <a:solidFill>
                  <a:srgbClr val="FFFFFF"/>
                </a:solidFill>
                <a:latin typeface="Calibri"/>
              </a:rPr>
              <a:t>entailment</a:t>
            </a:r>
          </a:p>
        </p:txBody>
      </p:sp>
      <p:sp>
        <p:nvSpPr>
          <p:cNvPr id="15" name="TextBox 14"/>
          <p:cNvSpPr txBox="1"/>
          <p:nvPr/>
        </p:nvSpPr>
        <p:spPr>
          <a:xfrm>
            <a:off x="7863840" y="1188720"/>
            <a:ext cx="137160" cy="685800"/>
          </a:xfrm>
          <a:prstGeom prst="rect">
            <a:avLst/>
          </a:prstGeom>
          <a:noFill/>
        </p:spPr>
        <p:txBody>
          <a:bodyPr wrap="square" anchor="ctr" lIns="25400" rIns="25400" tIns="25400" bIns="25400">
            <a:spAutoFit/>
          </a:bodyPr>
          <a:lstStyle/>
          <a:p>
            <a:pPr algn="ctr"/>
            <a:r>
              <a:rPr sz="1600" b="1" i="0">
                <a:solidFill>
                  <a:srgbClr val="1F4E79"/>
                </a:solidFill>
                <a:latin typeface="Calibri"/>
              </a:rPr>
              <a:t>→</a:t>
            </a:r>
          </a:p>
        </p:txBody>
      </p:sp>
      <p:sp>
        <p:nvSpPr>
          <p:cNvPr id="16" name="Rectangle 15"/>
          <p:cNvSpPr/>
          <p:nvPr/>
        </p:nvSpPr>
        <p:spPr>
          <a:xfrm>
            <a:off x="8001000" y="1188720"/>
            <a:ext cx="1783080" cy="6858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01000" y="1188720"/>
            <a:ext cx="1783080" cy="685800"/>
          </a:xfrm>
          <a:prstGeom prst="rect">
            <a:avLst/>
          </a:prstGeom>
          <a:noFill/>
        </p:spPr>
        <p:txBody>
          <a:bodyPr wrap="square" anchor="ctr" lIns="25400" rIns="25400" tIns="25400" bIns="25400">
            <a:spAutoFit/>
          </a:bodyPr>
          <a:lstStyle/>
          <a:p>
            <a:pPr algn="ctr"/>
            <a:r>
              <a:rPr sz="1300" b="1" i="0">
                <a:solidFill>
                  <a:srgbClr val="1F4E79"/>
                </a:solidFill>
                <a:latin typeface="Calibri"/>
              </a:rPr>
              <a:t>relevance</a:t>
            </a:r>
          </a:p>
        </p:txBody>
      </p:sp>
      <p:sp>
        <p:nvSpPr>
          <p:cNvPr id="18" name="TextBox 17"/>
          <p:cNvSpPr txBox="1"/>
          <p:nvPr/>
        </p:nvSpPr>
        <p:spPr>
          <a:xfrm>
            <a:off x="9784080" y="1188720"/>
            <a:ext cx="137160" cy="685800"/>
          </a:xfrm>
          <a:prstGeom prst="rect">
            <a:avLst/>
          </a:prstGeom>
          <a:noFill/>
        </p:spPr>
        <p:txBody>
          <a:bodyPr wrap="square" anchor="ctr" lIns="25400" rIns="25400" tIns="25400" bIns="25400">
            <a:spAutoFit/>
          </a:bodyPr>
          <a:lstStyle/>
          <a:p>
            <a:pPr algn="ctr"/>
            <a:r>
              <a:rPr sz="1600" b="1" i="0">
                <a:solidFill>
                  <a:srgbClr val="1F4E79"/>
                </a:solidFill>
                <a:latin typeface="Calibri"/>
              </a:rPr>
              <a:t>→</a:t>
            </a:r>
          </a:p>
        </p:txBody>
      </p:sp>
      <p:sp>
        <p:nvSpPr>
          <p:cNvPr id="19" name="Rectangle 18"/>
          <p:cNvSpPr/>
          <p:nvPr/>
        </p:nvSpPr>
        <p:spPr>
          <a:xfrm>
            <a:off x="9921240" y="1188720"/>
            <a:ext cx="1783080" cy="6858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21240" y="1188720"/>
            <a:ext cx="1783080" cy="685800"/>
          </a:xfrm>
          <a:prstGeom prst="rect">
            <a:avLst/>
          </a:prstGeom>
          <a:noFill/>
        </p:spPr>
        <p:txBody>
          <a:bodyPr wrap="square" anchor="ctr" lIns="25400" rIns="25400" tIns="25400" bIns="25400">
            <a:spAutoFit/>
          </a:bodyPr>
          <a:lstStyle/>
          <a:p>
            <a:pPr algn="ctr"/>
            <a:r>
              <a:rPr sz="1300" b="1" i="0">
                <a:solidFill>
                  <a:srgbClr val="1F4E79"/>
                </a:solidFill>
                <a:latin typeface="Calibri"/>
              </a:rPr>
              <a:t>proof</a:t>
            </a:r>
          </a:p>
        </p:txBody>
      </p:sp>
      <p:sp>
        <p:nvSpPr>
          <p:cNvPr id="21" name="TextBox 20"/>
          <p:cNvSpPr txBox="1"/>
          <p:nvPr/>
        </p:nvSpPr>
        <p:spPr>
          <a:xfrm>
            <a:off x="320040" y="1993392"/>
            <a:ext cx="11521440" cy="685800"/>
          </a:xfrm>
          <a:prstGeom prst="rect">
            <a:avLst/>
          </a:prstGeom>
          <a:noFill/>
        </p:spPr>
        <p:txBody>
          <a:bodyPr wrap="square" anchor="t" lIns="25400" rIns="25400" tIns="25400" bIns="25400">
            <a:spAutoFit/>
          </a:bodyPr>
          <a:lstStyle/>
          <a:p>
            <a:r>
              <a:rPr sz="1100" b="0" i="1">
                <a:solidFill>
                  <a:srgbClr val="606060"/>
                </a:solidFill>
                <a:latin typeface="Calibri"/>
              </a:rPr>
              <a:t>Above: the 6-step INTERNAL pipeline (docs/HLD.md §7). Not the only "stage" count -- three numbers, kept separate rather than flattened to one (FACTS.md §9):</a:t>
            </a:r>
          </a:p>
          <a:p>
            <a:r>
              <a:rPr sz="1100" b="1" i="0">
                <a:solidFill>
                  <a:srgbClr val="1F4E79"/>
                </a:solidFill>
                <a:latin typeface="Calibri"/>
              </a:rPr>
              <a:t>3 UI screens  •  5-value state machine (read/facts/translate/prove/explain -- translate now universal, HLD v2.12)  •  6-step internal pipeline (above)</a:t>
            </a:r>
          </a:p>
        </p:txBody>
      </p:sp>
      <p:sp>
        <p:nvSpPr>
          <p:cNvPr id="22" name="Rectangle 21"/>
          <p:cNvSpPr/>
          <p:nvPr/>
        </p:nvSpPr>
        <p:spPr>
          <a:xfrm>
            <a:off x="320040" y="2788920"/>
            <a:ext cx="2697480" cy="1188720"/>
          </a:xfrm>
          <a:prstGeom prst="rect">
            <a:avLst/>
          </a:prstGeom>
          <a:solidFill>
            <a:srgbClr val="FFFFFF"/>
          </a:solidFill>
          <a:ln w="1905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80" y="2862072"/>
            <a:ext cx="2514600" cy="320040"/>
          </a:xfrm>
          <a:prstGeom prst="rect">
            <a:avLst/>
          </a:prstGeom>
          <a:noFill/>
        </p:spPr>
        <p:txBody>
          <a:bodyPr wrap="square" anchor="t" lIns="25400" rIns="25400" tIns="25400" bIns="25400">
            <a:spAutoFit/>
          </a:bodyPr>
          <a:lstStyle/>
          <a:p>
            <a:r>
              <a:rPr sz="1300" b="1" i="0">
                <a:solidFill>
                  <a:srgbClr val="1F4E79"/>
                </a:solidFill>
                <a:latin typeface="Calibri"/>
              </a:rPr>
              <a:t>React frontend</a:t>
            </a:r>
          </a:p>
        </p:txBody>
      </p:sp>
      <p:sp>
        <p:nvSpPr>
          <p:cNvPr id="24" name="TextBox 23"/>
          <p:cNvSpPr txBox="1"/>
          <p:nvPr/>
        </p:nvSpPr>
        <p:spPr>
          <a:xfrm>
            <a:off x="411480" y="3200400"/>
            <a:ext cx="2514600" cy="685800"/>
          </a:xfrm>
          <a:prstGeom prst="rect">
            <a:avLst/>
          </a:prstGeom>
          <a:noFill/>
        </p:spPr>
        <p:txBody>
          <a:bodyPr wrap="square" anchor="t" lIns="25400" rIns="25400" tIns="25400" bIns="25400">
            <a:spAutoFit/>
          </a:bodyPr>
          <a:lstStyle/>
          <a:p>
            <a:r>
              <a:rPr sz="1100" b="0" i="0">
                <a:solidFill>
                  <a:srgbClr val="1A1A1A"/>
                </a:solidFill>
                <a:latin typeface="Calibri"/>
              </a:rPr>
              <a:t>Render, post actions,</a:t>
            </a:r>
          </a:p>
          <a:p>
            <a:r>
              <a:rPr sz="1100" b="0" i="0">
                <a:solidFill>
                  <a:srgbClr val="1A1A1A"/>
                </a:solidFill>
                <a:latin typeface="Calibri"/>
              </a:rPr>
              <a:t>persist to localStorage</a:t>
            </a:r>
          </a:p>
        </p:txBody>
      </p:sp>
      <p:sp>
        <p:nvSpPr>
          <p:cNvPr id="25" name="TextBox 24"/>
          <p:cNvSpPr txBox="1"/>
          <p:nvPr/>
        </p:nvSpPr>
        <p:spPr>
          <a:xfrm>
            <a:off x="3017520" y="3154680"/>
            <a:ext cx="182880" cy="457200"/>
          </a:xfrm>
          <a:prstGeom prst="rect">
            <a:avLst/>
          </a:prstGeom>
          <a:noFill/>
        </p:spPr>
        <p:txBody>
          <a:bodyPr wrap="square" anchor="ctr" lIns="25400" rIns="25400" tIns="25400" bIns="25400">
            <a:spAutoFit/>
          </a:bodyPr>
          <a:lstStyle/>
          <a:p>
            <a:pPr algn="ctr"/>
            <a:r>
              <a:rPr sz="1600" b="1" i="0">
                <a:solidFill>
                  <a:srgbClr val="1F4E79"/>
                </a:solidFill>
                <a:latin typeface="Calibri"/>
              </a:rPr>
              <a:t>→</a:t>
            </a:r>
          </a:p>
        </p:txBody>
      </p:sp>
      <p:sp>
        <p:nvSpPr>
          <p:cNvPr id="26" name="Rectangle 25"/>
          <p:cNvSpPr/>
          <p:nvPr/>
        </p:nvSpPr>
        <p:spPr>
          <a:xfrm>
            <a:off x="3200400" y="2788920"/>
            <a:ext cx="2697480" cy="1188720"/>
          </a:xfrm>
          <a:prstGeom prst="rect">
            <a:avLst/>
          </a:prstGeom>
          <a:solidFill>
            <a:srgbClr val="FFFFFF"/>
          </a:solidFill>
          <a:ln w="1905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91840" y="2862072"/>
            <a:ext cx="2514600" cy="320040"/>
          </a:xfrm>
          <a:prstGeom prst="rect">
            <a:avLst/>
          </a:prstGeom>
          <a:noFill/>
        </p:spPr>
        <p:txBody>
          <a:bodyPr wrap="square" anchor="t" lIns="25400" rIns="25400" tIns="25400" bIns="25400">
            <a:spAutoFit/>
          </a:bodyPr>
          <a:lstStyle/>
          <a:p>
            <a:r>
              <a:rPr sz="1300" b="1" i="0">
                <a:solidFill>
                  <a:srgbClr val="1F4E79"/>
                </a:solidFill>
                <a:latin typeface="Calibri"/>
              </a:rPr>
              <a:t>FastAPI (4 endpoints)</a:t>
            </a:r>
          </a:p>
        </p:txBody>
      </p:sp>
      <p:sp>
        <p:nvSpPr>
          <p:cNvPr id="28" name="TextBox 27"/>
          <p:cNvSpPr txBox="1"/>
          <p:nvPr/>
        </p:nvSpPr>
        <p:spPr>
          <a:xfrm>
            <a:off x="3291840" y="3200400"/>
            <a:ext cx="2514600" cy="685800"/>
          </a:xfrm>
          <a:prstGeom prst="rect">
            <a:avLst/>
          </a:prstGeom>
          <a:noFill/>
        </p:spPr>
        <p:txBody>
          <a:bodyPr wrap="square" anchor="t" lIns="25400" rIns="25400" tIns="25400" bIns="25400">
            <a:spAutoFit/>
          </a:bodyPr>
          <a:lstStyle/>
          <a:p>
            <a:r>
              <a:rPr sz="1100" b="0" i="0">
                <a:solidFill>
                  <a:srgbClr val="1A1A1A"/>
                </a:solidFill>
                <a:latin typeface="Calibri"/>
              </a:rPr>
              <a:t>Stateless HTTP adapter:</a:t>
            </a:r>
          </a:p>
          <a:p>
            <a:r>
              <a:rPr sz="1100" b="0" i="0">
                <a:solidFill>
                  <a:srgbClr val="1A1A1A"/>
                </a:solidFill>
                <a:latin typeface="Calibri"/>
              </a:rPr>
              <a:t>parse body, call app, return JSON</a:t>
            </a:r>
          </a:p>
        </p:txBody>
      </p:sp>
      <p:sp>
        <p:nvSpPr>
          <p:cNvPr id="29" name="TextBox 28"/>
          <p:cNvSpPr txBox="1"/>
          <p:nvPr/>
        </p:nvSpPr>
        <p:spPr>
          <a:xfrm>
            <a:off x="5897880" y="3154680"/>
            <a:ext cx="182880" cy="457200"/>
          </a:xfrm>
          <a:prstGeom prst="rect">
            <a:avLst/>
          </a:prstGeom>
          <a:noFill/>
        </p:spPr>
        <p:txBody>
          <a:bodyPr wrap="square" anchor="ctr" lIns="25400" rIns="25400" tIns="25400" bIns="25400">
            <a:spAutoFit/>
          </a:bodyPr>
          <a:lstStyle/>
          <a:p>
            <a:pPr algn="ctr"/>
            <a:r>
              <a:rPr sz="1600" b="1" i="0">
                <a:solidFill>
                  <a:srgbClr val="1F4E79"/>
                </a:solidFill>
                <a:latin typeface="Calibri"/>
              </a:rPr>
              <a:t>→</a:t>
            </a:r>
          </a:p>
        </p:txBody>
      </p:sp>
      <p:sp>
        <p:nvSpPr>
          <p:cNvPr id="30" name="Rectangle 29"/>
          <p:cNvSpPr/>
          <p:nvPr/>
        </p:nvSpPr>
        <p:spPr>
          <a:xfrm>
            <a:off x="6080760" y="2788920"/>
            <a:ext cx="2697480" cy="1188720"/>
          </a:xfrm>
          <a:prstGeom prst="rect">
            <a:avLst/>
          </a:prstGeom>
          <a:solidFill>
            <a:srgbClr val="FFFFFF"/>
          </a:solidFill>
          <a:ln w="1905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72200" y="2862072"/>
            <a:ext cx="2514600" cy="320040"/>
          </a:xfrm>
          <a:prstGeom prst="rect">
            <a:avLst/>
          </a:prstGeom>
          <a:noFill/>
        </p:spPr>
        <p:txBody>
          <a:bodyPr wrap="square" anchor="t" lIns="25400" rIns="25400" tIns="25400" bIns="25400">
            <a:spAutoFit/>
          </a:bodyPr>
          <a:lstStyle/>
          <a:p>
            <a:r>
              <a:rPr sz="1300" b="1" i="0">
                <a:solidFill>
                  <a:srgbClr val="1F4E79"/>
                </a:solidFill>
                <a:latin typeface="Calibri"/>
              </a:rPr>
              <a:t>app/ (shared edge)</a:t>
            </a:r>
          </a:p>
        </p:txBody>
      </p:sp>
      <p:sp>
        <p:nvSpPr>
          <p:cNvPr id="32" name="TextBox 31"/>
          <p:cNvSpPr txBox="1"/>
          <p:nvPr/>
        </p:nvSpPr>
        <p:spPr>
          <a:xfrm>
            <a:off x="6172200" y="3200400"/>
            <a:ext cx="2514600" cy="685800"/>
          </a:xfrm>
          <a:prstGeom prst="rect">
            <a:avLst/>
          </a:prstGeom>
          <a:noFill/>
        </p:spPr>
        <p:txBody>
          <a:bodyPr wrap="square" anchor="t" lIns="25400" rIns="25400" tIns="25400" bIns="25400">
            <a:spAutoFit/>
          </a:bodyPr>
          <a:lstStyle/>
          <a:p>
            <a:r>
              <a:rPr sz="1100" b="0" i="0">
                <a:solidFill>
                  <a:srgbClr val="1A1A1A"/>
                </a:solidFill>
                <a:latin typeface="Calibri"/>
              </a:rPr>
              <a:t>load+validate, prepare,</a:t>
            </a:r>
          </a:p>
          <a:p>
            <a:r>
              <a:rPr sz="1100" b="0" i="0">
                <a:solidFill>
                  <a:srgbClr val="1A1A1A"/>
                </a:solidFill>
                <a:latin typeface="Calibri"/>
              </a:rPr>
              <a:t>render, mint clause ids</a:t>
            </a:r>
          </a:p>
        </p:txBody>
      </p:sp>
      <p:sp>
        <p:nvSpPr>
          <p:cNvPr id="33" name="TextBox 32"/>
          <p:cNvSpPr txBox="1"/>
          <p:nvPr/>
        </p:nvSpPr>
        <p:spPr>
          <a:xfrm>
            <a:off x="8778240" y="3154680"/>
            <a:ext cx="182880" cy="457200"/>
          </a:xfrm>
          <a:prstGeom prst="rect">
            <a:avLst/>
          </a:prstGeom>
          <a:noFill/>
        </p:spPr>
        <p:txBody>
          <a:bodyPr wrap="square" anchor="ctr" lIns="25400" rIns="25400" tIns="25400" bIns="25400">
            <a:spAutoFit/>
          </a:bodyPr>
          <a:lstStyle/>
          <a:p>
            <a:pPr algn="ctr"/>
            <a:r>
              <a:rPr sz="1600" b="1" i="0">
                <a:solidFill>
                  <a:srgbClr val="1F4E79"/>
                </a:solidFill>
                <a:latin typeface="Calibri"/>
              </a:rPr>
              <a:t>→</a:t>
            </a:r>
          </a:p>
        </p:txBody>
      </p:sp>
      <p:sp>
        <p:nvSpPr>
          <p:cNvPr id="34" name="Rectangle 33"/>
          <p:cNvSpPr/>
          <p:nvPr/>
        </p:nvSpPr>
        <p:spPr>
          <a:xfrm>
            <a:off x="8961120" y="2788920"/>
            <a:ext cx="2697480" cy="1188720"/>
          </a:xfrm>
          <a:prstGeom prst="rect">
            <a:avLst/>
          </a:prstGeom>
          <a:solidFill>
            <a:srgbClr val="FFFFFF"/>
          </a:solidFill>
          <a:ln w="1905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052560" y="2862072"/>
            <a:ext cx="2514600" cy="320040"/>
          </a:xfrm>
          <a:prstGeom prst="rect">
            <a:avLst/>
          </a:prstGeom>
          <a:noFill/>
        </p:spPr>
        <p:txBody>
          <a:bodyPr wrap="square" anchor="t" lIns="25400" rIns="25400" tIns="25400" bIns="25400">
            <a:spAutoFit/>
          </a:bodyPr>
          <a:lstStyle/>
          <a:p>
            <a:r>
              <a:rPr sz="1300" b="1" i="0">
                <a:solidFill>
                  <a:srgbClr val="1F4E79"/>
                </a:solidFill>
                <a:latin typeface="Calibri"/>
              </a:rPr>
              <a:t>core/ (15 modules)</a:t>
            </a:r>
          </a:p>
        </p:txBody>
      </p:sp>
      <p:sp>
        <p:nvSpPr>
          <p:cNvPr id="36" name="TextBox 35"/>
          <p:cNvSpPr txBox="1"/>
          <p:nvPr/>
        </p:nvSpPr>
        <p:spPr>
          <a:xfrm>
            <a:off x="9052560" y="3200400"/>
            <a:ext cx="2514600" cy="685800"/>
          </a:xfrm>
          <a:prstGeom prst="rect">
            <a:avLst/>
          </a:prstGeom>
          <a:noFill/>
        </p:spPr>
        <p:txBody>
          <a:bodyPr wrap="square" anchor="t" lIns="25400" rIns="25400" tIns="25400" bIns="25400">
            <a:spAutoFit/>
          </a:bodyPr>
          <a:lstStyle/>
          <a:p>
            <a:r>
              <a:rPr sz="1100" b="0" i="0">
                <a:solidFill>
                  <a:srgbClr val="1A1A1A"/>
                </a:solidFill>
                <a:latin typeface="Calibri"/>
              </a:rPr>
              <a:t>Pure Python, zero web</a:t>
            </a:r>
          </a:p>
          <a:p>
            <a:r>
              <a:rPr sz="1100" b="0" i="0">
                <a:solidFill>
                  <a:srgbClr val="1A1A1A"/>
                </a:solidFill>
                <a:latin typeface="Calibri"/>
              </a:rPr>
              <a:t>imports, 6-stage pipeline</a:t>
            </a:r>
          </a:p>
        </p:txBody>
      </p:sp>
      <p:sp>
        <p:nvSpPr>
          <p:cNvPr id="37" name="TextBox 36"/>
          <p:cNvSpPr txBox="1"/>
          <p:nvPr/>
        </p:nvSpPr>
        <p:spPr>
          <a:xfrm>
            <a:off x="320040" y="4160520"/>
            <a:ext cx="11521440" cy="365760"/>
          </a:xfrm>
          <a:prstGeom prst="rect">
            <a:avLst/>
          </a:prstGeom>
          <a:noFill/>
        </p:spPr>
        <p:txBody>
          <a:bodyPr wrap="square" anchor="t" lIns="25400" rIns="25400" tIns="25400" bIns="25400">
            <a:spAutoFit/>
          </a:bodyPr>
          <a:lstStyle/>
          <a:p>
            <a:r>
              <a:rPr sz="1400" b="1" i="0">
                <a:solidFill>
                  <a:srgbClr val="1F4E79"/>
                </a:solidFill>
                <a:latin typeface="Calibri"/>
              </a:rPr>
              <a:t>Implementation strategy (FACTS.md §9)</a:t>
            </a:r>
          </a:p>
        </p:txBody>
      </p:sp>
      <p:sp>
        <p:nvSpPr>
          <p:cNvPr id="38" name="TextBox 37"/>
          <p:cNvSpPr txBox="1"/>
          <p:nvPr/>
        </p:nvSpPr>
        <p:spPr>
          <a:xfrm>
            <a:off x="320040" y="4526280"/>
            <a:ext cx="5577840" cy="1920240"/>
          </a:xfrm>
          <a:prstGeom prst="rect">
            <a:avLst/>
          </a:prstGeom>
          <a:noFill/>
        </p:spPr>
        <p:txBody>
          <a:bodyPr wrap="square" anchor="t" lIns="25400" rIns="25400" tIns="25400" bIns="25400">
            <a:spAutoFit/>
          </a:bodyPr>
          <a:lstStyle/>
          <a:p>
            <a:pPr>
              <a:spcAft>
                <a:spcPts val="800"/>
              </a:spcAft>
            </a:pPr>
            <a:r>
              <a:rPr sz="1200" b="0" i="0">
                <a:solidFill>
                  <a:srgbClr val="1A1A1A"/>
                </a:solidFill>
                <a:latin typeface="Calibri"/>
              </a:rPr>
              <a:t>• core/ imports nothing outside the standard library -- unit-testable from literals.</a:t>
            </a:r>
          </a:p>
          <a:p>
            <a:pPr>
              <a:spcAft>
                <a:spcPts val="800"/>
              </a:spcAft>
            </a:pPr>
            <a:r>
              <a:rPr sz="1200" b="0" i="0">
                <a:solidFill>
                  <a:srgbClr val="1A1A1A"/>
                </a:solidFill>
                <a:latin typeface="Calibri"/>
              </a:rPr>
              <a:t>• app/ is the only layer allowed to read a data file, validated at startup.</a:t>
            </a:r>
          </a:p>
          <a:p>
            <a:pPr>
              <a:spcAft>
                <a:spcPts val="800"/>
              </a:spcAft>
            </a:pPr>
            <a:r>
              <a:rPr sz="1200" b="0" i="0">
                <a:solidFill>
                  <a:srgbClr val="1A1A1A"/>
                </a:solidFill>
                <a:latin typeface="Calibri"/>
              </a:rPr>
              <a:t>• api/ and cli.py are thin adapters: zero logic, zero wording of their own.</a:t>
            </a:r>
          </a:p>
          <a:p>
            <a:pPr>
              <a:spcAft>
                <a:spcPts val="800"/>
              </a:spcAft>
            </a:pPr>
            <a:r>
              <a:rPr sz="1200" b="0" i="0">
                <a:solidFill>
                  <a:srgbClr val="1A1A1A"/>
                </a:solidFill>
                <a:latin typeface="Calibri"/>
              </a:rPr>
              <a:t>• frontend/src reads state.stage directly -- no client-side copy of the stage.</a:t>
            </a:r>
          </a:p>
        </p:txBody>
      </p:sp>
      <p:sp>
        <p:nvSpPr>
          <p:cNvPr id="39" name="TextBox 38"/>
          <p:cNvSpPr txBox="1"/>
          <p:nvPr/>
        </p:nvSpPr>
        <p:spPr>
          <a:xfrm>
            <a:off x="6172200" y="4160520"/>
            <a:ext cx="5669280" cy="365760"/>
          </a:xfrm>
          <a:prstGeom prst="rect">
            <a:avLst/>
          </a:prstGeom>
          <a:noFill/>
        </p:spPr>
        <p:txBody>
          <a:bodyPr wrap="square" anchor="t" lIns="25400" rIns="25400" tIns="25400" bIns="25400">
            <a:spAutoFit/>
          </a:bodyPr>
          <a:lstStyle/>
          <a:p>
            <a:r>
              <a:rPr sz="1400" b="1" i="0">
                <a:solidFill>
                  <a:srgbClr val="1F4E79"/>
                </a:solidFill>
                <a:latin typeface="Calibri"/>
              </a:rPr>
              <a:t>Added 2026-10-25 (FACTS.md §2)</a:t>
            </a:r>
          </a:p>
        </p:txBody>
      </p:sp>
      <p:sp>
        <p:nvSpPr>
          <p:cNvPr id="40" name="TextBox 39"/>
          <p:cNvSpPr txBox="1"/>
          <p:nvPr/>
        </p:nvSpPr>
        <p:spPr>
          <a:xfrm>
            <a:off x="6172200" y="4526280"/>
            <a:ext cx="5669280" cy="1920240"/>
          </a:xfrm>
          <a:prstGeom prst="rect">
            <a:avLst/>
          </a:prstGeom>
          <a:noFill/>
        </p:spPr>
        <p:txBody>
          <a:bodyPr wrap="square" anchor="t" lIns="25400" rIns="25400" tIns="25400" bIns="25400">
            <a:spAutoFit/>
          </a:bodyPr>
          <a:lstStyle/>
          <a:p>
            <a:pPr>
              <a:spcAft>
                <a:spcPts val="800"/>
              </a:spcAft>
            </a:pPr>
            <a:r>
              <a:rPr sz="1200" b="0" i="0">
                <a:solidFill>
                  <a:srgbClr val="1A1A1A"/>
                </a:solidFill>
                <a:latin typeface="Calibri"/>
              </a:rPr>
              <a:t>• 8 new grammar phrases (HLD v2.13): necessary/sufficient-for, implies, not-both, whenever, provided/given-that, otherwise.</a:t>
            </a:r>
          </a:p>
          <a:p>
            <a:pPr>
              <a:spcAft>
                <a:spcPts val="800"/>
              </a:spcAft>
            </a:pPr>
            <a:r>
              <a:rPr sz="1200" b="0" i="0">
                <a:solidFill>
                  <a:srgbClr val="1A1A1A"/>
                </a:solidFill>
                <a:latin typeface="Calibri"/>
              </a:rPr>
              <a:t>• Prove screen: symbol legend + per-clause plain-English rendering (clause_english).</a:t>
            </a:r>
          </a:p>
          <a:p>
            <a:pPr>
              <a:spcAft>
                <a:spcPts val="800"/>
              </a:spcAft>
            </a:pPr>
            <a:r>
              <a:rPr sz="1200" b="0" i="0">
                <a:solidFill>
                  <a:srgbClr val="1A1A1A"/>
                </a:solidFill>
                <a:latin typeface="Calibri"/>
              </a:rPr>
              <a:t>• All 3 stage tabs independently browsable -- view-only, never calls the API.</a:t>
            </a:r>
          </a:p>
          <a:p>
            <a:pPr>
              <a:spcAft>
                <a:spcPts val="800"/>
              </a:spcAft>
            </a:pPr>
            <a:r>
              <a:rPr sz="1200" b="0" i="0">
                <a:solidFill>
                  <a:srgbClr val="1A1A1A"/>
                </a:solidFill>
                <a:latin typeface="Calibri"/>
              </a:rPr>
              <a:t>• A Back button beside the tabs, same view-only navigation.</a:t>
            </a:r>
          </a:p>
        </p:txBody>
      </p:sp>
      <p:sp>
        <p:nvSpPr>
          <p:cNvPr id="41" name="TextBox 40"/>
          <p:cNvSpPr txBox="1"/>
          <p:nvPr/>
        </p:nvSpPr>
        <p:spPr>
          <a:xfrm>
            <a:off x="274320" y="6537960"/>
            <a:ext cx="3657600" cy="274320"/>
          </a:xfrm>
          <a:prstGeom prst="rect">
            <a:avLst/>
          </a:prstGeom>
          <a:noFill/>
        </p:spPr>
        <p:txBody>
          <a:bodyPr wrap="square" anchor="t" lIns="25400" rIns="25400" tIns="25400" bIns="25400">
            <a:spAutoFit/>
          </a:bodyPr>
          <a:lstStyle/>
          <a:p>
            <a:r>
              <a:rPr sz="1000" b="0" i="0">
                <a:solidFill>
                  <a:srgbClr val="666666"/>
                </a:solidFill>
                <a:latin typeface="Calibri"/>
              </a:rPr>
              <a:t>ProofPilot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30000" cy="548640"/>
          </a:xfrm>
          <a:prstGeom prst="rect">
            <a:avLst/>
          </a:prstGeom>
          <a:noFill/>
        </p:spPr>
        <p:txBody>
          <a:bodyPr wrap="square" anchor="t" lIns="25400" rIns="25400" tIns="25400" bIns="25400">
            <a:spAutoFit/>
          </a:bodyPr>
          <a:lstStyle/>
          <a:p>
            <a:r>
              <a:rPr sz="2600" b="1" i="0">
                <a:solidFill>
                  <a:srgbClr val="FFFFFF"/>
                </a:solidFill>
                <a:latin typeface="Calibri"/>
              </a:rPr>
              <a:t>5. Methodology: Algorithms and Syllabus Mapping</a:t>
            </a:r>
          </a:p>
        </p:txBody>
      </p:sp>
      <p:graphicFrame>
        <p:nvGraphicFramePr>
          <p:cNvPr id="4" name="Table 3"/>
          <p:cNvGraphicFramePr>
            <a:graphicFrameLocks noGrp="1"/>
          </p:cNvGraphicFramePr>
          <p:nvPr/>
        </p:nvGraphicFramePr>
        <p:xfrm>
          <a:off x="274320" y="1097280"/>
          <a:ext cx="11612880" cy="2377440"/>
        </p:xfrm>
        <a:graphic>
          <a:graphicData uri="http://schemas.openxmlformats.org/drawingml/2006/table">
            <a:tbl>
              <a:tblPr firstRow="1" bandRow="1">
                <a:tableStyleId>{5C22544A-7EE6-4342-B048-85BDC9FD1C3A}</a:tableStyleId>
              </a:tblPr>
              <a:tblGrid>
                <a:gridCol w="2103120"/>
                <a:gridCol w="6766560"/>
                <a:gridCol w="2743200"/>
              </a:tblGrid>
              <a:tr h="475488">
                <a:tc>
                  <a:txBody>
                    <a:bodyPr wrap="square"/>
                    <a:lstStyle/>
                    <a:p>
                      <a:pPr algn="l"/>
                      <a:r>
                        <a:rPr sz="1300" b="1" i="0">
                          <a:solidFill>
                            <a:srgbClr val="FFFFFF"/>
                          </a:solidFill>
                          <a:latin typeface="Calibri"/>
                        </a:rPr>
                        <a:t>Component</a:t>
                      </a:r>
                    </a:p>
                  </a:txBody>
                  <a:tcPr marL="50800" marR="50800" marT="25400" marB="25400" anchor="ctr">
                    <a:solidFill>
                      <a:srgbClr val="1F4E79"/>
                    </a:solidFill>
                  </a:tcPr>
                </a:tc>
                <a:tc>
                  <a:txBody>
                    <a:bodyPr wrap="square"/>
                    <a:lstStyle/>
                    <a:p>
                      <a:pPr algn="l"/>
                      <a:r>
                        <a:rPr sz="1300" b="1" i="0">
                          <a:solidFill>
                            <a:srgbClr val="FFFFFF"/>
                          </a:solidFill>
                          <a:latin typeface="Calibri"/>
                        </a:rPr>
                        <a:t>Algorithm</a:t>
                      </a:r>
                    </a:p>
                  </a:txBody>
                  <a:tcPr marL="50800" marR="50800" marT="25400" marB="25400" anchor="ctr">
                    <a:solidFill>
                      <a:srgbClr val="1F4E79"/>
                    </a:solidFill>
                  </a:tcPr>
                </a:tc>
                <a:tc>
                  <a:txBody>
                    <a:bodyPr wrap="square"/>
                    <a:lstStyle/>
                    <a:p>
                      <a:pPr algn="l"/>
                      <a:r>
                        <a:rPr sz="1300" b="1" i="0">
                          <a:solidFill>
                            <a:srgbClr val="FFFFFF"/>
                          </a:solidFill>
                          <a:latin typeface="Calibri"/>
                        </a:rPr>
                        <a:t>Module(s)</a:t>
                      </a:r>
                    </a:p>
                  </a:txBody>
                  <a:tcPr marL="50800" marR="50800" marT="25400" marB="25400" anchor="ctr">
                    <a:solidFill>
                      <a:srgbClr val="1F4E79"/>
                    </a:solidFill>
                  </a:tcPr>
                </a:tc>
              </a:tr>
              <a:tr h="475488">
                <a:tc>
                  <a:txBody>
                    <a:bodyPr wrap="square"/>
                    <a:lstStyle/>
                    <a:p>
                      <a:pPr algn="l"/>
                      <a:r>
                        <a:rPr sz="1200" b="1" i="0">
                          <a:solidFill>
                            <a:srgbClr val="1F4E79"/>
                          </a:solidFill>
                          <a:latin typeface="Calibri"/>
                        </a:rPr>
                        <a:t>Parsing</a:t>
                      </a:r>
                    </a:p>
                  </a:txBody>
                  <a:tcPr marL="50800" marR="50800" marT="25400" marB="25400" anchor="ctr">
                    <a:solidFill>
                      <a:srgbClr val="FFFFFF"/>
                    </a:solidFill>
                  </a:tcPr>
                </a:tc>
                <a:tc>
                  <a:txBody>
                    <a:bodyPr wrap="square"/>
                    <a:lstStyle/>
                    <a:p>
                      <a:pPr algn="l"/>
                      <a:r>
                        <a:rPr sz="1150" b="0" i="0">
                          <a:solidFill>
                            <a:srgbClr val="1A1A1A"/>
                          </a:solidFill>
                          <a:latin typeface="Calibri"/>
                        </a:rPr>
                        <a:t>Controlled-grammar keyword scan → AST → clauses (textbook 3-step CNF algorithm)</a:t>
                      </a:r>
                    </a:p>
                  </a:txBody>
                  <a:tcPr marL="50800" marR="50800" marT="25400" marB="25400" anchor="ctr">
                    <a:solidFill>
                      <a:srgbClr val="FFFFFF"/>
                    </a:solidFill>
                  </a:tcPr>
                </a:tc>
                <a:tc>
                  <a:txBody>
                    <a:bodyPr wrap="square"/>
                    <a:lstStyle/>
                    <a:p>
                      <a:pPr algn="l"/>
                      <a:r>
                        <a:rPr sz="1150" b="0" i="0">
                          <a:solidFill>
                            <a:srgbClr val="1A1A1A"/>
                          </a:solidFill>
                          <a:latin typeface="Calibri"/>
                        </a:rPr>
                        <a:t>core/english.py, core/cnf.py</a:t>
                      </a:r>
                    </a:p>
                  </a:txBody>
                  <a:tcPr marL="50800" marR="50800" marT="25400" marB="25400" anchor="ctr">
                    <a:solidFill>
                      <a:srgbClr val="FFFFFF"/>
                    </a:solidFill>
                  </a:tcPr>
                </a:tc>
              </a:tr>
              <a:tr h="475488">
                <a:tc>
                  <a:txBody>
                    <a:bodyPr wrap="square"/>
                    <a:lstStyle/>
                    <a:p>
                      <a:pPr algn="l"/>
                      <a:r>
                        <a:rPr sz="1200" b="1" i="0">
                          <a:solidFill>
                            <a:srgbClr val="1F4E79"/>
                          </a:solidFill>
                          <a:latin typeface="Calibri"/>
                        </a:rPr>
                        <a:t>Entailment</a:t>
                      </a:r>
                    </a:p>
                  </a:txBody>
                  <a:tcPr marL="50800" marR="50800" marT="25400" marB="25400" anchor="ctr">
                    <a:solidFill>
                      <a:srgbClr val="F2F2F2"/>
                    </a:solidFill>
                  </a:tcPr>
                </a:tc>
                <a:tc>
                  <a:txBody>
                    <a:bodyPr wrap="square"/>
                    <a:lstStyle/>
                    <a:p>
                      <a:pPr algn="l"/>
                      <a:r>
                        <a:rPr sz="1150" b="0" i="0">
                          <a:solidFill>
                            <a:srgbClr val="1A1A1A"/>
                          </a:solidFill>
                          <a:latin typeface="Calibri"/>
                        </a:rPr>
                        <a:t>Truth-table enumeration, cross-checked against resolution (940/940 agreement)</a:t>
                      </a:r>
                    </a:p>
                  </a:txBody>
                  <a:tcPr marL="50800" marR="50800" marT="25400" marB="25400" anchor="ctr">
                    <a:solidFill>
                      <a:srgbClr val="F2F2F2"/>
                    </a:solidFill>
                  </a:tcPr>
                </a:tc>
                <a:tc>
                  <a:txBody>
                    <a:bodyPr wrap="square"/>
                    <a:lstStyle/>
                    <a:p>
                      <a:pPr algn="l"/>
                      <a:r>
                        <a:rPr sz="1150" b="0" i="0">
                          <a:solidFill>
                            <a:srgbClr val="1A1A1A"/>
                          </a:solidFill>
                          <a:latin typeface="Calibri"/>
                        </a:rPr>
                        <a:t>core/entail.py</a:t>
                      </a:r>
                    </a:p>
                  </a:txBody>
                  <a:tcPr marL="50800" marR="50800" marT="25400" marB="25400" anchor="ctr">
                    <a:solidFill>
                      <a:srgbClr val="F2F2F2"/>
                    </a:solidFill>
                  </a:tcPr>
                </a:tc>
              </a:tr>
              <a:tr h="475488">
                <a:tc>
                  <a:txBody>
                    <a:bodyPr wrap="square"/>
                    <a:lstStyle/>
                    <a:p>
                      <a:pPr algn="l"/>
                      <a:r>
                        <a:rPr sz="1200" b="1" i="0">
                          <a:solidFill>
                            <a:srgbClr val="1F4E79"/>
                          </a:solidFill>
                          <a:latin typeface="Calibri"/>
                        </a:rPr>
                        <a:t>Proof search</a:t>
                      </a:r>
                    </a:p>
                  </a:txBody>
                  <a:tcPr marL="50800" marR="50800" marT="25400" marB="25400" anchor="ctr">
                    <a:solidFill>
                      <a:srgbClr val="FFFFFF"/>
                    </a:solidFill>
                  </a:tcPr>
                </a:tc>
                <a:tc>
                  <a:txBody>
                    <a:bodyPr wrap="square"/>
                    <a:lstStyle/>
                    <a:p>
                      <a:pPr algn="l"/>
                      <a:r>
                        <a:rPr sz="1150" b="0" i="0">
                          <a:solidFill>
                            <a:srgbClr val="1A1A1A"/>
                          </a:solidFill>
                          <a:latin typeface="Calibri"/>
                        </a:rPr>
                        <a:t>Exact breadth-first search over clause sets, bounded work budget, rule-based fallback</a:t>
                      </a:r>
                    </a:p>
                  </a:txBody>
                  <a:tcPr marL="50800" marR="50800" marT="25400" marB="25400" anchor="ctr">
                    <a:solidFill>
                      <a:srgbClr val="FFFFFF"/>
                    </a:solidFill>
                  </a:tcPr>
                </a:tc>
                <a:tc>
                  <a:txBody>
                    <a:bodyPr wrap="square"/>
                    <a:lstStyle/>
                    <a:p>
                      <a:pPr algn="l"/>
                      <a:r>
                        <a:rPr sz="1150" b="0" i="0">
                          <a:solidFill>
                            <a:srgbClr val="1A1A1A"/>
                          </a:solidFill>
                          <a:latin typeface="Calibri"/>
                        </a:rPr>
                        <a:t>core/search.py</a:t>
                      </a:r>
                    </a:p>
                  </a:txBody>
                  <a:tcPr marL="50800" marR="50800" marT="25400" marB="25400" anchor="ctr">
                    <a:solidFill>
                      <a:srgbClr val="FFFFFF"/>
                    </a:solidFill>
                  </a:tcPr>
                </a:tc>
              </a:tr>
              <a:tr h="475488">
                <a:tc>
                  <a:txBody>
                    <a:bodyPr wrap="square"/>
                    <a:lstStyle/>
                    <a:p>
                      <a:pPr algn="l"/>
                      <a:r>
                        <a:rPr sz="1200" b="1" i="0">
                          <a:solidFill>
                            <a:srgbClr val="1F4E79"/>
                          </a:solidFill>
                          <a:latin typeface="Calibri"/>
                        </a:rPr>
                        <a:t>Mastery tracking</a:t>
                      </a:r>
                    </a:p>
                  </a:txBody>
                  <a:tcPr marL="50800" marR="50800" marT="25400" marB="25400" anchor="ctr">
                    <a:solidFill>
                      <a:srgbClr val="F2F2F2"/>
                    </a:solidFill>
                  </a:tcPr>
                </a:tc>
                <a:tc>
                  <a:txBody>
                    <a:bodyPr wrap="square"/>
                    <a:lstStyle/>
                    <a:p>
                      <a:pPr algn="l"/>
                      <a:r>
                        <a:rPr sz="1150" b="0" i="0">
                          <a:solidFill>
                            <a:srgbClr val="1A1A1A"/>
                          </a:solidFill>
                          <a:latin typeface="Calibri"/>
                        </a:rPr>
                        <a:t>Single-skill Bayesian Knowledge Tracing, 3 skills (CLASH, RESOLVE, STRATEGY)</a:t>
                      </a:r>
                    </a:p>
                  </a:txBody>
                  <a:tcPr marL="50800" marR="50800" marT="25400" marB="25400" anchor="ctr">
                    <a:solidFill>
                      <a:srgbClr val="F2F2F2"/>
                    </a:solidFill>
                  </a:tcPr>
                </a:tc>
                <a:tc>
                  <a:txBody>
                    <a:bodyPr wrap="square"/>
                    <a:lstStyle/>
                    <a:p>
                      <a:pPr algn="l"/>
                      <a:r>
                        <a:rPr sz="1150" b="0" i="0">
                          <a:solidFill>
                            <a:srgbClr val="1A1A1A"/>
                          </a:solidFill>
                          <a:latin typeface="Calibri"/>
                        </a:rPr>
                        <a:t>core/bkt.py</a:t>
                      </a:r>
                    </a:p>
                  </a:txBody>
                  <a:tcPr marL="50800" marR="50800" marT="25400" marB="25400" anchor="ctr">
                    <a:solidFill>
                      <a:srgbClr val="F2F2F2"/>
                    </a:solidFill>
                  </a:tcPr>
                </a:tc>
              </a:tr>
            </a:tbl>
          </a:graphicData>
        </a:graphic>
      </p:graphicFrame>
      <p:sp>
        <p:nvSpPr>
          <p:cNvPr id="5" name="TextBox 4"/>
          <p:cNvSpPr txBox="1"/>
          <p:nvPr/>
        </p:nvSpPr>
        <p:spPr>
          <a:xfrm>
            <a:off x="274320" y="3703320"/>
            <a:ext cx="11521440" cy="365760"/>
          </a:xfrm>
          <a:prstGeom prst="rect">
            <a:avLst/>
          </a:prstGeom>
          <a:noFill/>
        </p:spPr>
        <p:txBody>
          <a:bodyPr wrap="square" anchor="t" lIns="25400" rIns="25400" tIns="25400" bIns="25400">
            <a:spAutoFit/>
          </a:bodyPr>
          <a:lstStyle/>
          <a:p>
            <a:r>
              <a:rPr sz="1400" b="1" i="0">
                <a:solidFill>
                  <a:srgbClr val="1F4E79"/>
                </a:solidFill>
                <a:latin typeface="Calibri"/>
              </a:rPr>
              <a:t>Syllabus-unit mapping (README.md, verbatim)</a:t>
            </a:r>
          </a:p>
        </p:txBody>
      </p:sp>
      <p:graphicFrame>
        <p:nvGraphicFramePr>
          <p:cNvPr id="6" name="Table 5"/>
          <p:cNvGraphicFramePr>
            <a:graphicFrameLocks noGrp="1"/>
          </p:cNvGraphicFramePr>
          <p:nvPr/>
        </p:nvGraphicFramePr>
        <p:xfrm>
          <a:off x="274320" y="4114800"/>
          <a:ext cx="11612880" cy="1828800"/>
        </p:xfrm>
        <a:graphic>
          <a:graphicData uri="http://schemas.openxmlformats.org/drawingml/2006/table">
            <a:tbl>
              <a:tblPr firstRow="1" bandRow="1">
                <a:tableStyleId>{5C22544A-7EE6-4342-B048-85BDC9FD1C3A}</a:tableStyleId>
              </a:tblPr>
              <a:tblGrid>
                <a:gridCol w="2926080"/>
                <a:gridCol w="5029200"/>
                <a:gridCol w="3657600"/>
              </a:tblGrid>
              <a:tr h="457200">
                <a:tc>
                  <a:txBody>
                    <a:bodyPr wrap="square"/>
                    <a:lstStyle/>
                    <a:p>
                      <a:pPr algn="l"/>
                      <a:r>
                        <a:rPr sz="1300" b="1" i="0">
                          <a:solidFill>
                            <a:srgbClr val="FFFFFF"/>
                          </a:solidFill>
                          <a:latin typeface="Calibri"/>
                        </a:rPr>
                        <a:t>Syllabus unit</a:t>
                      </a:r>
                    </a:p>
                  </a:txBody>
                  <a:tcPr marL="50800" marR="50800" marT="25400" marB="25400" anchor="ctr">
                    <a:solidFill>
                      <a:srgbClr val="1F4E79"/>
                    </a:solidFill>
                  </a:tcPr>
                </a:tc>
                <a:tc>
                  <a:txBody>
                    <a:bodyPr wrap="square"/>
                    <a:lstStyle/>
                    <a:p>
                      <a:pPr algn="l"/>
                      <a:r>
                        <a:rPr sz="1300" b="1" i="0">
                          <a:solidFill>
                            <a:srgbClr val="FFFFFF"/>
                          </a:solidFill>
                          <a:latin typeface="Calibri"/>
                        </a:rPr>
                        <a:t>Topic</a:t>
                      </a:r>
                    </a:p>
                  </a:txBody>
                  <a:tcPr marL="50800" marR="50800" marT="25400" marB="25400" anchor="ctr">
                    <a:solidFill>
                      <a:srgbClr val="1F4E79"/>
                    </a:solidFill>
                  </a:tcPr>
                </a:tc>
                <a:tc>
                  <a:txBody>
                    <a:bodyPr wrap="square"/>
                    <a:lstStyle/>
                    <a:p>
                      <a:pPr algn="l"/>
                      <a:r>
                        <a:rPr sz="1300" b="1" i="0">
                          <a:solidFill>
                            <a:srgbClr val="FFFFFF"/>
                          </a:solidFill>
                          <a:latin typeface="Calibri"/>
                        </a:rPr>
                        <a:t>Where implemented</a:t>
                      </a:r>
                    </a:p>
                  </a:txBody>
                  <a:tcPr marL="50800" marR="50800" marT="25400" marB="25400" anchor="ctr">
                    <a:solidFill>
                      <a:srgbClr val="1F4E79"/>
                    </a:solidFill>
                  </a:tcPr>
                </a:tc>
              </a:tr>
              <a:tr h="457200">
                <a:tc>
                  <a:txBody>
                    <a:bodyPr wrap="square"/>
                    <a:lstStyle/>
                    <a:p>
                      <a:pPr algn="l"/>
                      <a:r>
                        <a:rPr sz="1250" b="1" i="0">
                          <a:solidFill>
                            <a:srgbClr val="1F4E79"/>
                          </a:solidFill>
                          <a:latin typeface="Calibri"/>
                        </a:rPr>
                        <a:t>Unit 2 — Search</a:t>
                      </a:r>
                    </a:p>
                  </a:txBody>
                  <a:tcPr marL="50800" marR="50800" marT="25400" marB="25400" anchor="ctr">
                    <a:solidFill>
                      <a:srgbClr val="FFFFFF"/>
                    </a:solidFill>
                  </a:tcPr>
                </a:tc>
                <a:tc>
                  <a:txBody>
                    <a:bodyPr wrap="square"/>
                    <a:lstStyle/>
                    <a:p>
                      <a:pPr algn="l"/>
                      <a:r>
                        <a:rPr sz="1250" b="0" i="0">
                          <a:solidFill>
                            <a:srgbClr val="1A1A1A"/>
                          </a:solidFill>
                          <a:latin typeface="Calibri"/>
                        </a:rPr>
                        <a:t>Breadth-first search</a:t>
                      </a:r>
                    </a:p>
                  </a:txBody>
                  <a:tcPr marL="50800" marR="50800" marT="25400" marB="25400" anchor="ctr">
                    <a:solidFill>
                      <a:srgbClr val="FFFFFF"/>
                    </a:solidFill>
                  </a:tcPr>
                </a:tc>
                <a:tc>
                  <a:txBody>
                    <a:bodyPr wrap="square"/>
                    <a:lstStyle/>
                    <a:p>
                      <a:pPr algn="l"/>
                      <a:r>
                        <a:rPr sz="1250" b="0" i="0">
                          <a:solidFill>
                            <a:srgbClr val="1A1A1A"/>
                          </a:solidFill>
                          <a:latin typeface="Calibri"/>
                        </a:rPr>
                        <a:t>core/search.py</a:t>
                      </a:r>
                    </a:p>
                  </a:txBody>
                  <a:tcPr marL="50800" marR="50800" marT="25400" marB="25400" anchor="ctr">
                    <a:solidFill>
                      <a:srgbClr val="FFFFFF"/>
                    </a:solidFill>
                  </a:tcPr>
                </a:tc>
              </a:tr>
              <a:tr h="457200">
                <a:tc>
                  <a:txBody>
                    <a:bodyPr wrap="square"/>
                    <a:lstStyle/>
                    <a:p>
                      <a:pPr algn="l"/>
                      <a:r>
                        <a:rPr sz="1250" b="1" i="0">
                          <a:solidFill>
                            <a:srgbClr val="1F4E79"/>
                          </a:solidFill>
                          <a:latin typeface="Calibri"/>
                        </a:rPr>
                        <a:t>Unit 4 — Logic</a:t>
                      </a:r>
                    </a:p>
                  </a:txBody>
                  <a:tcPr marL="50800" marR="50800" marT="25400" marB="25400" anchor="ctr">
                    <a:solidFill>
                      <a:srgbClr val="F2F2F2"/>
                    </a:solidFill>
                  </a:tcPr>
                </a:tc>
                <a:tc>
                  <a:txBody>
                    <a:bodyPr wrap="square"/>
                    <a:lstStyle/>
                    <a:p>
                      <a:pPr algn="l"/>
                      <a:r>
                        <a:rPr sz="1250" b="0" i="0">
                          <a:solidFill>
                            <a:srgbClr val="1A1A1A"/>
                          </a:solidFill>
                          <a:latin typeface="Calibri"/>
                        </a:rPr>
                        <a:t>Resolution, refutation</a:t>
                      </a:r>
                    </a:p>
                  </a:txBody>
                  <a:tcPr marL="50800" marR="50800" marT="25400" marB="25400" anchor="ctr">
                    <a:solidFill>
                      <a:srgbClr val="F2F2F2"/>
                    </a:solidFill>
                  </a:tcPr>
                </a:tc>
                <a:tc>
                  <a:txBody>
                    <a:bodyPr wrap="square"/>
                    <a:lstStyle/>
                    <a:p>
                      <a:pPr algn="l"/>
                      <a:r>
                        <a:rPr sz="1250" b="0" i="0">
                          <a:solidFill>
                            <a:srgbClr val="1A1A1A"/>
                          </a:solidFill>
                          <a:latin typeface="Calibri"/>
                        </a:rPr>
                        <a:t>core/logic.py, core/cnf.py</a:t>
                      </a:r>
                    </a:p>
                  </a:txBody>
                  <a:tcPr marL="50800" marR="50800" marT="25400" marB="25400" anchor="ctr">
                    <a:solidFill>
                      <a:srgbClr val="F2F2F2"/>
                    </a:solidFill>
                  </a:tcPr>
                </a:tc>
              </a:tr>
              <a:tr h="457200">
                <a:tc>
                  <a:txBody>
                    <a:bodyPr wrap="square"/>
                    <a:lstStyle/>
                    <a:p>
                      <a:pPr algn="l"/>
                      <a:r>
                        <a:rPr sz="1250" b="1" i="0">
                          <a:solidFill>
                            <a:srgbClr val="1F4E79"/>
                          </a:solidFill>
                          <a:latin typeface="Calibri"/>
                        </a:rPr>
                        <a:t>Unit 5 — Uncertainty</a:t>
                      </a:r>
                    </a:p>
                  </a:txBody>
                  <a:tcPr marL="50800" marR="50800" marT="25400" marB="25400" anchor="ctr">
                    <a:solidFill>
                      <a:srgbClr val="FFFFFF"/>
                    </a:solidFill>
                  </a:tcPr>
                </a:tc>
                <a:tc>
                  <a:txBody>
                    <a:bodyPr wrap="square"/>
                    <a:lstStyle/>
                    <a:p>
                      <a:pPr algn="l"/>
                      <a:r>
                        <a:rPr sz="1250" b="0" i="0">
                          <a:solidFill>
                            <a:srgbClr val="1A1A1A"/>
                          </a:solidFill>
                          <a:latin typeface="Calibri"/>
                        </a:rPr>
                        <a:t>Bayes' rule, Bayesian Knowledge Tracing</a:t>
                      </a:r>
                    </a:p>
                  </a:txBody>
                  <a:tcPr marL="50800" marR="50800" marT="25400" marB="25400" anchor="ctr">
                    <a:solidFill>
                      <a:srgbClr val="FFFFFF"/>
                    </a:solidFill>
                  </a:tcPr>
                </a:tc>
                <a:tc>
                  <a:txBody>
                    <a:bodyPr wrap="square"/>
                    <a:lstStyle/>
                    <a:p>
                      <a:pPr algn="l"/>
                      <a:r>
                        <a:rPr sz="1250" b="0" i="0">
                          <a:solidFill>
                            <a:srgbClr val="1A1A1A"/>
                          </a:solidFill>
                          <a:latin typeface="Calibri"/>
                        </a:rPr>
                        <a:t>core/bkt.py</a:t>
                      </a:r>
                    </a:p>
                  </a:txBody>
                  <a:tcPr marL="50800" marR="50800" marT="25400" marB="25400" anchor="ctr">
                    <a:solidFill>
                      <a:srgbClr val="FFFFFF"/>
                    </a:solidFill>
                  </a:tcPr>
                </a:tc>
              </a:tr>
            </a:tbl>
          </a:graphicData>
        </a:graphic>
      </p:graphicFrame>
      <p:sp>
        <p:nvSpPr>
          <p:cNvPr id="7" name="TextBox 6"/>
          <p:cNvSpPr txBox="1"/>
          <p:nvPr/>
        </p:nvSpPr>
        <p:spPr>
          <a:xfrm>
            <a:off x="274320" y="6537960"/>
            <a:ext cx="3657600" cy="274320"/>
          </a:xfrm>
          <a:prstGeom prst="rect">
            <a:avLst/>
          </a:prstGeom>
          <a:noFill/>
        </p:spPr>
        <p:txBody>
          <a:bodyPr wrap="square" anchor="t" lIns="25400" rIns="25400" tIns="25400" bIns="25400">
            <a:spAutoFit/>
          </a:bodyPr>
          <a:lstStyle/>
          <a:p>
            <a:r>
              <a:rPr sz="1000" b="0" i="0">
                <a:solidFill>
                  <a:srgbClr val="666666"/>
                </a:solidFill>
                <a:latin typeface="Calibri"/>
              </a:rPr>
              <a:t>ProofPilot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30000" cy="548640"/>
          </a:xfrm>
          <a:prstGeom prst="rect">
            <a:avLst/>
          </a:prstGeom>
          <a:noFill/>
        </p:spPr>
        <p:txBody>
          <a:bodyPr wrap="square" anchor="t" lIns="25400" rIns="25400" tIns="25400" bIns="25400">
            <a:spAutoFit/>
          </a:bodyPr>
          <a:lstStyle/>
          <a:p>
            <a:r>
              <a:rPr sz="2600" b="1" i="0">
                <a:solidFill>
                  <a:srgbClr val="FFFFFF"/>
                </a:solidFill>
                <a:latin typeface="Calibri"/>
              </a:rPr>
              <a:t>6. Code Repository and Build Record</a:t>
            </a:r>
          </a:p>
        </p:txBody>
      </p:sp>
      <p:graphicFrame>
        <p:nvGraphicFramePr>
          <p:cNvPr id="4" name="Table 3"/>
          <p:cNvGraphicFramePr>
            <a:graphicFrameLocks noGrp="1"/>
          </p:cNvGraphicFramePr>
          <p:nvPr/>
        </p:nvGraphicFramePr>
        <p:xfrm>
          <a:off x="274320" y="1188720"/>
          <a:ext cx="11612880" cy="4160520"/>
        </p:xfrm>
        <a:graphic>
          <a:graphicData uri="http://schemas.openxmlformats.org/drawingml/2006/table">
            <a:tbl>
              <a:tblPr firstRow="1" bandRow="1">
                <a:tableStyleId>{5C22544A-7EE6-4342-B048-85BDC9FD1C3A}</a:tableStyleId>
              </a:tblPr>
              <a:tblGrid>
                <a:gridCol w="3566160"/>
                <a:gridCol w="8046720"/>
              </a:tblGrid>
              <a:tr h="416052">
                <a:tc>
                  <a:txBody>
                    <a:bodyPr wrap="square"/>
                    <a:lstStyle/>
                    <a:p>
                      <a:pPr algn="l"/>
                      <a:r>
                        <a:rPr sz="1200" b="1" i="0">
                          <a:solidFill>
                            <a:srgbClr val="FFFFFF"/>
                          </a:solidFill>
                          <a:latin typeface="Calibri"/>
                        </a:rPr>
                        <a:t>Fact</a:t>
                      </a:r>
                    </a:p>
                  </a:txBody>
                  <a:tcPr marL="50800" marR="50800" marT="25400" marB="25400" anchor="ctr">
                    <a:solidFill>
                      <a:srgbClr val="1F4E79"/>
                    </a:solidFill>
                  </a:tcPr>
                </a:tc>
                <a:tc>
                  <a:txBody>
                    <a:bodyPr wrap="square"/>
                    <a:lstStyle/>
                    <a:p>
                      <a:pPr algn="l"/>
                      <a:r>
                        <a:rPr sz="1200" b="1" i="0">
                          <a:solidFill>
                            <a:srgbClr val="FFFFFF"/>
                          </a:solidFill>
                          <a:latin typeface="Calibri"/>
                        </a:rPr>
                        <a:t>Value</a:t>
                      </a:r>
                    </a:p>
                  </a:txBody>
                  <a:tcPr marL="50800" marR="50800" marT="25400" marB="25400" anchor="ctr">
                    <a:solidFill>
                      <a:srgbClr val="1F4E79"/>
                    </a:solidFill>
                  </a:tcPr>
                </a:tc>
              </a:tr>
              <a:tr h="416052">
                <a:tc>
                  <a:txBody>
                    <a:bodyPr wrap="square"/>
                    <a:lstStyle/>
                    <a:p>
                      <a:pPr algn="l"/>
                      <a:r>
                        <a:rPr sz="1100" b="1" i="0">
                          <a:solidFill>
                            <a:srgbClr val="1F4E79"/>
                          </a:solidFill>
                          <a:latin typeface="Calibri"/>
                        </a:rPr>
                        <a:t>Repository URL</a:t>
                      </a:r>
                    </a:p>
                  </a:txBody>
                  <a:tcPr marL="50800" marR="50800" marT="25400" marB="25400" anchor="ctr">
                    <a:solidFill>
                      <a:srgbClr val="FFFFFF"/>
                    </a:solidFill>
                  </a:tcPr>
                </a:tc>
                <a:tc>
                  <a:txBody>
                    <a:bodyPr wrap="square"/>
                    <a:lstStyle/>
                    <a:p>
                      <a:pPr algn="l"/>
                      <a:r>
                        <a:rPr sz="1050" b="0" i="0">
                          <a:solidFill>
                            <a:srgbClr val="1A1A1A"/>
                          </a:solidFill>
                          <a:latin typeface="Calibri"/>
                        </a:rPr>
                        <a:t>https://github.com/ujwal2311/proofpilot.git</a:t>
                      </a:r>
                    </a:p>
                  </a:txBody>
                  <a:tcPr marL="50800" marR="50800" marT="25400" marB="25400" anchor="ctr">
                    <a:solidFill>
                      <a:srgbClr val="FFFFFF"/>
                    </a:solidFill>
                  </a:tcPr>
                </a:tc>
              </a:tr>
              <a:tr h="416052">
                <a:tc>
                  <a:txBody>
                    <a:bodyPr wrap="square"/>
                    <a:lstStyle/>
                    <a:p>
                      <a:pPr algn="l"/>
                      <a:r>
                        <a:rPr sz="1100" b="1" i="0">
                          <a:solidFill>
                            <a:srgbClr val="1F4E79"/>
                          </a:solidFill>
                          <a:latin typeface="Calibri"/>
                        </a:rPr>
                        <a:t>Licence</a:t>
                      </a:r>
                    </a:p>
                  </a:txBody>
                  <a:tcPr marL="50800" marR="50800" marT="25400" marB="25400" anchor="ctr">
                    <a:solidFill>
                      <a:srgbClr val="F2F2F2"/>
                    </a:solidFill>
                  </a:tcPr>
                </a:tc>
                <a:tc>
                  <a:txBody>
                    <a:bodyPr wrap="square"/>
                    <a:lstStyle/>
                    <a:p>
                      <a:pPr algn="l"/>
                      <a:r>
                        <a:rPr sz="1050" b="0" i="0">
                          <a:solidFill>
                            <a:srgbClr val="1A1A1A"/>
                          </a:solidFill>
                          <a:latin typeface="Calibri"/>
                        </a:rPr>
                        <a:t>MIT</a:t>
                      </a:r>
                    </a:p>
                  </a:txBody>
                  <a:tcPr marL="50800" marR="50800" marT="25400" marB="25400" anchor="ctr">
                    <a:solidFill>
                      <a:srgbClr val="F2F2F2"/>
                    </a:solidFill>
                  </a:tcPr>
                </a:tc>
              </a:tr>
              <a:tr h="416052">
                <a:tc>
                  <a:txBody>
                    <a:bodyPr wrap="square"/>
                    <a:lstStyle/>
                    <a:p>
                      <a:pPr algn="l"/>
                      <a:r>
                        <a:rPr sz="1100" b="1" i="0">
                          <a:solidFill>
                            <a:srgbClr val="1F4E79"/>
                          </a:solidFill>
                          <a:latin typeface="Calibri"/>
                        </a:rPr>
                        <a:t>Total commits</a:t>
                      </a:r>
                    </a:p>
                  </a:txBody>
                  <a:tcPr marL="50800" marR="50800" marT="25400" marB="25400" anchor="ctr">
                    <a:solidFill>
                      <a:srgbClr val="FFFFFF"/>
                    </a:solidFill>
                  </a:tcPr>
                </a:tc>
                <a:tc>
                  <a:txBody>
                    <a:bodyPr wrap="square"/>
                    <a:lstStyle/>
                    <a:p>
                      <a:pPr algn="l"/>
                      <a:r>
                        <a:rPr sz="1050" b="0" i="0">
                          <a:solidFill>
                            <a:srgbClr val="1A1A1A"/>
                          </a:solidFill>
                          <a:latin typeface="Calibri"/>
                        </a:rPr>
                        <a:t>95 (git log --format=%H | wc -l)</a:t>
                      </a:r>
                    </a:p>
                  </a:txBody>
                  <a:tcPr marL="50800" marR="50800" marT="25400" marB="25400" anchor="ctr">
                    <a:solidFill>
                      <a:srgbClr val="FFFFFF"/>
                    </a:solidFill>
                  </a:tcPr>
                </a:tc>
              </a:tr>
              <a:tr h="416052">
                <a:tc>
                  <a:txBody>
                    <a:bodyPr wrap="square"/>
                    <a:lstStyle/>
                    <a:p>
                      <a:pPr algn="l"/>
                      <a:r>
                        <a:rPr sz="1100" b="1" i="0">
                          <a:solidFill>
                            <a:srgbClr val="1F4E79"/>
                          </a:solidFill>
                          <a:latin typeface="Calibri"/>
                        </a:rPr>
                        <a:t>Latest commit (this deck)</a:t>
                      </a:r>
                    </a:p>
                  </a:txBody>
                  <a:tcPr marL="50800" marR="50800" marT="25400" marB="25400" anchor="ctr">
                    <a:solidFill>
                      <a:srgbClr val="F2F2F2"/>
                    </a:solidFill>
                  </a:tcPr>
                </a:tc>
                <a:tc>
                  <a:txBody>
                    <a:bodyPr wrap="square"/>
                    <a:lstStyle/>
                    <a:p>
                      <a:pPr algn="l"/>
                      <a:r>
                        <a:rPr sz="1050" b="0" i="0">
                          <a:solidFill>
                            <a:srgbClr val="1A1A1A"/>
                          </a:solidFill>
                          <a:latin typeface="Calibri"/>
                        </a:rPr>
                        <a:t>e0b3aca -- pushed, CI-verified green</a:t>
                      </a:r>
                    </a:p>
                  </a:txBody>
                  <a:tcPr marL="50800" marR="50800" marT="25400" marB="25400" anchor="ctr">
                    <a:solidFill>
                      <a:srgbClr val="F2F2F2"/>
                    </a:solidFill>
                  </a:tcPr>
                </a:tc>
              </a:tr>
              <a:tr h="416052">
                <a:tc>
                  <a:txBody>
                    <a:bodyPr wrap="square"/>
                    <a:lstStyle/>
                    <a:p>
                      <a:pPr algn="l"/>
                      <a:r>
                        <a:rPr sz="1100" b="1" i="0">
                          <a:solidFill>
                            <a:srgbClr val="1F4E79"/>
                          </a:solidFill>
                          <a:latin typeface="Calibri"/>
                        </a:rPr>
                        <a:t>Push status</a:t>
                      </a:r>
                    </a:p>
                  </a:txBody>
                  <a:tcPr marL="50800" marR="50800" marT="25400" marB="25400" anchor="ctr">
                    <a:solidFill>
                      <a:srgbClr val="FFFFFF"/>
                    </a:solidFill>
                  </a:tcPr>
                </a:tc>
                <a:tc>
                  <a:txBody>
                    <a:bodyPr wrap="square"/>
                    <a:lstStyle/>
                    <a:p>
                      <a:pPr algn="l"/>
                      <a:r>
                        <a:rPr sz="1050" b="0" i="0">
                          <a:solidFill>
                            <a:srgbClr val="1A1A1A"/>
                          </a:solidFill>
                          <a:latin typeface="Calibri"/>
                        </a:rPr>
                        <a:t>Pushed. origin/main is at e0b3aca; CI confirmed green for this exact commit.</a:t>
                      </a:r>
                    </a:p>
                  </a:txBody>
                  <a:tcPr marL="50800" marR="50800" marT="25400" marB="25400" anchor="ctr">
                    <a:solidFill>
                      <a:srgbClr val="FFFFFF"/>
                    </a:solidFill>
                  </a:tcPr>
                </a:tc>
              </a:tr>
              <a:tr h="416052">
                <a:tc>
                  <a:txBody>
                    <a:bodyPr wrap="square"/>
                    <a:lstStyle/>
                    <a:p>
                      <a:pPr algn="l"/>
                      <a:r>
                        <a:rPr sz="1100" b="1" i="0">
                          <a:solidFill>
                            <a:srgbClr val="1F4E79"/>
                          </a:solidFill>
                          <a:latin typeface="Calibri"/>
                        </a:rPr>
                        <a:t>CI status (last 20 pushes)</a:t>
                      </a:r>
                    </a:p>
                  </a:txBody>
                  <a:tcPr marL="50800" marR="50800" marT="25400" marB="25400" anchor="ctr">
                    <a:solidFill>
                      <a:srgbClr val="F2F2F2"/>
                    </a:solidFill>
                  </a:tcPr>
                </a:tc>
                <a:tc>
                  <a:txBody>
                    <a:bodyPr wrap="square"/>
                    <a:lstStyle/>
                    <a:p>
                      <a:pPr algn="l"/>
                      <a:r>
                        <a:rPr sz="1050" b="0" i="0">
                          <a:solidFill>
                            <a:srgbClr val="1A1A1A"/>
                          </a:solidFill>
                          <a:latin typeface="Calibri"/>
                        </a:rPr>
                        <a:t>17/20 succeeded; 3 consecutive failures on 2026-10-23 (missing data/eval/*.json in git), fixed 2026-10-24 -- every push since, including all of tonight's, is green (gh run list --branch main --limit 20)</a:t>
                      </a:r>
                    </a:p>
                  </a:txBody>
                  <a:tcPr marL="50800" marR="50800" marT="25400" marB="25400" anchor="ctr">
                    <a:solidFill>
                      <a:srgbClr val="F2F2F2"/>
                    </a:solidFill>
                  </a:tcPr>
                </a:tc>
              </a:tr>
              <a:tr h="416052">
                <a:tc>
                  <a:txBody>
                    <a:bodyPr wrap="square"/>
                    <a:lstStyle/>
                    <a:p>
                      <a:pPr algn="l"/>
                      <a:r>
                        <a:rPr sz="1100" b="1" i="0">
                          <a:solidFill>
                            <a:srgbClr val="1F4E79"/>
                          </a:solidFill>
                          <a:latin typeface="Calibri"/>
                        </a:rPr>
                        <a:t>progress-v1 tag</a:t>
                      </a:r>
                    </a:p>
                  </a:txBody>
                  <a:tcPr marL="50800" marR="50800" marT="25400" marB="25400" anchor="ctr">
                    <a:solidFill>
                      <a:srgbClr val="FFFFFF"/>
                    </a:solidFill>
                  </a:tcPr>
                </a:tc>
                <a:tc>
                  <a:txBody>
                    <a:bodyPr wrap="square"/>
                    <a:lstStyle/>
                    <a:p>
                      <a:pPr algn="l"/>
                      <a:r>
                        <a:rPr sz="1050" b="0" i="0">
                          <a:solidFill>
                            <a:srgbClr val="1A1A1A"/>
                          </a:solidFill>
                          <a:latin typeface="Calibri"/>
                        </a:rPr>
                        <a:t>points at fef68ba, 2026-10-24/25 (git tag --list progress-v1)</a:t>
                      </a:r>
                    </a:p>
                  </a:txBody>
                  <a:tcPr marL="50800" marR="50800" marT="25400" marB="25400" anchor="ctr">
                    <a:solidFill>
                      <a:srgbClr val="FFFFFF"/>
                    </a:solidFill>
                  </a:tcPr>
                </a:tc>
              </a:tr>
              <a:tr h="416052">
                <a:tc>
                  <a:txBody>
                    <a:bodyPr wrap="square"/>
                    <a:lstStyle/>
                    <a:p>
                      <a:pPr algn="l"/>
                      <a:r>
                        <a:rPr sz="1100" b="1" i="0">
                          <a:solidFill>
                            <a:srgbClr val="1F4E79"/>
                          </a:solidFill>
                          <a:latin typeface="Calibri"/>
                        </a:rPr>
                        <a:t>AI_USAGE_LOG.md entries</a:t>
                      </a:r>
                    </a:p>
                  </a:txBody>
                  <a:tcPr marL="50800" marR="50800" marT="25400" marB="25400" anchor="ctr">
                    <a:solidFill>
                      <a:srgbClr val="F2F2F2"/>
                    </a:solidFill>
                  </a:tcPr>
                </a:tc>
                <a:tc>
                  <a:txBody>
                    <a:bodyPr wrap="square"/>
                    <a:lstStyle/>
                    <a:p>
                      <a:pPr algn="l"/>
                      <a:r>
                        <a:rPr sz="1050" b="0" i="0">
                          <a:solidFill>
                            <a:srgbClr val="1A1A1A"/>
                          </a:solidFill>
                          <a:latin typeface="Calibri"/>
                        </a:rPr>
                        <a:t>37 dated entries, one per development phase/sprint block/gate</a:t>
                      </a:r>
                    </a:p>
                  </a:txBody>
                  <a:tcPr marL="50800" marR="50800" marT="25400" marB="25400" anchor="ctr">
                    <a:solidFill>
                      <a:srgbClr val="F2F2F2"/>
                    </a:solidFill>
                  </a:tcPr>
                </a:tc>
              </a:tr>
              <a:tr h="416052">
                <a:tc>
                  <a:txBody>
                    <a:bodyPr wrap="square"/>
                    <a:lstStyle/>
                    <a:p>
                      <a:pPr algn="l"/>
                      <a:r>
                        <a:rPr sz="1100" b="1" i="0">
                          <a:solidFill>
                            <a:srgbClr val="1F4E79"/>
                          </a:solidFill>
                          <a:latin typeface="Calibri"/>
                        </a:rPr>
                        <a:t>Commits with Co-Authored-By: Claude</a:t>
                      </a:r>
                    </a:p>
                  </a:txBody>
                  <a:tcPr marL="50800" marR="50800" marT="25400" marB="25400" anchor="ctr">
                    <a:solidFill>
                      <a:srgbClr val="FFFFFF"/>
                    </a:solidFill>
                  </a:tcPr>
                </a:tc>
                <a:tc>
                  <a:txBody>
                    <a:bodyPr wrap="square"/>
                    <a:lstStyle/>
                    <a:p>
                      <a:pPr algn="l"/>
                      <a:r>
                        <a:rPr sz="1050" b="0" i="0">
                          <a:solidFill>
                            <a:srgbClr val="1A1A1A"/>
                          </a:solidFill>
                          <a:latin typeface="Calibri"/>
                        </a:rPr>
                        <a:t>81 of 95 (git log --format=%B | grep -c "Co-Authored-By")</a:t>
                      </a:r>
                    </a:p>
                  </a:txBody>
                  <a:tcPr marL="50800" marR="50800" marT="25400" marB="25400" anchor="ctr">
                    <a:solidFill>
                      <a:srgbClr val="FFFFFF"/>
                    </a:solidFill>
                  </a:tcPr>
                </a:tc>
              </a:tr>
            </a:tbl>
          </a:graphicData>
        </a:graphic>
      </p:graphicFrame>
      <p:sp>
        <p:nvSpPr>
          <p:cNvPr id="5" name="TextBox 4"/>
          <p:cNvSpPr txBox="1"/>
          <p:nvPr/>
        </p:nvSpPr>
        <p:spPr>
          <a:xfrm>
            <a:off x="274320" y="5486400"/>
            <a:ext cx="11612880" cy="822960"/>
          </a:xfrm>
          <a:prstGeom prst="rect">
            <a:avLst/>
          </a:prstGeom>
          <a:noFill/>
        </p:spPr>
        <p:txBody>
          <a:bodyPr wrap="square" anchor="t" lIns="25400" rIns="25400" tIns="25400" bIns="25400">
            <a:spAutoFit/>
          </a:bodyPr>
          <a:lstStyle/>
          <a:p>
            <a:r>
              <a:rPr sz="1200" b="0" i="1">
                <a:solidFill>
                  <a:srgbClr val="505050"/>
                </a:solidFill>
                <a:latin typeface="Calibri"/>
              </a:rPr>
              <a:t>Every figure above is sourced to the exact command that produced it (docs/report/FACTS.md §1) — re-run any of them to re-check.</a:t>
            </a:r>
          </a:p>
        </p:txBody>
      </p:sp>
      <p:sp>
        <p:nvSpPr>
          <p:cNvPr id="6" name="TextBox 5"/>
          <p:cNvSpPr txBox="1"/>
          <p:nvPr/>
        </p:nvSpPr>
        <p:spPr>
          <a:xfrm>
            <a:off x="274320" y="6537960"/>
            <a:ext cx="3657600" cy="274320"/>
          </a:xfrm>
          <a:prstGeom prst="rect">
            <a:avLst/>
          </a:prstGeom>
          <a:noFill/>
        </p:spPr>
        <p:txBody>
          <a:bodyPr wrap="square" anchor="t" lIns="25400" rIns="25400" tIns="25400" bIns="25400">
            <a:spAutoFit/>
          </a:bodyPr>
          <a:lstStyle/>
          <a:p>
            <a:r>
              <a:rPr sz="1000" b="0" i="0">
                <a:solidFill>
                  <a:srgbClr val="666666"/>
                </a:solidFill>
                <a:latin typeface="Calibri"/>
              </a:rPr>
              <a:t>ProofPilot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30000" cy="548640"/>
          </a:xfrm>
          <a:prstGeom prst="rect">
            <a:avLst/>
          </a:prstGeom>
          <a:noFill/>
        </p:spPr>
        <p:txBody>
          <a:bodyPr wrap="square" anchor="t" lIns="25400" rIns="25400" tIns="25400" bIns="25400">
            <a:spAutoFit/>
          </a:bodyPr>
          <a:lstStyle/>
          <a:p>
            <a:r>
              <a:rPr sz="2600" b="1" i="0">
                <a:solidFill>
                  <a:srgbClr val="FFFFFF"/>
                </a:solidFill>
                <a:latin typeface="Calibri"/>
              </a:rPr>
              <a:t>7. Experiments: Stopping-Rule Simulation</a:t>
            </a:r>
          </a:p>
        </p:txBody>
      </p:sp>
      <p:graphicFrame>
        <p:nvGraphicFramePr>
          <p:cNvPr id="4" name="Table 3"/>
          <p:cNvGraphicFramePr>
            <a:graphicFrameLocks noGrp="1"/>
          </p:cNvGraphicFramePr>
          <p:nvPr/>
        </p:nvGraphicFramePr>
        <p:xfrm>
          <a:off x="274320" y="1143000"/>
          <a:ext cx="11612880" cy="2011680"/>
        </p:xfrm>
        <a:graphic>
          <a:graphicData uri="http://schemas.openxmlformats.org/drawingml/2006/table">
            <a:tbl>
              <a:tblPr firstRow="1" bandRow="1">
                <a:tableStyleId>{5C22544A-7EE6-4342-B048-85BDC9FD1C3A}</a:tableStyleId>
              </a:tblPr>
              <a:tblGrid>
                <a:gridCol w="2926080"/>
                <a:gridCol w="3017520"/>
                <a:gridCol w="2743200"/>
                <a:gridCol w="2926080"/>
              </a:tblGrid>
              <a:tr h="502920">
                <a:tc>
                  <a:txBody>
                    <a:bodyPr wrap="square"/>
                    <a:lstStyle/>
                    <a:p>
                      <a:pPr algn="l"/>
                      <a:r>
                        <a:rPr sz="1300" b="1" i="0">
                          <a:solidFill>
                            <a:srgbClr val="FFFFFF"/>
                          </a:solidFill>
                          <a:latin typeface="Calibri"/>
                        </a:rPr>
                        <a:t>Policy</a:t>
                      </a:r>
                    </a:p>
                  </a:txBody>
                  <a:tcPr marL="50800" marR="50800" marT="25400" marB="25400" anchor="ctr">
                    <a:solidFill>
                      <a:srgbClr val="1F4E79"/>
                    </a:solidFill>
                  </a:tcPr>
                </a:tc>
                <a:tc>
                  <a:txBody>
                    <a:bodyPr wrap="square"/>
                    <a:lstStyle/>
                    <a:p>
                      <a:pPr algn="l"/>
                      <a:r>
                        <a:rPr sz="1300" b="1" i="0">
                          <a:solidFill>
                            <a:srgbClr val="FFFFFF"/>
                          </a:solidFill>
                          <a:latin typeface="Calibri"/>
                        </a:rPr>
                        <a:t>Premature-release %</a:t>
                      </a:r>
                    </a:p>
                  </a:txBody>
                  <a:tcPr marL="50800" marR="50800" marT="25400" marB="25400" anchor="ctr">
                    <a:solidFill>
                      <a:srgbClr val="1F4E79"/>
                    </a:solidFill>
                  </a:tcPr>
                </a:tc>
                <a:tc>
                  <a:txBody>
                    <a:bodyPr wrap="square"/>
                    <a:lstStyle/>
                    <a:p>
                      <a:pPr algn="l"/>
                      <a:r>
                        <a:rPr sz="1300" b="1" i="0">
                          <a:solidFill>
                            <a:srgbClr val="FFFFFF"/>
                          </a:solidFill>
                          <a:latin typeface="Calibri"/>
                        </a:rPr>
                        <a:t>Mean exercises</a:t>
                      </a:r>
                    </a:p>
                  </a:txBody>
                  <a:tcPr marL="50800" marR="50800" marT="25400" marB="25400" anchor="ctr">
                    <a:solidFill>
                      <a:srgbClr val="1F4E79"/>
                    </a:solidFill>
                  </a:tcPr>
                </a:tc>
                <a:tc>
                  <a:txBody>
                    <a:bodyPr wrap="square"/>
                    <a:lstStyle/>
                    <a:p>
                      <a:pPr algn="l"/>
                      <a:r>
                        <a:rPr sz="1300" b="1" i="0">
                          <a:solidFill>
                            <a:srgbClr val="FFFFFF"/>
                          </a:solidFill>
                          <a:latin typeface="Calibri"/>
                        </a:rPr>
                        <a:t>Mean over-practice</a:t>
                      </a:r>
                    </a:p>
                  </a:txBody>
                  <a:tcPr marL="50800" marR="50800" marT="25400" marB="25400" anchor="ctr">
                    <a:solidFill>
                      <a:srgbClr val="1F4E79"/>
                    </a:solidFill>
                  </a:tcPr>
                </a:tc>
              </a:tr>
              <a:tr h="502920">
                <a:tc>
                  <a:txBody>
                    <a:bodyPr wrap="square"/>
                    <a:lstStyle/>
                    <a:p>
                      <a:pPr algn="l"/>
                      <a:r>
                        <a:rPr sz="1300" b="1" i="0">
                          <a:solidFill>
                            <a:srgbClr val="1F4E79"/>
                          </a:solidFill>
                          <a:latin typeface="Calibri"/>
                        </a:rPr>
                        <a:t>baseline (fixed-N)</a:t>
                      </a:r>
                    </a:p>
                  </a:txBody>
                  <a:tcPr marL="50800" marR="50800" marT="25400" marB="25400" anchor="ctr">
                    <a:solidFill>
                      <a:srgbClr val="FFFFFF"/>
                    </a:solidFill>
                  </a:tcPr>
                </a:tc>
                <a:tc>
                  <a:txBody>
                    <a:bodyPr wrap="square"/>
                    <a:lstStyle/>
                    <a:p>
                      <a:pPr algn="l"/>
                      <a:r>
                        <a:rPr sz="1300" b="0" i="0">
                          <a:solidFill>
                            <a:srgbClr val="1A1A1A"/>
                          </a:solidFill>
                          <a:latin typeface="Calibri"/>
                        </a:rPr>
                        <a:t>21.00</a:t>
                      </a:r>
                    </a:p>
                  </a:txBody>
                  <a:tcPr marL="50800" marR="50800" marT="25400" marB="25400" anchor="ctr">
                    <a:solidFill>
                      <a:srgbClr val="FFFFFF"/>
                    </a:solidFill>
                  </a:tcPr>
                </a:tc>
                <a:tc>
                  <a:txBody>
                    <a:bodyPr wrap="square"/>
                    <a:lstStyle/>
                    <a:p>
                      <a:pPr algn="l"/>
                      <a:r>
                        <a:rPr sz="1300" b="0" i="0">
                          <a:solidFill>
                            <a:srgbClr val="1A1A1A"/>
                          </a:solidFill>
                          <a:latin typeface="Calibri"/>
                        </a:rPr>
                        <a:t>8.00</a:t>
                      </a:r>
                    </a:p>
                  </a:txBody>
                  <a:tcPr marL="50800" marR="50800" marT="25400" marB="25400" anchor="ctr">
                    <a:solidFill>
                      <a:srgbClr val="FFFFFF"/>
                    </a:solidFill>
                  </a:tcPr>
                </a:tc>
                <a:tc>
                  <a:txBody>
                    <a:bodyPr wrap="square"/>
                    <a:lstStyle/>
                    <a:p>
                      <a:pPr algn="l"/>
                      <a:r>
                        <a:rPr sz="1300" b="0" i="0">
                          <a:solidFill>
                            <a:srgbClr val="1A1A1A"/>
                          </a:solidFill>
                          <a:latin typeface="Calibri"/>
                        </a:rPr>
                        <a:t>4.45</a:t>
                      </a:r>
                    </a:p>
                  </a:txBody>
                  <a:tcPr marL="50800" marR="50800" marT="25400" marB="25400" anchor="ctr">
                    <a:solidFill>
                      <a:srgbClr val="FFFFFF"/>
                    </a:solidFill>
                  </a:tcPr>
                </a:tc>
              </a:tr>
              <a:tr h="502920">
                <a:tc>
                  <a:txBody>
                    <a:bodyPr wrap="square"/>
                    <a:lstStyle/>
                    <a:p>
                      <a:pPr algn="l"/>
                      <a:r>
                        <a:rPr sz="1300" b="1" i="0">
                          <a:solidFill>
                            <a:srgbClr val="1F4E79"/>
                          </a:solidFill>
                          <a:latin typeface="Calibri"/>
                        </a:rPr>
                        <a:t>adaptive-matched</a:t>
                      </a:r>
                    </a:p>
                  </a:txBody>
                  <a:tcPr marL="50800" marR="50800" marT="25400" marB="25400" anchor="ctr">
                    <a:solidFill>
                      <a:srgbClr val="F2F2F2"/>
                    </a:solidFill>
                  </a:tcPr>
                </a:tc>
                <a:tc>
                  <a:txBody>
                    <a:bodyPr wrap="square"/>
                    <a:lstStyle/>
                    <a:p>
                      <a:pPr algn="l"/>
                      <a:r>
                        <a:rPr sz="1300" b="0" i="0">
                          <a:solidFill>
                            <a:srgbClr val="1A1A1A"/>
                          </a:solidFill>
                          <a:latin typeface="Calibri"/>
                        </a:rPr>
                        <a:t>2.60</a:t>
                      </a:r>
                    </a:p>
                  </a:txBody>
                  <a:tcPr marL="50800" marR="50800" marT="25400" marB="25400" anchor="ctr">
                    <a:solidFill>
                      <a:srgbClr val="F2F2F2"/>
                    </a:solidFill>
                  </a:tcPr>
                </a:tc>
                <a:tc>
                  <a:txBody>
                    <a:bodyPr wrap="square"/>
                    <a:lstStyle/>
                    <a:p>
                      <a:pPr algn="l"/>
                      <a:r>
                        <a:rPr sz="1300" b="0" i="0">
                          <a:solidFill>
                            <a:srgbClr val="1A1A1A"/>
                          </a:solidFill>
                          <a:latin typeface="Calibri"/>
                        </a:rPr>
                        <a:t>7.57</a:t>
                      </a:r>
                    </a:p>
                  </a:txBody>
                  <a:tcPr marL="50800" marR="50800" marT="25400" marB="25400" anchor="ctr">
                    <a:solidFill>
                      <a:srgbClr val="F2F2F2"/>
                    </a:solidFill>
                  </a:tcPr>
                </a:tc>
                <a:tc>
                  <a:txBody>
                    <a:bodyPr wrap="square"/>
                    <a:lstStyle/>
                    <a:p>
                      <a:pPr algn="l"/>
                      <a:r>
                        <a:rPr sz="1300" b="0" i="0">
                          <a:solidFill>
                            <a:srgbClr val="1A1A1A"/>
                          </a:solidFill>
                          <a:latin typeface="Calibri"/>
                        </a:rPr>
                        <a:t>2.67</a:t>
                      </a:r>
                    </a:p>
                  </a:txBody>
                  <a:tcPr marL="50800" marR="50800" marT="25400" marB="25400" anchor="ctr">
                    <a:solidFill>
                      <a:srgbClr val="F2F2F2"/>
                    </a:solidFill>
                  </a:tcPr>
                </a:tc>
              </a:tr>
              <a:tr h="502920">
                <a:tc>
                  <a:txBody>
                    <a:bodyPr wrap="square"/>
                    <a:lstStyle/>
                    <a:p>
                      <a:pPr algn="l"/>
                      <a:r>
                        <a:rPr sz="1300" b="1" i="0">
                          <a:solidFill>
                            <a:srgbClr val="1F4E79"/>
                          </a:solidFill>
                          <a:latin typeface="Calibri"/>
                        </a:rPr>
                        <a:t>adaptive-mismatched</a:t>
                      </a:r>
                    </a:p>
                  </a:txBody>
                  <a:tcPr marL="50800" marR="50800" marT="25400" marB="25400" anchor="ctr">
                    <a:solidFill>
                      <a:srgbClr val="FFFFFF"/>
                    </a:solidFill>
                  </a:tcPr>
                </a:tc>
                <a:tc>
                  <a:txBody>
                    <a:bodyPr wrap="square"/>
                    <a:lstStyle/>
                    <a:p>
                      <a:pPr algn="l"/>
                      <a:r>
                        <a:rPr sz="1300" b="0" i="0">
                          <a:solidFill>
                            <a:srgbClr val="1A1A1A"/>
                          </a:solidFill>
                          <a:latin typeface="Calibri"/>
                        </a:rPr>
                        <a:t>4.80</a:t>
                      </a:r>
                    </a:p>
                  </a:txBody>
                  <a:tcPr marL="50800" marR="50800" marT="25400" marB="25400" anchor="ctr">
                    <a:solidFill>
                      <a:srgbClr val="FFFFFF"/>
                    </a:solidFill>
                  </a:tcPr>
                </a:tc>
                <a:tc>
                  <a:txBody>
                    <a:bodyPr wrap="square"/>
                    <a:lstStyle/>
                    <a:p>
                      <a:pPr algn="l"/>
                      <a:r>
                        <a:rPr sz="1300" b="0" i="0">
                          <a:solidFill>
                            <a:srgbClr val="1A1A1A"/>
                          </a:solidFill>
                          <a:latin typeface="Calibri"/>
                        </a:rPr>
                        <a:t>11.51</a:t>
                      </a:r>
                    </a:p>
                  </a:txBody>
                  <a:tcPr marL="50800" marR="50800" marT="25400" marB="25400" anchor="ctr">
                    <a:solidFill>
                      <a:srgbClr val="FFFFFF"/>
                    </a:solidFill>
                  </a:tcPr>
                </a:tc>
                <a:tc>
                  <a:txBody>
                    <a:bodyPr wrap="square"/>
                    <a:lstStyle/>
                    <a:p>
                      <a:pPr algn="l"/>
                      <a:r>
                        <a:rPr sz="1300" b="0" i="0">
                          <a:solidFill>
                            <a:srgbClr val="1A1A1A"/>
                          </a:solidFill>
                          <a:latin typeface="Calibri"/>
                        </a:rPr>
                        <a:t>3.78</a:t>
                      </a:r>
                    </a:p>
                  </a:txBody>
                  <a:tcPr marL="50800" marR="50800" marT="25400" marB="25400" anchor="ctr">
                    <a:solidFill>
                      <a:srgbClr val="FFFFFF"/>
                    </a:solidFill>
                  </a:tcPr>
                </a:tc>
              </a:tr>
            </a:tbl>
          </a:graphicData>
        </a:graphic>
      </p:graphicFrame>
      <p:sp>
        <p:nvSpPr>
          <p:cNvPr id="5" name="TextBox 4"/>
          <p:cNvSpPr txBox="1"/>
          <p:nvPr/>
        </p:nvSpPr>
        <p:spPr>
          <a:xfrm>
            <a:off x="274320" y="3337560"/>
            <a:ext cx="11612880" cy="320040"/>
          </a:xfrm>
          <a:prstGeom prst="rect">
            <a:avLst/>
          </a:prstGeom>
          <a:noFill/>
        </p:spPr>
        <p:txBody>
          <a:bodyPr wrap="square" anchor="t" lIns="25400" rIns="25400" tIns="25400" bIns="25400">
            <a:spAutoFit/>
          </a:bodyPr>
          <a:lstStyle/>
          <a:p>
            <a:r>
              <a:rPr sz="1200" b="1" i="0">
                <a:solidFill>
                  <a:srgbClr val="1A1A1A"/>
                </a:solidFill>
                <a:latin typeface="Calibri"/>
              </a:rPr>
              <a:t>Seed 20261012, N=500 simulated learners per arm (python scripts/run_experiments.py --write)</a:t>
            </a:r>
          </a:p>
        </p:txBody>
      </p:sp>
      <p:sp>
        <p:nvSpPr>
          <p:cNvPr id="6" name="TextBox 5"/>
          <p:cNvSpPr txBox="1"/>
          <p:nvPr/>
        </p:nvSpPr>
        <p:spPr>
          <a:xfrm>
            <a:off x="274320" y="3749039"/>
            <a:ext cx="11612880" cy="2560320"/>
          </a:xfrm>
          <a:prstGeom prst="rect">
            <a:avLst/>
          </a:prstGeom>
          <a:noFill/>
        </p:spPr>
        <p:txBody>
          <a:bodyPr wrap="square" anchor="t" lIns="25400" rIns="25400" tIns="25400" bIns="25400">
            <a:spAutoFit/>
          </a:bodyPr>
          <a:lstStyle/>
          <a:p>
            <a:pPr>
              <a:spcAft>
                <a:spcPts val="800"/>
              </a:spcAft>
            </a:pPr>
            <a:r>
              <a:rPr sz="1200" b="0" i="0">
                <a:solidFill>
                  <a:srgbClr val="1A1A1A"/>
                </a:solidFill>
                <a:latin typeface="Calibri"/>
              </a:rPr>
              <a:t>• The adaptive-mismatched arm uses MORE exercises than the baseline (11.51 vs 8.00) and is NOT budget-matched to it. The correct claim: it still keeps premature release low (4.8%) at roughly 50% more practice than the matched arm — not that it beats the baseline at an equal budget.</a:t>
            </a:r>
          </a:p>
          <a:p>
            <a:pPr>
              <a:spcAft>
                <a:spcPts val="800"/>
              </a:spcAft>
            </a:pPr>
            <a:r>
              <a:rPr sz="1200" b="0" i="0">
                <a:solidFill>
                  <a:srgbClr val="1A1A1A"/>
                </a:solidFill>
                <a:latin typeface="Calibri"/>
              </a:rPr>
              <a:t>• “The simulation tests only the stopping rule under the model’s own assumptions” (HLD §14 item 9, verbatim) — not evidence that students learn more.</a:t>
            </a:r>
          </a:p>
          <a:p>
            <a:pPr>
              <a:spcAft>
                <a:spcPts val="800"/>
              </a:spcAft>
            </a:pPr>
            <a:r>
              <a:rPr sz="1200" b="0" i="0">
                <a:solidFill>
                  <a:srgbClr val="1A1A1A"/>
                </a:solidFill>
                <a:latin typeface="Calibri"/>
              </a:rPr>
              <a:t>• One BKT-tracked skill is simulated per learner, not three, because the three real skills update independently under identical dynamics.</a:t>
            </a:r>
          </a:p>
          <a:p>
            <a:pPr>
              <a:spcAft>
                <a:spcPts val="800"/>
              </a:spcAft>
            </a:pPr>
            <a:r>
              <a:rPr sz="1200" b="0" i="0">
                <a:solidFill>
                  <a:srgbClr val="1A1A1A"/>
                </a:solidFill>
                <a:latin typeface="Calibri"/>
              </a:rPr>
              <a:t>• The mismatched arm's “true” slip/transit parameters are a labelled design decision, not a fit to real data.</a:t>
            </a:r>
          </a:p>
        </p:txBody>
      </p:sp>
      <p:sp>
        <p:nvSpPr>
          <p:cNvPr id="7" name="TextBox 6"/>
          <p:cNvSpPr txBox="1"/>
          <p:nvPr/>
        </p:nvSpPr>
        <p:spPr>
          <a:xfrm>
            <a:off x="274320" y="6537960"/>
            <a:ext cx="3657600" cy="274320"/>
          </a:xfrm>
          <a:prstGeom prst="rect">
            <a:avLst/>
          </a:prstGeom>
          <a:noFill/>
        </p:spPr>
        <p:txBody>
          <a:bodyPr wrap="square" anchor="t" lIns="25400" rIns="25400" tIns="25400" bIns="25400">
            <a:spAutoFit/>
          </a:bodyPr>
          <a:lstStyle/>
          <a:p>
            <a:r>
              <a:rPr sz="1000" b="0" i="0">
                <a:solidFill>
                  <a:srgbClr val="666666"/>
                </a:solidFill>
                <a:latin typeface="Calibri"/>
              </a:rPr>
              <a:t>ProofPilot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30000" cy="548640"/>
          </a:xfrm>
          <a:prstGeom prst="rect">
            <a:avLst/>
          </a:prstGeom>
          <a:noFill/>
        </p:spPr>
        <p:txBody>
          <a:bodyPr wrap="square" anchor="t" lIns="25400" rIns="25400" tIns="25400" bIns="25400">
            <a:spAutoFit/>
          </a:bodyPr>
          <a:lstStyle/>
          <a:p>
            <a:r>
              <a:rPr sz="2600" b="1" i="0">
                <a:solidFill>
                  <a:srgbClr val="FFFFFF"/>
                </a:solidFill>
                <a:latin typeface="Calibri"/>
              </a:rPr>
              <a:t>8. Experimental Analysis and Current Progress</a:t>
            </a:r>
          </a:p>
        </p:txBody>
      </p:sp>
      <p:graphicFrame>
        <p:nvGraphicFramePr>
          <p:cNvPr id="4" name="Table 3"/>
          <p:cNvGraphicFramePr>
            <a:graphicFrameLocks noGrp="1"/>
          </p:cNvGraphicFramePr>
          <p:nvPr/>
        </p:nvGraphicFramePr>
        <p:xfrm>
          <a:off x="274320" y="1097280"/>
          <a:ext cx="11612880" cy="5394960"/>
        </p:xfrm>
        <a:graphic>
          <a:graphicData uri="http://schemas.openxmlformats.org/drawingml/2006/table">
            <a:tbl>
              <a:tblPr firstRow="1" bandRow="1">
                <a:tableStyleId>{5C22544A-7EE6-4342-B048-85BDC9FD1C3A}</a:tableStyleId>
              </a:tblPr>
              <a:tblGrid>
                <a:gridCol w="2377440"/>
                <a:gridCol w="9235440"/>
              </a:tblGrid>
              <a:tr h="539496">
                <a:tc>
                  <a:txBody>
                    <a:bodyPr wrap="square"/>
                    <a:lstStyle/>
                    <a:p>
                      <a:pPr algn="l"/>
                      <a:r>
                        <a:rPr sz="1300" b="1" i="0">
                          <a:solidFill>
                            <a:srgbClr val="FFFFFF"/>
                          </a:solidFill>
                          <a:latin typeface="Calibri"/>
                        </a:rPr>
                        <a:t>Item</a:t>
                      </a:r>
                    </a:p>
                  </a:txBody>
                  <a:tcPr marL="50800" marR="50800" marT="25400" marB="25400" anchor="ctr">
                    <a:solidFill>
                      <a:srgbClr val="1F4E79"/>
                    </a:solidFill>
                  </a:tcPr>
                </a:tc>
                <a:tc>
                  <a:txBody>
                    <a:bodyPr wrap="square"/>
                    <a:lstStyle/>
                    <a:p>
                      <a:pPr algn="l"/>
                      <a:r>
                        <a:rPr sz="1300" b="1" i="0">
                          <a:solidFill>
                            <a:srgbClr val="FFFFFF"/>
                          </a:solidFill>
                          <a:latin typeface="Calibri"/>
                        </a:rPr>
                        <a:t>Status</a:t>
                      </a:r>
                    </a:p>
                  </a:txBody>
                  <a:tcPr marL="50800" marR="50800" marT="25400" marB="25400" anchor="ctr">
                    <a:solidFill>
                      <a:srgbClr val="1F4E79"/>
                    </a:solidFill>
                  </a:tcPr>
                </a:tc>
              </a:tr>
              <a:tr h="539496">
                <a:tc>
                  <a:txBody>
                    <a:bodyPr wrap="square"/>
                    <a:lstStyle/>
                    <a:p>
                      <a:pPr algn="l"/>
                      <a:r>
                        <a:rPr sz="1150" b="1" i="0">
                          <a:solidFill>
                            <a:srgbClr val="1F4E79"/>
                          </a:solidFill>
                          <a:latin typeface="Calibri"/>
                        </a:rPr>
                        <a:t>Tests</a:t>
                      </a:r>
                    </a:p>
                  </a:txBody>
                  <a:tcPr marL="50800" marR="50800" marT="25400" marB="25400" anchor="ctr">
                    <a:solidFill>
                      <a:srgbClr val="FFFFFF"/>
                    </a:solidFill>
                  </a:tcPr>
                </a:tc>
                <a:tc>
                  <a:txBody>
                    <a:bodyPr wrap="square"/>
                    <a:lstStyle/>
                    <a:p>
                      <a:pPr algn="l"/>
                      <a:r>
                        <a:rPr sz="1050" b="0" i="0">
                          <a:solidFill>
                            <a:srgbClr val="1A1A1A"/>
                          </a:solidFill>
                          <a:latin typeface="Calibri"/>
                        </a:rPr>
                        <a:t>864/865 passed (1 skipped by default: 400-case slow sweep, needs PROOFPILOT_SLOW=1, passes with nothing skipped in CI's dedicated slow job). Both PYTHONHASHSEED=0 and 4242 green.</a:t>
                      </a:r>
                    </a:p>
                  </a:txBody>
                  <a:tcPr marL="50800" marR="50800" marT="25400" marB="25400" anchor="ctr">
                    <a:solidFill>
                      <a:srgbClr val="FFFFFF"/>
                    </a:solidFill>
                  </a:tcPr>
                </a:tc>
              </a:tr>
              <a:tr h="539496">
                <a:tc>
                  <a:txBody>
                    <a:bodyPr wrap="square"/>
                    <a:lstStyle/>
                    <a:p>
                      <a:pPr algn="l"/>
                      <a:r>
                        <a:rPr sz="1150" b="1" i="0">
                          <a:solidFill>
                            <a:srgbClr val="1F4E79"/>
                          </a:solidFill>
                          <a:latin typeface="Calibri"/>
                        </a:rPr>
                        <a:t>Differential testing</a:t>
                      </a:r>
                    </a:p>
                  </a:txBody>
                  <a:tcPr marL="50800" marR="50800" marT="25400" marB="25400" anchor="ctr">
                    <a:solidFill>
                      <a:srgbClr val="F2F2F2"/>
                    </a:solidFill>
                  </a:tcPr>
                </a:tc>
                <a:tc>
                  <a:txBody>
                    <a:bodyPr wrap="square"/>
                    <a:lstStyle/>
                    <a:p>
                      <a:pPr algn="l"/>
                      <a:r>
                        <a:rPr sz="1050" b="0" i="0">
                          <a:solidFill>
                            <a:srgbClr val="1A1A1A"/>
                          </a:solidFill>
                          <a:latin typeface="Calibri"/>
                        </a:rPr>
                        <a:t>940/940 agreement between truth-table entailment and resolution (100%). Unchanged since v2.9 -- regression-checked tonight, still 7/7 passing.</a:t>
                      </a:r>
                    </a:p>
                  </a:txBody>
                  <a:tcPr marL="50800" marR="50800" marT="25400" marB="25400" anchor="ctr">
                    <a:solidFill>
                      <a:srgbClr val="F2F2F2"/>
                    </a:solidFill>
                  </a:tcPr>
                </a:tc>
              </a:tr>
              <a:tr h="539496">
                <a:tc>
                  <a:txBody>
                    <a:bodyPr wrap="square"/>
                    <a:lstStyle/>
                    <a:p>
                      <a:pPr algn="l"/>
                      <a:r>
                        <a:rPr sz="1150" b="1" i="0">
                          <a:solidFill>
                            <a:srgbClr val="1F4E79"/>
                          </a:solidFill>
                          <a:latin typeface="Calibri"/>
                        </a:rPr>
                        <a:t>Mutation testing</a:t>
                      </a:r>
                    </a:p>
                  </a:txBody>
                  <a:tcPr marL="50800" marR="50800" marT="25400" marB="25400" anchor="ctr">
                    <a:solidFill>
                      <a:srgbClr val="FFFFFF"/>
                    </a:solidFill>
                  </a:tcPr>
                </a:tc>
                <a:tc>
                  <a:txBody>
                    <a:bodyPr wrap="square"/>
                    <a:lstStyle/>
                    <a:p>
                      <a:pPr algn="l"/>
                      <a:r>
                        <a:rPr sz="1050" b="0" i="0">
                          <a:solidFill>
                            <a:srgbClr val="1A1A1A"/>
                          </a:solidFill>
                          <a:latin typeface="Calibri"/>
                        </a:rPr>
                        <a:t>82/82 (Phase 6a core modules, 2026-10-11, 416-test suite) PLUS a separate 43/43 (every module built since, run for the first time: session.py, tutor.py, config.py, formula.py, translation.py, narrate.py -- 842-test suite, 2026-10-25). Two different scopes at two different suite sizes -- do not add them.</a:t>
                      </a:r>
                    </a:p>
                  </a:txBody>
                  <a:tcPr marL="50800" marR="50800" marT="25400" marB="25400" anchor="ctr">
                    <a:solidFill>
                      <a:srgbClr val="FFFFFF"/>
                    </a:solidFill>
                  </a:tcPr>
                </a:tc>
              </a:tr>
              <a:tr h="539496">
                <a:tc>
                  <a:txBody>
                    <a:bodyPr wrap="square"/>
                    <a:lstStyle/>
                    <a:p>
                      <a:pPr algn="l"/>
                      <a:r>
                        <a:rPr sz="1150" b="1" i="0">
                          <a:solidFill>
                            <a:srgbClr val="1F4E79"/>
                          </a:solidFill>
                          <a:latin typeface="Calibri"/>
                        </a:rPr>
                        <a:t>Search latency</a:t>
                      </a:r>
                    </a:p>
                  </a:txBody>
                  <a:tcPr marL="50800" marR="50800" marT="25400" marB="25400" anchor="ctr">
                    <a:solidFill>
                      <a:srgbClr val="F2F2F2"/>
                    </a:solidFill>
                  </a:tcPr>
                </a:tc>
                <a:tc>
                  <a:txBody>
                    <a:bodyPr wrap="square"/>
                    <a:lstStyle/>
                    <a:p>
                      <a:pPr algn="l"/>
                      <a:r>
                        <a:rPr sz="1050" b="0" i="0">
                          <a:solidFill>
                            <a:srgbClr val="1A1A1A"/>
                          </a:solidFill>
                          <a:latin typeface="Calibri"/>
                        </a:rPr>
                        <a:t>Deepest bank proof (5 steps): 12.7 ms. Deepest budget-answered proof (7 steps): 691 ms. 8+ steps fall back to a rule-based hint. Unchanged since v2.9 A3.</a:t>
                      </a:r>
                    </a:p>
                  </a:txBody>
                  <a:tcPr marL="50800" marR="50800" marT="25400" marB="25400" anchor="ctr">
                    <a:solidFill>
                      <a:srgbClr val="F2F2F2"/>
                    </a:solidFill>
                  </a:tcPr>
                </a:tc>
              </a:tr>
              <a:tr h="539496">
                <a:tc>
                  <a:txBody>
                    <a:bodyPr wrap="square"/>
                    <a:lstStyle/>
                    <a:p>
                      <a:pPr algn="l"/>
                      <a:r>
                        <a:rPr sz="1150" b="1" i="0">
                          <a:solidFill>
                            <a:srgbClr val="1F4E79"/>
                          </a:solidFill>
                          <a:latin typeface="Calibri"/>
                        </a:rPr>
                        <a:t>Evaluation sets</a:t>
                      </a:r>
                    </a:p>
                  </a:txBody>
                  <a:tcPr marL="50800" marR="50800" marT="25400" marB="25400" anchor="ctr">
                    <a:solidFill>
                      <a:srgbClr val="FFFFFF"/>
                    </a:solidFill>
                  </a:tcPr>
                </a:tc>
                <a:tc>
                  <a:txBody>
                    <a:bodyPr wrap="square"/>
                    <a:lstStyle/>
                    <a:p>
                      <a:pPr algn="l"/>
                      <a:r>
                        <a:rPr sz="1050" b="0" i="0">
                          <a:solidFill>
                            <a:srgbClr val="1A1A1A"/>
                          </a:solidFill>
                          <a:latin typeface="Calibri"/>
                        </a:rPr>
                        <a:t>data/eval/*.json now committed to git and wired (scripts/ai_eval_tfl.py): the 15-item simple tier agrees 15/15 with ProofPilot's own entailment check. The 15-item stress tier has a different schema (no conclusion/expected_follows) -- counted, not scored.</a:t>
                      </a:r>
                    </a:p>
                  </a:txBody>
                  <a:tcPr marL="50800" marR="50800" marT="25400" marB="25400" anchor="ctr">
                    <a:solidFill>
                      <a:srgbClr val="FFFFFF"/>
                    </a:solidFill>
                  </a:tcPr>
                </a:tc>
              </a:tr>
              <a:tr h="539496">
                <a:tc>
                  <a:txBody>
                    <a:bodyPr wrap="square"/>
                    <a:lstStyle/>
                    <a:p>
                      <a:pPr algn="l"/>
                      <a:r>
                        <a:rPr sz="1150" b="1" i="0">
                          <a:solidFill>
                            <a:srgbClr val="1F4E79"/>
                          </a:solidFill>
                          <a:latin typeface="Calibri"/>
                        </a:rPr>
                        <a:t>Pilot (E5)</a:t>
                      </a:r>
                    </a:p>
                  </a:txBody>
                  <a:tcPr marL="50800" marR="50800" marT="25400" marB="25400" anchor="ctr">
                    <a:solidFill>
                      <a:srgbClr val="F2F2F2"/>
                    </a:solidFill>
                  </a:tcPr>
                </a:tc>
                <a:tc>
                  <a:txBody>
                    <a:bodyPr wrap="square"/>
                    <a:lstStyle/>
                    <a:p>
                      <a:pPr algn="l"/>
                      <a:r>
                        <a:rPr sz="1050" b="0" i="0">
                          <a:solidFill>
                            <a:srgbClr val="1A1A1A"/>
                          </a:solidFill>
                          <a:latin typeface="Calibri"/>
                        </a:rPr>
                        <a:t>Not run. Tooling ready; template.csv has a header row only.</a:t>
                      </a:r>
                    </a:p>
                  </a:txBody>
                  <a:tcPr marL="50800" marR="50800" marT="25400" marB="25400" anchor="ctr">
                    <a:solidFill>
                      <a:srgbClr val="F2F2F2"/>
                    </a:solidFill>
                  </a:tcPr>
                </a:tc>
              </a:tr>
              <a:tr h="539496">
                <a:tc>
                  <a:txBody>
                    <a:bodyPr wrap="square"/>
                    <a:lstStyle/>
                    <a:p>
                      <a:pPr algn="l"/>
                      <a:r>
                        <a:rPr sz="1150" b="1" i="0">
                          <a:solidFill>
                            <a:srgbClr val="1F4E79"/>
                          </a:solidFill>
                          <a:latin typeface="Calibri"/>
                        </a:rPr>
                        <a:t>M2 (translation coach)</a:t>
                      </a:r>
                    </a:p>
                  </a:txBody>
                  <a:tcPr marL="50800" marR="50800" marT="25400" marB="25400" anchor="ctr">
                    <a:solidFill>
                      <a:srgbClr val="FFFFFF"/>
                    </a:solidFill>
                  </a:tcPr>
                </a:tc>
                <a:tc>
                  <a:txBody>
                    <a:bodyPr wrap="square"/>
                    <a:lstStyle/>
                    <a:p>
                      <a:pPr algn="l"/>
                      <a:r>
                        <a:rPr sz="1050" b="0" i="0">
                          <a:solidFill>
                            <a:srgbClr val="1A1A1A"/>
                          </a:solidFill>
                          <a:latin typeface="Calibri"/>
                        </a:rPr>
                        <a:t>Core modules built (formula.py, translation.py, narrate.py, 6/6/3 mutants caught) plus the evidence-mapping wiring (tutor.translate_trigger, session.record_translation) and a design change making Translate universal (HLD v2.12). The real check -- a reference-formula renderer, diagnosis messages, the API handler, the frontend step -- is DEFERRED by explicit decision, not an oversight: it would cross a core budget cap and worsen an already-over-ceiling bucket (HLD v2.12 change log has the numbers). Every exercise today auto-skips Translate, restoring exact pre-change behaviour.</a:t>
                      </a:r>
                    </a:p>
                  </a:txBody>
                  <a:tcPr marL="50800" marR="50800" marT="25400" marB="25400" anchor="ctr">
                    <a:solidFill>
                      <a:srgbClr val="FFFFFF"/>
                    </a:solidFill>
                  </a:tcPr>
                </a:tc>
              </a:tr>
              <a:tr h="539496">
                <a:tc>
                  <a:txBody>
                    <a:bodyPr wrap="square"/>
                    <a:lstStyle/>
                    <a:p>
                      <a:pPr algn="l"/>
                      <a:r>
                        <a:rPr sz="1150" b="1" i="0">
                          <a:solidFill>
                            <a:srgbClr val="1F4E79"/>
                          </a:solidFill>
                          <a:latin typeface="Calibri"/>
                        </a:rPr>
                        <a:t>Analysis of results</a:t>
                      </a:r>
                    </a:p>
                  </a:txBody>
                  <a:tcPr marL="50800" marR="50800" marT="25400" marB="25400" anchor="ctr">
                    <a:solidFill>
                      <a:srgbClr val="F2F2F2"/>
                    </a:solidFill>
                  </a:tcPr>
                </a:tc>
                <a:tc>
                  <a:txBody>
                    <a:bodyPr wrap="square"/>
                    <a:lstStyle/>
                    <a:p>
                      <a:pPr algn="l"/>
                      <a:r>
                        <a:rPr sz="1050" b="0" i="1">
                          <a:solidFill>
                            <a:srgbClr val="707070"/>
                          </a:solidFill>
                          <a:latin typeface="Calibri"/>
                        </a:rPr>
                        <a:t>[STUDENTS WRITE: your interpretation]</a:t>
                      </a:r>
                    </a:p>
                  </a:txBody>
                  <a:tcPr marL="50800" marR="50800" marT="25400" marB="25400" anchor="ctr">
                    <a:solidFill>
                      <a:srgbClr val="F2F2F2"/>
                    </a:solidFill>
                  </a:tcPr>
                </a:tc>
              </a:tr>
              <a:tr h="539496">
                <a:tc>
                  <a:txBody>
                    <a:bodyPr wrap="square"/>
                    <a:lstStyle/>
                    <a:p>
                      <a:pPr algn="l"/>
                      <a:r>
                        <a:rPr sz="1150" b="1" i="0">
                          <a:solidFill>
                            <a:srgbClr val="1F4E79"/>
                          </a:solidFill>
                          <a:latin typeface="Calibri"/>
                        </a:rPr>
                        <a:t>Next</a:t>
                      </a:r>
                    </a:p>
                  </a:txBody>
                  <a:tcPr marL="50800" marR="50800" marT="25400" marB="25400" anchor="ctr">
                    <a:solidFill>
                      <a:srgbClr val="FFFFFF"/>
                    </a:solidFill>
                  </a:tcPr>
                </a:tc>
                <a:tc>
                  <a:txBody>
                    <a:bodyPr wrap="square"/>
                    <a:lstStyle/>
                    <a:p>
                      <a:pPr algn="l"/>
                      <a:r>
                        <a:rPr sz="1050" b="0" i="0">
                          <a:solidFill>
                            <a:srgbClr val="1A1A1A"/>
                          </a:solidFill>
                          <a:latin typeface="Calibri"/>
                        </a:rPr>
                        <a:t>The M2 Translate check (deferred above, budget decision needed) → the pilot session → data/heldout_paragraphs.json (human-written, post-freeze) → report prose.</a:t>
                      </a:r>
                    </a:p>
                  </a:txBody>
                  <a:tcPr marL="50800" marR="50800" marT="25400" marB="25400" anchor="ctr">
                    <a:solidFill>
                      <a:srgbClr val="FFFFFF"/>
                    </a:solidFill>
                  </a:tcPr>
                </a:tc>
              </a:tr>
            </a:tbl>
          </a:graphicData>
        </a:graphic>
      </p:graphicFrame>
      <p:sp>
        <p:nvSpPr>
          <p:cNvPr id="5" name="TextBox 4"/>
          <p:cNvSpPr txBox="1"/>
          <p:nvPr/>
        </p:nvSpPr>
        <p:spPr>
          <a:xfrm>
            <a:off x="274320" y="6537960"/>
            <a:ext cx="3657600" cy="274320"/>
          </a:xfrm>
          <a:prstGeom prst="rect">
            <a:avLst/>
          </a:prstGeom>
          <a:noFill/>
        </p:spPr>
        <p:txBody>
          <a:bodyPr wrap="square" anchor="t" lIns="25400" rIns="25400" tIns="25400" bIns="25400">
            <a:spAutoFit/>
          </a:bodyPr>
          <a:lstStyle/>
          <a:p>
            <a:r>
              <a:rPr sz="1000" b="0" i="0">
                <a:solidFill>
                  <a:srgbClr val="666666"/>
                </a:solidFill>
                <a:latin typeface="Calibri"/>
              </a:rPr>
              <a:t>ProofPilot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30000" cy="548640"/>
          </a:xfrm>
          <a:prstGeom prst="rect">
            <a:avLst/>
          </a:prstGeom>
          <a:noFill/>
        </p:spPr>
        <p:txBody>
          <a:bodyPr wrap="square" anchor="t" lIns="25400" rIns="25400" tIns="25400" bIns="25400">
            <a:spAutoFit/>
          </a:bodyPr>
          <a:lstStyle/>
          <a:p>
            <a:r>
              <a:rPr sz="2600" b="1" i="0">
                <a:solidFill>
                  <a:srgbClr val="FFFFFF"/>
                </a:solidFill>
                <a:latin typeface="Calibri"/>
              </a:rPr>
              <a:t>9. References (APA)</a:t>
            </a:r>
          </a:p>
        </p:txBody>
      </p:sp>
      <p:sp>
        <p:nvSpPr>
          <p:cNvPr id="4" name="TextBox 3"/>
          <p:cNvSpPr txBox="1"/>
          <p:nvPr/>
        </p:nvSpPr>
        <p:spPr>
          <a:xfrm>
            <a:off x="274320" y="1051560"/>
            <a:ext cx="5623560" cy="4526280"/>
          </a:xfrm>
          <a:prstGeom prst="rect">
            <a:avLst/>
          </a:prstGeom>
          <a:noFill/>
        </p:spPr>
        <p:txBody>
          <a:bodyPr wrap="square" anchor="t" lIns="25400" rIns="25400" tIns="25400" bIns="25400">
            <a:spAutoFit/>
          </a:bodyPr>
          <a:lstStyle/>
          <a:p>
            <a:pPr>
              <a:spcAft>
                <a:spcPts val="500"/>
              </a:spcAft>
            </a:pPr>
            <a:r>
              <a:rPr sz="950" b="0" i="0">
                <a:solidFill>
                  <a:srgbClr val="1A1A1A"/>
                </a:solidFill>
                <a:latin typeface="Calibri"/>
              </a:rPr>
              <a:t>Aleven, V., McLaren, B., Roll, I., &amp; Koedinger, K. (2006). Toward meta-cognitive tutoring: A model of help seeking with a cognitive tutor. IJAIED, 16(2), 101–128.</a:t>
            </a:r>
          </a:p>
          <a:p>
            <a:pPr>
              <a:spcAft>
                <a:spcPts val="500"/>
              </a:spcAft>
            </a:pPr>
            <a:r>
              <a:rPr sz="950" b="0" i="0">
                <a:solidFill>
                  <a:srgbClr val="1A1A1A"/>
                </a:solidFill>
                <a:latin typeface="Calibri"/>
              </a:rPr>
              <a:t>Aleven, V., McLaren, B. M., Sewall, J., &amp; Koedinger, K. R. (2006). The Cognitive Tutor Authoring Tools (CTAT): Preliminary evaluation of efficiency gains. ITS 2008, 61–70.</a:t>
            </a:r>
          </a:p>
          <a:p>
            <a:pPr>
              <a:spcAft>
                <a:spcPts val="500"/>
              </a:spcAft>
            </a:pPr>
            <a:r>
              <a:rPr sz="950" b="0" i="0">
                <a:solidFill>
                  <a:srgbClr val="1A1A1A"/>
                </a:solidFill>
                <a:latin typeface="Calibri"/>
              </a:rPr>
              <a:t>Baker, R. S., Corbett, A. T., &amp; Koedinger, K. R. (2004). Detecting student misuse of intelligent tutoring systems. ITS 2004, 531–540.</a:t>
            </a:r>
          </a:p>
          <a:p>
            <a:pPr>
              <a:spcAft>
                <a:spcPts val="500"/>
              </a:spcAft>
            </a:pPr>
            <a:r>
              <a:rPr sz="950" b="0" i="0">
                <a:solidFill>
                  <a:srgbClr val="1A1A1A"/>
                </a:solidFill>
                <a:latin typeface="Calibri"/>
              </a:rPr>
              <a:t>Baker, R. S. J. d., Corbett, A. T., &amp; Aleven, V. (2008). More accurate student modeling through contextual estimation of slip and guess probabilities in BKT. ITS 2008, 406–415.</a:t>
            </a:r>
          </a:p>
          <a:p>
            <a:pPr>
              <a:spcAft>
                <a:spcPts val="500"/>
              </a:spcAft>
            </a:pPr>
            <a:r>
              <a:rPr sz="950" b="0" i="0">
                <a:solidFill>
                  <a:srgbClr val="1A1A1A"/>
                </a:solidFill>
                <a:latin typeface="Calibri"/>
              </a:rPr>
              <a:t>Barnes, T., &amp; Stamper, J. (2008). Toward automatic hint generation for logic proof tutoring using historical student data. ITS 2008, 373–382.</a:t>
            </a:r>
          </a:p>
          <a:p>
            <a:pPr>
              <a:spcAft>
                <a:spcPts val="500"/>
              </a:spcAft>
            </a:pPr>
            <a:r>
              <a:rPr sz="950" b="0" i="0">
                <a:solidFill>
                  <a:srgbClr val="1A1A1A"/>
                </a:solidFill>
                <a:latin typeface="Calibri"/>
              </a:rPr>
              <a:t>Black, P., &amp; Wiliam, D. (1998). Assessment and classroom learning. Assessment in Education, 5(1), 7–74.</a:t>
            </a:r>
          </a:p>
          <a:p>
            <a:pPr>
              <a:spcAft>
                <a:spcPts val="500"/>
              </a:spcAft>
            </a:pPr>
            <a:r>
              <a:rPr sz="950" b="0" i="0">
                <a:solidFill>
                  <a:srgbClr val="1A1A1A"/>
                </a:solidFill>
                <a:latin typeface="Calibri"/>
              </a:rPr>
              <a:t>Bloom, B. S. (1984). The 2 sigma problem. Educational Researcher, 13(6), 4–16.</a:t>
            </a:r>
          </a:p>
          <a:p>
            <a:pPr>
              <a:spcAft>
                <a:spcPts val="500"/>
              </a:spcAft>
            </a:pPr>
            <a:r>
              <a:rPr sz="950" b="0" i="0">
                <a:solidFill>
                  <a:srgbClr val="1A1A1A"/>
                </a:solidFill>
                <a:latin typeface="Calibri"/>
              </a:rPr>
              <a:t>Brown, J. S., &amp; Burton, R. R. (1978). Diagnostic models for procedural bugs in basic mathematical skills. Cognitive Science, 2(2), 155–192.</a:t>
            </a:r>
          </a:p>
          <a:p>
            <a:pPr>
              <a:spcAft>
                <a:spcPts val="500"/>
              </a:spcAft>
            </a:pPr>
            <a:r>
              <a:rPr sz="950" b="0" i="0">
                <a:solidFill>
                  <a:srgbClr val="1A1A1A"/>
                </a:solidFill>
                <a:latin typeface="Calibri"/>
              </a:rPr>
              <a:t>Bull, S., &amp; Kay, J. (2007). Student models that invite the learner in: The SMILI framework. IJAIED, 17(2), 89–120.</a:t>
            </a:r>
          </a:p>
          <a:p>
            <a:pPr>
              <a:spcAft>
                <a:spcPts val="500"/>
              </a:spcAft>
            </a:pPr>
            <a:r>
              <a:rPr sz="950" b="0" i="0">
                <a:solidFill>
                  <a:srgbClr val="1A1A1A"/>
                </a:solidFill>
                <a:latin typeface="Calibri"/>
              </a:rPr>
              <a:t>Corbett, A. T., &amp; Anderson, J. R. (1995). Knowledge tracing: Modeling the acquisition of procedural knowledge. UMUAI, 4(4), 253–278.</a:t>
            </a:r>
          </a:p>
          <a:p>
            <a:pPr>
              <a:spcAft>
                <a:spcPts val="500"/>
              </a:spcAft>
            </a:pPr>
            <a:r>
              <a:rPr sz="950" b="0" i="0">
                <a:solidFill>
                  <a:srgbClr val="1A1A1A"/>
                </a:solidFill>
                <a:latin typeface="Calibri"/>
              </a:rPr>
              <a:t>Doignon, J.-P., &amp; Falmagne, J.-C. (1999). Knowledge spaces. Springer.</a:t>
            </a:r>
          </a:p>
          <a:p>
            <a:pPr>
              <a:spcAft>
                <a:spcPts val="500"/>
              </a:spcAft>
            </a:pPr>
            <a:r>
              <a:rPr sz="950" b="0" i="0">
                <a:solidFill>
                  <a:srgbClr val="1A1A1A"/>
                </a:solidFill>
                <a:latin typeface="Calibri"/>
              </a:rPr>
              <a:t>Hattie, J., &amp; Timperley, H. (2007). The power of feedback. Review of Educational Research, 77(1), 81–112.</a:t>
            </a:r>
          </a:p>
          <a:p>
            <a:pPr>
              <a:spcAft>
                <a:spcPts val="500"/>
              </a:spcAft>
            </a:pPr>
            <a:r>
              <a:rPr sz="950" b="0" i="0">
                <a:solidFill>
                  <a:srgbClr val="1A1A1A"/>
                </a:solidFill>
                <a:latin typeface="Calibri"/>
              </a:rPr>
              <a:t>Khajah, M., Lindsey, R. V., &amp; Mozer, M. C. (2016). How deep is knowledge tracing? EDM 2016.</a:t>
            </a:r>
          </a:p>
        </p:txBody>
      </p:sp>
      <p:sp>
        <p:nvSpPr>
          <p:cNvPr id="5" name="TextBox 4"/>
          <p:cNvSpPr txBox="1"/>
          <p:nvPr/>
        </p:nvSpPr>
        <p:spPr>
          <a:xfrm>
            <a:off x="6080760" y="1051560"/>
            <a:ext cx="5623560" cy="4526280"/>
          </a:xfrm>
          <a:prstGeom prst="rect">
            <a:avLst/>
          </a:prstGeom>
          <a:noFill/>
        </p:spPr>
        <p:txBody>
          <a:bodyPr wrap="square" anchor="t" lIns="25400" rIns="25400" tIns="25400" bIns="25400">
            <a:spAutoFit/>
          </a:bodyPr>
          <a:lstStyle/>
          <a:p>
            <a:pPr>
              <a:spcAft>
                <a:spcPts val="500"/>
              </a:spcAft>
            </a:pPr>
            <a:r>
              <a:rPr sz="950" b="0" i="0">
                <a:solidFill>
                  <a:srgbClr val="1A1A1A"/>
                </a:solidFill>
                <a:latin typeface="Calibri"/>
              </a:rPr>
              <a:t>Kulik, J. A., &amp; Fletcher, J. D. (2016). Effectiveness of intelligent tutoring systems. Review of Educational Research, 86(1), 42–78.</a:t>
            </a:r>
          </a:p>
          <a:p>
            <a:pPr>
              <a:spcAft>
                <a:spcPts val="500"/>
              </a:spcAft>
            </a:pPr>
            <a:r>
              <a:rPr sz="950" b="0" i="0">
                <a:solidFill>
                  <a:srgbClr val="1A1A1A"/>
                </a:solidFill>
                <a:latin typeface="Calibri"/>
              </a:rPr>
              <a:t>Ma, W., Adesope, O. O., Nesbit, J. C., &amp; Liu, Q. (2014). Intelligent tutoring systems and learning outcomes: A meta-analysis. J. Educational Psychology, 106(4), 901–918.</a:t>
            </a:r>
          </a:p>
          <a:p>
            <a:pPr>
              <a:spcAft>
                <a:spcPts val="500"/>
              </a:spcAft>
            </a:pPr>
            <a:r>
              <a:rPr sz="950" b="0" i="0">
                <a:solidFill>
                  <a:srgbClr val="1A1A1A"/>
                </a:solidFill>
                <a:latin typeface="Calibri"/>
              </a:rPr>
              <a:t>Pardos, Z. A., &amp; Heffernan, N. T. (2010). Modeling individualization in a Bayesian networks implementation of knowledge tracing. UMAP 2010, 255–266.</a:t>
            </a:r>
          </a:p>
          <a:p>
            <a:pPr>
              <a:spcAft>
                <a:spcPts val="500"/>
              </a:spcAft>
            </a:pPr>
            <a:r>
              <a:rPr sz="950" b="0" i="0">
                <a:solidFill>
                  <a:srgbClr val="1A1A1A"/>
                </a:solidFill>
                <a:latin typeface="Calibri"/>
              </a:rPr>
              <a:t>Pavlik, P. I., Cen, H., &amp; Koedinger, K. R. (2009). Performance factors analysis. AIED 2009, 531–538.</a:t>
            </a:r>
          </a:p>
          <a:p>
            <a:pPr>
              <a:spcAft>
                <a:spcPts val="500"/>
              </a:spcAft>
            </a:pPr>
            <a:r>
              <a:rPr sz="950" b="0" i="0">
                <a:solidFill>
                  <a:srgbClr val="1A1A1A"/>
                </a:solidFill>
                <a:latin typeface="Calibri"/>
              </a:rPr>
              <a:t>Pelánek, R. (2017). Bayesian knowledge tracing, logistic models, and beyond. UMUAI, 27(3–5), 313–350.</a:t>
            </a:r>
          </a:p>
          <a:p>
            <a:pPr>
              <a:spcAft>
                <a:spcPts val="500"/>
              </a:spcAft>
            </a:pPr>
            <a:r>
              <a:rPr sz="950" b="0" i="0">
                <a:solidFill>
                  <a:srgbClr val="1A1A1A"/>
                </a:solidFill>
                <a:latin typeface="Calibri"/>
              </a:rPr>
              <a:t>Piech, C., et al. (2015). Deep knowledge tracing. NeurIPS 28, 505–513.</a:t>
            </a:r>
          </a:p>
          <a:p>
            <a:pPr>
              <a:spcAft>
                <a:spcPts val="500"/>
              </a:spcAft>
            </a:pPr>
            <a:r>
              <a:rPr sz="950" b="0" i="0">
                <a:solidFill>
                  <a:srgbClr val="1A1A1A"/>
                </a:solidFill>
                <a:latin typeface="Calibri"/>
              </a:rPr>
              <a:t>Robinson, J. A. (1965). A machine-oriented logic based on the resolution principle. Journal of the ACM, 12(1), 23–41.</a:t>
            </a:r>
          </a:p>
          <a:p>
            <a:pPr>
              <a:spcAft>
                <a:spcPts val="500"/>
              </a:spcAft>
            </a:pPr>
            <a:r>
              <a:rPr sz="950" b="0" i="0">
                <a:solidFill>
                  <a:srgbClr val="1A1A1A"/>
                </a:solidFill>
                <a:latin typeface="Calibri"/>
              </a:rPr>
              <a:t>Russell, S. J., &amp; Norvig, P. (2020). Artificial intelligence: A modern approach (4th ed.). Pearson.</a:t>
            </a:r>
          </a:p>
          <a:p>
            <a:pPr>
              <a:spcAft>
                <a:spcPts val="500"/>
              </a:spcAft>
            </a:pPr>
            <a:r>
              <a:rPr sz="950" b="0" i="0">
                <a:solidFill>
                  <a:srgbClr val="1A1A1A"/>
                </a:solidFill>
                <a:latin typeface="Calibri"/>
              </a:rPr>
              <a:t>Shute, V. J. (2008). Focus on formative feedback. Review of Educational Research, 78(1), 153–189.</a:t>
            </a:r>
          </a:p>
          <a:p>
            <a:pPr>
              <a:spcAft>
                <a:spcPts val="500"/>
              </a:spcAft>
            </a:pPr>
            <a:r>
              <a:rPr sz="950" b="0" i="0">
                <a:solidFill>
                  <a:srgbClr val="1A1A1A"/>
                </a:solidFill>
                <a:latin typeface="Calibri"/>
              </a:rPr>
              <a:t>Stamper, J., Eagle, M., Barnes, T., &amp; Croy, M. (2013). Experimental evaluation of automatic hint generation for a logic tutor. IJAIED, 22(1–2), 3–17.</a:t>
            </a:r>
          </a:p>
          <a:p>
            <a:pPr>
              <a:spcAft>
                <a:spcPts val="500"/>
              </a:spcAft>
            </a:pPr>
            <a:r>
              <a:rPr sz="950" b="0" i="0">
                <a:solidFill>
                  <a:srgbClr val="1A1A1A"/>
                </a:solidFill>
                <a:latin typeface="Calibri"/>
              </a:rPr>
              <a:t>VanLehn, K. (2006). The behavior of tutoring systems. IJAIED, 16(3), 227–265.</a:t>
            </a:r>
          </a:p>
          <a:p>
            <a:pPr>
              <a:spcAft>
                <a:spcPts val="500"/>
              </a:spcAft>
            </a:pPr>
            <a:r>
              <a:rPr sz="950" b="0" i="0">
                <a:solidFill>
                  <a:srgbClr val="1A1A1A"/>
                </a:solidFill>
                <a:latin typeface="Calibri"/>
              </a:rPr>
              <a:t>VanLehn, K. (2011). The relative effectiveness of human tutoring, intelligent tutoring systems, and other tutoring systems. Educational Psychologist, 46(4), 197–221.</a:t>
            </a:r>
          </a:p>
        </p:txBody>
      </p:sp>
      <p:sp>
        <p:nvSpPr>
          <p:cNvPr id="6" name="TextBox 5"/>
          <p:cNvSpPr txBox="1"/>
          <p:nvPr/>
        </p:nvSpPr>
        <p:spPr>
          <a:xfrm>
            <a:off x="274320" y="5715000"/>
            <a:ext cx="11612880" cy="685800"/>
          </a:xfrm>
          <a:prstGeom prst="rect">
            <a:avLst/>
          </a:prstGeom>
          <a:noFill/>
        </p:spPr>
        <p:txBody>
          <a:bodyPr wrap="square" anchor="t" lIns="25400" rIns="25400" tIns="25400" bIns="25400">
            <a:spAutoFit/>
          </a:bodyPr>
          <a:lstStyle/>
          <a:p>
            <a:r>
              <a:rPr sz="1200" b="0" i="1">
                <a:solidFill>
                  <a:srgbClr val="404040"/>
                </a:solidFill>
                <a:latin typeface="Calibri"/>
              </a:rPr>
              <a:t>24 distinct citations verified (25 rows -- one seed citation resolved to two genuinely different 2006 Aleven et al. papers); 25-30 required by the brief. Confirm you have read each one before submitting; find and verify 2-6 more.</a:t>
            </a:r>
          </a:p>
        </p:txBody>
      </p:sp>
      <p:sp>
        <p:nvSpPr>
          <p:cNvPr id="7" name="TextBox 6"/>
          <p:cNvSpPr txBox="1"/>
          <p:nvPr/>
        </p:nvSpPr>
        <p:spPr>
          <a:xfrm>
            <a:off x="274320" y="6537960"/>
            <a:ext cx="3657600" cy="274320"/>
          </a:xfrm>
          <a:prstGeom prst="rect">
            <a:avLst/>
          </a:prstGeom>
          <a:noFill/>
        </p:spPr>
        <p:txBody>
          <a:bodyPr wrap="square" anchor="t" lIns="25400" rIns="25400" tIns="25400" bIns="25400">
            <a:spAutoFit/>
          </a:bodyPr>
          <a:lstStyle/>
          <a:p>
            <a:r>
              <a:rPr sz="1000" b="0" i="0">
                <a:solidFill>
                  <a:srgbClr val="666666"/>
                </a:solidFill>
                <a:latin typeface="Calibri"/>
              </a:rPr>
              <a:t>ProofPilot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30000" cy="548640"/>
          </a:xfrm>
          <a:prstGeom prst="rect">
            <a:avLst/>
          </a:prstGeom>
          <a:noFill/>
        </p:spPr>
        <p:txBody>
          <a:bodyPr wrap="square" anchor="t" lIns="25400" rIns="25400" tIns="25400" bIns="25400">
            <a:spAutoFit/>
          </a:bodyPr>
          <a:lstStyle/>
          <a:p>
            <a:r>
              <a:rPr sz="2600" b="1" i="0">
                <a:solidFill>
                  <a:srgbClr val="FFFFFF"/>
                </a:solidFill>
                <a:latin typeface="Calibri"/>
              </a:rPr>
              <a:t>10. Contribution Statement and AI Disclosure</a:t>
            </a:r>
          </a:p>
        </p:txBody>
      </p:sp>
      <p:graphicFrame>
        <p:nvGraphicFramePr>
          <p:cNvPr id="4" name="Table 3"/>
          <p:cNvGraphicFramePr>
            <a:graphicFrameLocks noGrp="1"/>
          </p:cNvGraphicFramePr>
          <p:nvPr/>
        </p:nvGraphicFramePr>
        <p:xfrm>
          <a:off x="274320" y="1097280"/>
          <a:ext cx="11612880" cy="2743200"/>
        </p:xfrm>
        <a:graphic>
          <a:graphicData uri="http://schemas.openxmlformats.org/drawingml/2006/table">
            <a:tbl>
              <a:tblPr firstRow="1" bandRow="1">
                <a:tableStyleId>{5C22544A-7EE6-4342-B048-85BDC9FD1C3A}</a:tableStyleId>
              </a:tblPr>
              <a:tblGrid>
                <a:gridCol w="3017520"/>
                <a:gridCol w="4297680"/>
                <a:gridCol w="4297680"/>
              </a:tblGrid>
              <a:tr h="342900">
                <a:tc>
                  <a:txBody>
                    <a:bodyPr wrap="square"/>
                    <a:lstStyle/>
                    <a:p>
                      <a:pPr algn="l"/>
                      <a:r>
                        <a:rPr sz="1200" b="1" i="0">
                          <a:solidFill>
                            <a:srgbClr val="FFFFFF"/>
                          </a:solidFill>
                          <a:latin typeface="Calibri"/>
                        </a:rPr>
                        <a:t>Role</a:t>
                      </a:r>
                    </a:p>
                  </a:txBody>
                  <a:tcPr marL="50800" marR="50800" marT="25400" marB="25400" anchor="ctr">
                    <a:solidFill>
                      <a:srgbClr val="1F4E79"/>
                    </a:solidFill>
                  </a:tcPr>
                </a:tc>
                <a:tc>
                  <a:txBody>
                    <a:bodyPr wrap="square"/>
                    <a:lstStyle/>
                    <a:p>
                      <a:pPr algn="l"/>
                      <a:r>
                        <a:rPr sz="1200" b="1" i="0">
                          <a:solidFill>
                            <a:srgbClr val="FFFFFF"/>
                          </a:solidFill>
                          <a:latin typeface="Calibri"/>
                        </a:rPr>
                        <a:t>CVS Ujwal</a:t>
                      </a:r>
                    </a:p>
                  </a:txBody>
                  <a:tcPr marL="50800" marR="50800" marT="25400" marB="25400" anchor="ctr">
                    <a:solidFill>
                      <a:srgbClr val="1F4E79"/>
                    </a:solidFill>
                  </a:tcPr>
                </a:tc>
                <a:tc>
                  <a:txBody>
                    <a:bodyPr wrap="square"/>
                    <a:lstStyle/>
                    <a:p>
                      <a:pPr algn="l"/>
                      <a:r>
                        <a:rPr sz="1200" b="1" i="0">
                          <a:solidFill>
                            <a:srgbClr val="FFFFFF"/>
                          </a:solidFill>
                          <a:latin typeface="Calibri"/>
                        </a:rPr>
                        <a:t>Keshav Raj</a:t>
                      </a:r>
                    </a:p>
                  </a:txBody>
                  <a:tcPr marL="50800" marR="50800" marT="25400" marB="25400" anchor="ctr">
                    <a:solidFill>
                      <a:srgbClr val="1F4E79"/>
                    </a:solidFill>
                  </a:tcPr>
                </a:tc>
              </a:tr>
              <a:tr h="342900">
                <a:tc>
                  <a:txBody>
                    <a:bodyPr wrap="square"/>
                    <a:lstStyle/>
                    <a:p>
                      <a:pPr algn="l"/>
                      <a:r>
                        <a:rPr sz="1100" b="1" i="0">
                          <a:solidFill>
                            <a:srgbClr val="1F4E79"/>
                          </a:solidFill>
                          <a:latin typeface="Calibri"/>
                        </a:rPr>
                        <a:t>Literature review</a:t>
                      </a:r>
                    </a:p>
                  </a:txBody>
                  <a:tcPr marL="50800" marR="50800" marT="25400" marB="25400" anchor="ctr">
                    <a:solidFill>
                      <a:srgbClr val="FFFFFF"/>
                    </a:solidFill>
                  </a:tcPr>
                </a:tc>
                <a:tc>
                  <a:txBody>
                    <a:bodyPr wrap="square"/>
                    <a:lstStyle/>
                    <a:p>
                      <a:pPr algn="l"/>
                      <a:r>
                        <a:rPr sz="1050" b="0" i="1">
                          <a:solidFill>
                            <a:srgbClr val="707070"/>
                          </a:solidFill>
                          <a:latin typeface="Calibri"/>
                        </a:rPr>
                        <a:t>to be confirmed by students</a:t>
                      </a:r>
                    </a:p>
                  </a:txBody>
                  <a:tcPr marL="50800" marR="50800" marT="25400" marB="25400" anchor="ctr">
                    <a:solidFill>
                      <a:srgbClr val="FFFFFF"/>
                    </a:solidFill>
                  </a:tcPr>
                </a:tc>
                <a:tc>
                  <a:txBody>
                    <a:bodyPr wrap="square"/>
                    <a:lstStyle/>
                    <a:p>
                      <a:pPr algn="l"/>
                      <a:r>
                        <a:rPr sz="1050" b="0" i="1">
                          <a:solidFill>
                            <a:srgbClr val="707070"/>
                          </a:solidFill>
                          <a:latin typeface="Calibri"/>
                        </a:rPr>
                        <a:t>to be confirmed by students</a:t>
                      </a:r>
                    </a:p>
                  </a:txBody>
                  <a:tcPr marL="50800" marR="50800" marT="25400" marB="25400" anchor="ctr">
                    <a:solidFill>
                      <a:srgbClr val="FFFFFF"/>
                    </a:solidFill>
                  </a:tcPr>
                </a:tc>
              </a:tr>
              <a:tr h="342900">
                <a:tc>
                  <a:txBody>
                    <a:bodyPr wrap="square"/>
                    <a:lstStyle/>
                    <a:p>
                      <a:pPr algn="l"/>
                      <a:r>
                        <a:rPr sz="1100" b="1" i="0">
                          <a:solidFill>
                            <a:srgbClr val="1F4E79"/>
                          </a:solidFill>
                          <a:latin typeface="Calibri"/>
                        </a:rPr>
                        <a:t>Methodology &amp; design</a:t>
                      </a:r>
                    </a:p>
                  </a:txBody>
                  <a:tcPr marL="50800" marR="50800" marT="25400" marB="25400" anchor="ctr">
                    <a:solidFill>
                      <a:srgbClr val="F2F2F2"/>
                    </a:solidFill>
                  </a:tcPr>
                </a:tc>
                <a:tc>
                  <a:txBody>
                    <a:bodyPr wrap="square"/>
                    <a:lstStyle/>
                    <a:p>
                      <a:pPr algn="l"/>
                      <a:r>
                        <a:rPr sz="1050" b="0" i="1">
                          <a:solidFill>
                            <a:srgbClr val="707070"/>
                          </a:solidFill>
                          <a:latin typeface="Calibri"/>
                        </a:rPr>
                        <a:t>to be confirmed by students</a:t>
                      </a:r>
                    </a:p>
                  </a:txBody>
                  <a:tcPr marL="50800" marR="50800" marT="25400" marB="25400" anchor="ctr">
                    <a:solidFill>
                      <a:srgbClr val="F2F2F2"/>
                    </a:solidFill>
                  </a:tcPr>
                </a:tc>
                <a:tc>
                  <a:txBody>
                    <a:bodyPr wrap="square"/>
                    <a:lstStyle/>
                    <a:p>
                      <a:pPr algn="l"/>
                      <a:r>
                        <a:rPr sz="1050" b="0" i="1">
                          <a:solidFill>
                            <a:srgbClr val="707070"/>
                          </a:solidFill>
                          <a:latin typeface="Calibri"/>
                        </a:rPr>
                        <a:t>to be confirmed by students</a:t>
                      </a:r>
                    </a:p>
                  </a:txBody>
                  <a:tcPr marL="50800" marR="50800" marT="25400" marB="25400" anchor="ctr">
                    <a:solidFill>
                      <a:srgbClr val="F2F2F2"/>
                    </a:solidFill>
                  </a:tcPr>
                </a:tc>
              </a:tr>
              <a:tr h="342900">
                <a:tc>
                  <a:txBody>
                    <a:bodyPr wrap="square"/>
                    <a:lstStyle/>
                    <a:p>
                      <a:pPr algn="l"/>
                      <a:r>
                        <a:rPr sz="1100" b="1" i="0">
                          <a:solidFill>
                            <a:srgbClr val="1F4E79"/>
                          </a:solidFill>
                          <a:latin typeface="Calibri"/>
                        </a:rPr>
                        <a:t>Implementation</a:t>
                      </a:r>
                    </a:p>
                  </a:txBody>
                  <a:tcPr marL="50800" marR="50800" marT="25400" marB="25400" anchor="ctr">
                    <a:solidFill>
                      <a:srgbClr val="FFFFFF"/>
                    </a:solidFill>
                  </a:tcPr>
                </a:tc>
                <a:tc>
                  <a:txBody>
                    <a:bodyPr wrap="square"/>
                    <a:lstStyle/>
                    <a:p>
                      <a:pPr algn="l"/>
                      <a:r>
                        <a:rPr sz="1050" b="0" i="1">
                          <a:solidFill>
                            <a:srgbClr val="707070"/>
                          </a:solidFill>
                          <a:latin typeface="Calibri"/>
                        </a:rPr>
                        <a:t>to be confirmed by students</a:t>
                      </a:r>
                    </a:p>
                  </a:txBody>
                  <a:tcPr marL="50800" marR="50800" marT="25400" marB="25400" anchor="ctr">
                    <a:solidFill>
                      <a:srgbClr val="FFFFFF"/>
                    </a:solidFill>
                  </a:tcPr>
                </a:tc>
                <a:tc>
                  <a:txBody>
                    <a:bodyPr wrap="square"/>
                    <a:lstStyle/>
                    <a:p>
                      <a:pPr algn="l"/>
                      <a:r>
                        <a:rPr sz="1050" b="0" i="1">
                          <a:solidFill>
                            <a:srgbClr val="707070"/>
                          </a:solidFill>
                          <a:latin typeface="Calibri"/>
                        </a:rPr>
                        <a:t>to be confirmed by students</a:t>
                      </a:r>
                    </a:p>
                  </a:txBody>
                  <a:tcPr marL="50800" marR="50800" marT="25400" marB="25400" anchor="ctr">
                    <a:solidFill>
                      <a:srgbClr val="FFFFFF"/>
                    </a:solidFill>
                  </a:tcPr>
                </a:tc>
              </a:tr>
              <a:tr h="342900">
                <a:tc>
                  <a:txBody>
                    <a:bodyPr wrap="square"/>
                    <a:lstStyle/>
                    <a:p>
                      <a:pPr algn="l"/>
                      <a:r>
                        <a:rPr sz="1100" b="1" i="0">
                          <a:solidFill>
                            <a:srgbClr val="1F4E79"/>
                          </a:solidFill>
                          <a:latin typeface="Calibri"/>
                        </a:rPr>
                        <a:t>Experimentation</a:t>
                      </a:r>
                    </a:p>
                  </a:txBody>
                  <a:tcPr marL="50800" marR="50800" marT="25400" marB="25400" anchor="ctr">
                    <a:solidFill>
                      <a:srgbClr val="F2F2F2"/>
                    </a:solidFill>
                  </a:tcPr>
                </a:tc>
                <a:tc>
                  <a:txBody>
                    <a:bodyPr wrap="square"/>
                    <a:lstStyle/>
                    <a:p>
                      <a:pPr algn="l"/>
                      <a:r>
                        <a:rPr sz="1050" b="0" i="1">
                          <a:solidFill>
                            <a:srgbClr val="707070"/>
                          </a:solidFill>
                          <a:latin typeface="Calibri"/>
                        </a:rPr>
                        <a:t>to be confirmed by students</a:t>
                      </a:r>
                    </a:p>
                  </a:txBody>
                  <a:tcPr marL="50800" marR="50800" marT="25400" marB="25400" anchor="ctr">
                    <a:solidFill>
                      <a:srgbClr val="F2F2F2"/>
                    </a:solidFill>
                  </a:tcPr>
                </a:tc>
                <a:tc>
                  <a:txBody>
                    <a:bodyPr wrap="square"/>
                    <a:lstStyle/>
                    <a:p>
                      <a:pPr algn="l"/>
                      <a:r>
                        <a:rPr sz="1050" b="0" i="1">
                          <a:solidFill>
                            <a:srgbClr val="707070"/>
                          </a:solidFill>
                          <a:latin typeface="Calibri"/>
                        </a:rPr>
                        <a:t>to be confirmed by students</a:t>
                      </a:r>
                    </a:p>
                  </a:txBody>
                  <a:tcPr marL="50800" marR="50800" marT="25400" marB="25400" anchor="ctr">
                    <a:solidFill>
                      <a:srgbClr val="F2F2F2"/>
                    </a:solidFill>
                  </a:tcPr>
                </a:tc>
              </a:tr>
              <a:tr h="342900">
                <a:tc>
                  <a:txBody>
                    <a:bodyPr wrap="square"/>
                    <a:lstStyle/>
                    <a:p>
                      <a:pPr algn="l"/>
                      <a:r>
                        <a:rPr sz="1100" b="1" i="0">
                          <a:solidFill>
                            <a:srgbClr val="1F4E79"/>
                          </a:solidFill>
                          <a:latin typeface="Calibri"/>
                        </a:rPr>
                        <a:t>Analysis</a:t>
                      </a:r>
                    </a:p>
                  </a:txBody>
                  <a:tcPr marL="50800" marR="50800" marT="25400" marB="25400" anchor="ctr">
                    <a:solidFill>
                      <a:srgbClr val="FFFFFF"/>
                    </a:solidFill>
                  </a:tcPr>
                </a:tc>
                <a:tc>
                  <a:txBody>
                    <a:bodyPr wrap="square"/>
                    <a:lstStyle/>
                    <a:p>
                      <a:pPr algn="l"/>
                      <a:r>
                        <a:rPr sz="1050" b="0" i="1">
                          <a:solidFill>
                            <a:srgbClr val="707070"/>
                          </a:solidFill>
                          <a:latin typeface="Calibri"/>
                        </a:rPr>
                        <a:t>to be confirmed by students</a:t>
                      </a:r>
                    </a:p>
                  </a:txBody>
                  <a:tcPr marL="50800" marR="50800" marT="25400" marB="25400" anchor="ctr">
                    <a:solidFill>
                      <a:srgbClr val="FFFFFF"/>
                    </a:solidFill>
                  </a:tcPr>
                </a:tc>
                <a:tc>
                  <a:txBody>
                    <a:bodyPr wrap="square"/>
                    <a:lstStyle/>
                    <a:p>
                      <a:pPr algn="l"/>
                      <a:r>
                        <a:rPr sz="1050" b="0" i="1">
                          <a:solidFill>
                            <a:srgbClr val="707070"/>
                          </a:solidFill>
                          <a:latin typeface="Calibri"/>
                        </a:rPr>
                        <a:t>to be confirmed by students</a:t>
                      </a:r>
                    </a:p>
                  </a:txBody>
                  <a:tcPr marL="50800" marR="50800" marT="25400" marB="25400" anchor="ctr">
                    <a:solidFill>
                      <a:srgbClr val="FFFFFF"/>
                    </a:solidFill>
                  </a:tcPr>
                </a:tc>
              </a:tr>
              <a:tr h="342900">
                <a:tc>
                  <a:txBody>
                    <a:bodyPr wrap="square"/>
                    <a:lstStyle/>
                    <a:p>
                      <a:pPr algn="l"/>
                      <a:r>
                        <a:rPr sz="1100" b="1" i="0">
                          <a:solidFill>
                            <a:srgbClr val="1F4E79"/>
                          </a:solidFill>
                          <a:latin typeface="Calibri"/>
                        </a:rPr>
                        <a:t>Code/design review, testing</a:t>
                      </a:r>
                    </a:p>
                  </a:txBody>
                  <a:tcPr marL="50800" marR="50800" marT="25400" marB="25400" anchor="ctr">
                    <a:solidFill>
                      <a:srgbClr val="F2F2F2"/>
                    </a:solidFill>
                  </a:tcPr>
                </a:tc>
                <a:tc>
                  <a:txBody>
                    <a:bodyPr wrap="square"/>
                    <a:lstStyle/>
                    <a:p>
                      <a:pPr algn="l"/>
                      <a:r>
                        <a:rPr sz="1050" b="0" i="1">
                          <a:solidFill>
                            <a:srgbClr val="707070"/>
                          </a:solidFill>
                          <a:latin typeface="Calibri"/>
                        </a:rPr>
                        <a:t>to be confirmed by students</a:t>
                      </a:r>
                    </a:p>
                  </a:txBody>
                  <a:tcPr marL="50800" marR="50800" marT="25400" marB="25400" anchor="ctr">
                    <a:solidFill>
                      <a:srgbClr val="F2F2F2"/>
                    </a:solidFill>
                  </a:tcPr>
                </a:tc>
                <a:tc>
                  <a:txBody>
                    <a:bodyPr wrap="square"/>
                    <a:lstStyle/>
                    <a:p>
                      <a:pPr algn="l"/>
                      <a:r>
                        <a:rPr sz="1050" b="0" i="1">
                          <a:solidFill>
                            <a:srgbClr val="707070"/>
                          </a:solidFill>
                          <a:latin typeface="Calibri"/>
                        </a:rPr>
                        <a:t>to be confirmed by students</a:t>
                      </a:r>
                    </a:p>
                  </a:txBody>
                  <a:tcPr marL="50800" marR="50800" marT="25400" marB="25400" anchor="ctr">
                    <a:solidFill>
                      <a:srgbClr val="F2F2F2"/>
                    </a:solidFill>
                  </a:tcPr>
                </a:tc>
              </a:tr>
              <a:tr h="342900">
                <a:tc>
                  <a:txBody>
                    <a:bodyPr wrap="square"/>
                    <a:lstStyle/>
                    <a:p>
                      <a:pPr algn="l"/>
                      <a:r>
                        <a:rPr sz="1100" b="1" i="0">
                          <a:solidFill>
                            <a:srgbClr val="1F4E79"/>
                          </a:solidFill>
                          <a:latin typeface="Calibri"/>
                        </a:rPr>
                        <a:t>Report preparation</a:t>
                      </a:r>
                    </a:p>
                  </a:txBody>
                  <a:tcPr marL="50800" marR="50800" marT="25400" marB="25400" anchor="ctr">
                    <a:solidFill>
                      <a:srgbClr val="FFFFFF"/>
                    </a:solidFill>
                  </a:tcPr>
                </a:tc>
                <a:tc>
                  <a:txBody>
                    <a:bodyPr wrap="square"/>
                    <a:lstStyle/>
                    <a:p>
                      <a:pPr algn="l"/>
                      <a:r>
                        <a:rPr sz="1050" b="0" i="1">
                          <a:solidFill>
                            <a:srgbClr val="707070"/>
                          </a:solidFill>
                          <a:latin typeface="Calibri"/>
                        </a:rPr>
                        <a:t>to be confirmed by students</a:t>
                      </a:r>
                    </a:p>
                  </a:txBody>
                  <a:tcPr marL="50800" marR="50800" marT="25400" marB="25400" anchor="ctr">
                    <a:solidFill>
                      <a:srgbClr val="FFFFFF"/>
                    </a:solidFill>
                  </a:tcPr>
                </a:tc>
                <a:tc>
                  <a:txBody>
                    <a:bodyPr wrap="square"/>
                    <a:lstStyle/>
                    <a:p>
                      <a:pPr algn="l"/>
                      <a:r>
                        <a:rPr sz="1050" b="0" i="1">
                          <a:solidFill>
                            <a:srgbClr val="707070"/>
                          </a:solidFill>
                          <a:latin typeface="Calibri"/>
                        </a:rPr>
                        <a:t>to be confirmed by students</a:t>
                      </a:r>
                    </a:p>
                  </a:txBody>
                  <a:tcPr marL="50800" marR="50800" marT="25400" marB="25400" anchor="ctr">
                    <a:solidFill>
                      <a:srgbClr val="FFFFFF"/>
                    </a:solidFill>
                  </a:tcPr>
                </a:tc>
              </a:tr>
            </a:tbl>
          </a:graphicData>
        </a:graphic>
      </p:graphicFrame>
      <p:sp>
        <p:nvSpPr>
          <p:cNvPr id="5" name="TextBox 4"/>
          <p:cNvSpPr txBox="1"/>
          <p:nvPr/>
        </p:nvSpPr>
        <p:spPr>
          <a:xfrm>
            <a:off x="274320" y="3977639"/>
            <a:ext cx="11521440" cy="320040"/>
          </a:xfrm>
          <a:prstGeom prst="rect">
            <a:avLst/>
          </a:prstGeom>
          <a:noFill/>
        </p:spPr>
        <p:txBody>
          <a:bodyPr wrap="square" anchor="t" lIns="25400" rIns="25400" tIns="25400" bIns="25400">
            <a:spAutoFit/>
          </a:bodyPr>
          <a:lstStyle/>
          <a:p>
            <a:r>
              <a:rPr sz="1400" b="1" i="0">
                <a:solidFill>
                  <a:srgbClr val="1F4E79"/>
                </a:solidFill>
                <a:latin typeface="Calibri"/>
              </a:rPr>
              <a:t>AI disclosure</a:t>
            </a:r>
          </a:p>
        </p:txBody>
      </p:sp>
      <p:graphicFrame>
        <p:nvGraphicFramePr>
          <p:cNvPr id="6" name="Table 5"/>
          <p:cNvGraphicFramePr>
            <a:graphicFrameLocks noGrp="1"/>
          </p:cNvGraphicFramePr>
          <p:nvPr/>
        </p:nvGraphicFramePr>
        <p:xfrm>
          <a:off x="274320" y="4343400"/>
          <a:ext cx="11612880" cy="2011680"/>
        </p:xfrm>
        <a:graphic>
          <a:graphicData uri="http://schemas.openxmlformats.org/drawingml/2006/table">
            <a:tbl>
              <a:tblPr firstRow="1" bandRow="1">
                <a:tableStyleId>{5C22544A-7EE6-4342-B048-85BDC9FD1C3A}</a:tableStyleId>
              </a:tblPr>
              <a:tblGrid>
                <a:gridCol w="3017520"/>
                <a:gridCol w="5029200"/>
                <a:gridCol w="3566160"/>
              </a:tblGrid>
              <a:tr h="402336">
                <a:tc>
                  <a:txBody>
                    <a:bodyPr wrap="square"/>
                    <a:lstStyle/>
                    <a:p>
                      <a:pPr algn="l"/>
                      <a:r>
                        <a:rPr sz="1200" b="1" i="0">
                          <a:solidFill>
                            <a:srgbClr val="FFFFFF"/>
                          </a:solidFill>
                          <a:latin typeface="Calibri"/>
                        </a:rPr>
                        <a:t>Tool</a:t>
                      </a:r>
                    </a:p>
                  </a:txBody>
                  <a:tcPr marL="50800" marR="50800" marT="25400" marB="25400" anchor="ctr">
                    <a:solidFill>
                      <a:srgbClr val="1F4E79"/>
                    </a:solidFill>
                  </a:tcPr>
                </a:tc>
                <a:tc>
                  <a:txBody>
                    <a:bodyPr wrap="square"/>
                    <a:lstStyle/>
                    <a:p>
                      <a:pPr algn="l"/>
                      <a:r>
                        <a:rPr sz="1200" b="1" i="0">
                          <a:solidFill>
                            <a:srgbClr val="FFFFFF"/>
                          </a:solidFill>
                          <a:latin typeface="Calibri"/>
                        </a:rPr>
                        <a:t>Purpose / extent</a:t>
                      </a:r>
                    </a:p>
                  </a:txBody>
                  <a:tcPr marL="50800" marR="50800" marT="25400" marB="25400" anchor="ctr">
                    <a:solidFill>
                      <a:srgbClr val="1F4E79"/>
                    </a:solidFill>
                  </a:tcPr>
                </a:tc>
                <a:tc>
                  <a:txBody>
                    <a:bodyPr wrap="square"/>
                    <a:lstStyle/>
                    <a:p>
                      <a:pPr algn="l"/>
                      <a:r>
                        <a:rPr sz="1200" b="1" i="0">
                          <a:solidFill>
                            <a:srgbClr val="FFFFFF"/>
                          </a:solidFill>
                          <a:latin typeface="Calibri"/>
                        </a:rPr>
                        <a:t>What humans did</a:t>
                      </a:r>
                    </a:p>
                  </a:txBody>
                  <a:tcPr marL="50800" marR="50800" marT="25400" marB="25400" anchor="ctr">
                    <a:solidFill>
                      <a:srgbClr val="1F4E79"/>
                    </a:solidFill>
                  </a:tcPr>
                </a:tc>
              </a:tr>
              <a:tr h="402336">
                <a:tc>
                  <a:txBody>
                    <a:bodyPr wrap="square"/>
                    <a:lstStyle/>
                    <a:p>
                      <a:pPr algn="l"/>
                      <a:r>
                        <a:rPr sz="1050" b="1" i="0">
                          <a:solidFill>
                            <a:srgbClr val="1F4E79"/>
                          </a:solidFill>
                          <a:latin typeface="Calibri"/>
                        </a:rPr>
                        <a:t>Claude Code (Opus 5 / Sonnet 5)</a:t>
                      </a:r>
                    </a:p>
                  </a:txBody>
                  <a:tcPr marL="50800" marR="50800" marT="25400" marB="25400" anchor="ctr">
                    <a:solidFill>
                      <a:srgbClr val="FFFFFF"/>
                    </a:solidFill>
                  </a:tcPr>
                </a:tc>
                <a:tc>
                  <a:txBody>
                    <a:bodyPr wrap="square"/>
                    <a:lstStyle/>
                    <a:p>
                      <a:pPr algn="l"/>
                      <a:r>
                        <a:rPr sz="1000" b="0" i="0">
                          <a:solidFill>
                            <a:srgbClr val="1A1A1A"/>
                          </a:solidFill>
                          <a:latin typeface="Calibri"/>
                        </a:rPr>
                        <a:t>Wrote core/app/api/cli/frontend, tests, tooling, HLD</a:t>
                      </a:r>
                    </a:p>
                  </a:txBody>
                  <a:tcPr marL="50800" marR="50800" marT="25400" marB="25400" anchor="ctr">
                    <a:solidFill>
                      <a:srgbClr val="FFFFFF"/>
                    </a:solidFill>
                  </a:tcPr>
                </a:tc>
                <a:tc>
                  <a:txBody>
                    <a:bodyPr wrap="square"/>
                    <a:lstStyle/>
                    <a:p>
                      <a:pPr algn="l"/>
                      <a:r>
                        <a:rPr sz="1000" b="0" i="0">
                          <a:solidFill>
                            <a:srgbClr val="1A1A1A"/>
                          </a:solidFill>
                          <a:latin typeface="Calibri"/>
                        </a:rPr>
                        <a:t>81/95 commits carry Co-Authored-By: Claude (Opus 5 or Sonnet 5)</a:t>
                      </a:r>
                    </a:p>
                  </a:txBody>
                  <a:tcPr marL="50800" marR="50800" marT="25400" marB="25400" anchor="ctr">
                    <a:solidFill>
                      <a:srgbClr val="FFFFFF"/>
                    </a:solidFill>
                  </a:tcPr>
                </a:tc>
              </a:tr>
              <a:tr h="402336">
                <a:tc>
                  <a:txBody>
                    <a:bodyPr wrap="square"/>
                    <a:lstStyle/>
                    <a:p>
                      <a:pPr algn="l"/>
                      <a:r>
                        <a:rPr sz="1050" b="1" i="0">
                          <a:solidFill>
                            <a:srgbClr val="1F4E79"/>
                          </a:solidFill>
                          <a:latin typeface="Calibri"/>
                        </a:rPr>
                        <a:t>claude.ai chat (web)</a:t>
                      </a:r>
                    </a:p>
                  </a:txBody>
                  <a:tcPr marL="50800" marR="50800" marT="25400" marB="25400" anchor="ctr">
                    <a:solidFill>
                      <a:srgbClr val="F2F2F2"/>
                    </a:solidFill>
                  </a:tcPr>
                </a:tc>
                <a:tc>
                  <a:txBody>
                    <a:bodyPr wrap="square"/>
                    <a:lstStyle/>
                    <a:p>
                      <a:pPr algn="l"/>
                      <a:r>
                        <a:rPr sz="1000" b="0" i="0">
                          <a:solidFill>
                            <a:srgbClr val="1A1A1A"/>
                          </a:solidFill>
                          <a:latin typeface="Calibri"/>
                        </a:rPr>
                        <a:t>Ideation, design review, prompt drafting</a:t>
                      </a:r>
                    </a:p>
                  </a:txBody>
                  <a:tcPr marL="50800" marR="50800" marT="25400" marB="25400" anchor="ctr">
                    <a:solidFill>
                      <a:srgbClr val="F2F2F2"/>
                    </a:solidFill>
                  </a:tcPr>
                </a:tc>
                <a:tc>
                  <a:txBody>
                    <a:bodyPr wrap="square"/>
                    <a:lstStyle/>
                    <a:p>
                      <a:pPr algn="l"/>
                      <a:r>
                        <a:rPr sz="1000" b="0" i="1">
                          <a:solidFill>
                            <a:srgbClr val="707070"/>
                          </a:solidFill>
                          <a:latin typeface="Calibri"/>
                        </a:rPr>
                        <a:t>[STUDENTS WRITE]</a:t>
                      </a:r>
                    </a:p>
                  </a:txBody>
                  <a:tcPr marL="50800" marR="50800" marT="25400" marB="25400" anchor="ctr">
                    <a:solidFill>
                      <a:srgbClr val="F2F2F2"/>
                    </a:solidFill>
                  </a:tcPr>
                </a:tc>
              </a:tr>
              <a:tr h="402336">
                <a:tc>
                  <a:txBody>
                    <a:bodyPr wrap="square"/>
                    <a:lstStyle/>
                    <a:p>
                      <a:pPr algn="l"/>
                      <a:r>
                        <a:rPr sz="1050" b="1" i="0">
                          <a:solidFill>
                            <a:srgbClr val="1F4E79"/>
                          </a:solidFill>
                          <a:latin typeface="Calibri"/>
                        </a:rPr>
                        <a:t>AI-generated evaluation sets</a:t>
                      </a:r>
                    </a:p>
                  </a:txBody>
                  <a:tcPr marL="50800" marR="50800" marT="25400" marB="25400" anchor="ctr">
                    <a:solidFill>
                      <a:srgbClr val="FFFFFF"/>
                    </a:solidFill>
                  </a:tcPr>
                </a:tc>
                <a:tc>
                  <a:txBody>
                    <a:bodyPr wrap="square"/>
                    <a:lstStyle/>
                    <a:p>
                      <a:pPr algn="l"/>
                      <a:r>
                        <a:rPr sz="1000" b="0" i="0">
                          <a:solidFill>
                            <a:srgbClr val="1A1A1A"/>
                          </a:solidFill>
                          <a:latin typeface="Calibri"/>
                        </a:rPr>
                        <a:t>data/eval/*.json, 15 items each, labelled "AI-generated (Claude)"</a:t>
                      </a:r>
                    </a:p>
                  </a:txBody>
                  <a:tcPr marL="50800" marR="50800" marT="25400" marB="25400" anchor="ctr">
                    <a:solidFill>
                      <a:srgbClr val="FFFFFF"/>
                    </a:solidFill>
                  </a:tcPr>
                </a:tc>
                <a:tc>
                  <a:txBody>
                    <a:bodyPr wrap="square"/>
                    <a:lstStyle/>
                    <a:p>
                      <a:pPr algn="l"/>
                      <a:r>
                        <a:rPr sz="1000" b="0" i="1">
                          <a:solidFill>
                            <a:srgbClr val="707070"/>
                          </a:solidFill>
                          <a:latin typeface="Calibri"/>
                        </a:rPr>
                        <a:t>[STUDENTS WRITE]</a:t>
                      </a:r>
                    </a:p>
                  </a:txBody>
                  <a:tcPr marL="50800" marR="50800" marT="25400" marB="25400" anchor="ctr">
                    <a:solidFill>
                      <a:srgbClr val="FFFFFF"/>
                    </a:solidFill>
                  </a:tcPr>
                </a:tc>
              </a:tr>
              <a:tr h="402336">
                <a:tc>
                  <a:txBody>
                    <a:bodyPr wrap="square"/>
                    <a:lstStyle/>
                    <a:p>
                      <a:pPr algn="l"/>
                      <a:r>
                        <a:rPr sz="1050" b="1" i="0">
                          <a:solidFill>
                            <a:srgbClr val="1F4E79"/>
                          </a:solidFill>
                          <a:latin typeface="Calibri"/>
                        </a:rPr>
                        <a:t>Pilot forms</a:t>
                      </a:r>
                    </a:p>
                  </a:txBody>
                  <a:tcPr marL="50800" marR="50800" marT="25400" marB="25400" anchor="ctr">
                    <a:solidFill>
                      <a:srgbClr val="F2F2F2"/>
                    </a:solidFill>
                  </a:tcPr>
                </a:tc>
                <a:tc>
                  <a:txBody>
                    <a:bodyPr wrap="square"/>
                    <a:lstStyle/>
                    <a:p>
                      <a:pPr algn="l"/>
                      <a:r>
                        <a:rPr sz="1000" b="0" i="0">
                          <a:solidFill>
                            <a:srgbClr val="1A1A1A"/>
                          </a:solidFill>
                          <a:latin typeface="Calibri"/>
                        </a:rPr>
                        <a:t>docs/pilot/*.md drafted by Claude Code, sprint S8</a:t>
                      </a:r>
                    </a:p>
                  </a:txBody>
                  <a:tcPr marL="50800" marR="50800" marT="25400" marB="25400" anchor="ctr">
                    <a:solidFill>
                      <a:srgbClr val="F2F2F2"/>
                    </a:solidFill>
                  </a:tcPr>
                </a:tc>
                <a:tc>
                  <a:txBody>
                    <a:bodyPr wrap="square"/>
                    <a:lstStyle/>
                    <a:p>
                      <a:pPr algn="l"/>
                      <a:r>
                        <a:rPr sz="1000" b="0" i="1">
                          <a:solidFill>
                            <a:srgbClr val="707070"/>
                          </a:solidFill>
                          <a:latin typeface="Calibri"/>
                        </a:rPr>
                        <a:t>[STUDENTS WRITE]</a:t>
                      </a:r>
                    </a:p>
                  </a:txBody>
                  <a:tcPr marL="50800" marR="50800" marT="25400" marB="25400" anchor="ctr">
                    <a:solidFill>
                      <a:srgbClr val="F2F2F2"/>
                    </a:solidFill>
                  </a:tcPr>
                </a:tc>
              </a:tr>
            </a:tbl>
          </a:graphicData>
        </a:graphic>
      </p:graphicFrame>
      <p:sp>
        <p:nvSpPr>
          <p:cNvPr id="7" name="TextBox 6"/>
          <p:cNvSpPr txBox="1"/>
          <p:nvPr/>
        </p:nvSpPr>
        <p:spPr>
          <a:xfrm>
            <a:off x="274320" y="6537960"/>
            <a:ext cx="3657600" cy="274320"/>
          </a:xfrm>
          <a:prstGeom prst="rect">
            <a:avLst/>
          </a:prstGeom>
          <a:noFill/>
        </p:spPr>
        <p:txBody>
          <a:bodyPr wrap="square" anchor="t" lIns="25400" rIns="25400" tIns="25400" bIns="25400">
            <a:spAutoFit/>
          </a:bodyPr>
          <a:lstStyle/>
          <a:p>
            <a:r>
              <a:rPr sz="1000" b="0" i="0">
                <a:solidFill>
                  <a:srgbClr val="666666"/>
                </a:solidFill>
                <a:latin typeface="Calibri"/>
              </a:rPr>
              <a:t>ProofPilot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1430000" cy="548640"/>
          </a:xfrm>
          <a:prstGeom prst="rect">
            <a:avLst/>
          </a:prstGeom>
          <a:noFill/>
        </p:spPr>
        <p:txBody>
          <a:bodyPr wrap="square" anchor="t" lIns="25400" rIns="25400" tIns="25400" bIns="25400">
            <a:spAutoFit/>
          </a:bodyPr>
          <a:lstStyle/>
          <a:p>
            <a:r>
              <a:rPr sz="2600" b="1" i="0">
                <a:solidFill>
                  <a:srgbClr val="FFFFFF"/>
                </a:solidFill>
                <a:latin typeface="Calibri"/>
              </a:rPr>
              <a:t>Appendix: Interface, Live Run 2026-10-25</a:t>
            </a:r>
          </a:p>
        </p:txBody>
      </p:sp>
      <p:pic>
        <p:nvPicPr>
          <p:cNvPr id="4" name="Picture 3" descr="03_prove_screen.png"/>
          <p:cNvPicPr>
            <a:picLocks noChangeAspect="1"/>
          </p:cNvPicPr>
          <p:nvPr/>
        </p:nvPicPr>
        <p:blipFill>
          <a:blip r:embed="rId2"/>
          <a:stretch>
            <a:fillRect/>
          </a:stretch>
        </p:blipFill>
        <p:spPr>
          <a:xfrm>
            <a:off x="320040" y="1143000"/>
            <a:ext cx="5394960" cy="3456432"/>
          </a:xfrm>
          <a:prstGeom prst="rect">
            <a:avLst/>
          </a:prstGeom>
        </p:spPr>
      </p:pic>
      <p:sp>
        <p:nvSpPr>
          <p:cNvPr id="5" name="TextBox 4"/>
          <p:cNvSpPr txBox="1"/>
          <p:nvPr/>
        </p:nvSpPr>
        <p:spPr>
          <a:xfrm>
            <a:off x="320040" y="4663440"/>
            <a:ext cx="5394960" cy="457200"/>
          </a:xfrm>
          <a:prstGeom prst="rect">
            <a:avLst/>
          </a:prstGeom>
          <a:noFill/>
        </p:spPr>
        <p:txBody>
          <a:bodyPr wrap="square" anchor="t" lIns="25400" rIns="25400" tIns="25400" bIns="25400">
            <a:spAutoFit/>
          </a:bodyPr>
          <a:lstStyle/>
          <a:p>
            <a:pPr algn="ctr"/>
            <a:r>
              <a:rPr sz="1200" b="0" i="1">
                <a:solidFill>
                  <a:srgbClr val="505050"/>
                </a:solidFill>
                <a:latin typeface="Calibri"/>
              </a:rPr>
              <a:t>Prove screen: symbol legend + plain-English clauses</a:t>
            </a:r>
          </a:p>
        </p:txBody>
      </p:sp>
      <p:pic>
        <p:nvPicPr>
          <p:cNvPr id="6" name="Picture 5" descr="04_explanation_screen.png"/>
          <p:cNvPicPr>
            <a:picLocks noChangeAspect="1"/>
          </p:cNvPicPr>
          <p:nvPr/>
        </p:nvPicPr>
        <p:blipFill>
          <a:blip r:embed="rId3"/>
          <a:stretch>
            <a:fillRect/>
          </a:stretch>
        </p:blipFill>
        <p:spPr>
          <a:xfrm>
            <a:off x="6172200" y="1143000"/>
            <a:ext cx="5394960" cy="3456432"/>
          </a:xfrm>
          <a:prstGeom prst="rect">
            <a:avLst/>
          </a:prstGeom>
        </p:spPr>
      </p:pic>
      <p:sp>
        <p:nvSpPr>
          <p:cNvPr id="7" name="TextBox 6"/>
          <p:cNvSpPr txBox="1"/>
          <p:nvPr/>
        </p:nvSpPr>
        <p:spPr>
          <a:xfrm>
            <a:off x="6172200" y="4663440"/>
            <a:ext cx="5394960" cy="457200"/>
          </a:xfrm>
          <a:prstGeom prst="rect">
            <a:avLst/>
          </a:prstGeom>
          <a:noFill/>
        </p:spPr>
        <p:txBody>
          <a:bodyPr wrap="square" anchor="t" lIns="25400" rIns="25400" tIns="25400" bIns="25400">
            <a:spAutoFit/>
          </a:bodyPr>
          <a:lstStyle/>
          <a:p>
            <a:pPr algn="ctr"/>
            <a:r>
              <a:rPr sz="1200" b="0" i="1">
                <a:solidFill>
                  <a:srgbClr val="505050"/>
                </a:solidFill>
                <a:latin typeface="Calibri"/>
              </a:rPr>
              <a:t>Explanation screen: completed proof trace</a:t>
            </a:r>
          </a:p>
        </p:txBody>
      </p:sp>
      <p:sp>
        <p:nvSpPr>
          <p:cNvPr id="8" name="TextBox 7"/>
          <p:cNvSpPr txBox="1"/>
          <p:nvPr/>
        </p:nvSpPr>
        <p:spPr>
          <a:xfrm>
            <a:off x="274320" y="6537960"/>
            <a:ext cx="3657600" cy="274320"/>
          </a:xfrm>
          <a:prstGeom prst="rect">
            <a:avLst/>
          </a:prstGeom>
          <a:noFill/>
        </p:spPr>
        <p:txBody>
          <a:bodyPr wrap="square" anchor="t" lIns="25400" rIns="25400" tIns="25400" bIns="25400">
            <a:spAutoFit/>
          </a:bodyPr>
          <a:lstStyle/>
          <a:p>
            <a:r>
              <a:rPr sz="1000" b="0" i="0">
                <a:solidFill>
                  <a:srgbClr val="666666"/>
                </a:solidFill>
                <a:latin typeface="Calibri"/>
              </a:rPr>
              <a:t>ProofPilot | 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